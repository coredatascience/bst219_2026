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Lst>
  <p:notesMasterIdLst>
    <p:notesMasterId r:id="rId79"/>
  </p:notesMasterIdLst>
  <p:handoutMasterIdLst>
    <p:handoutMasterId r:id="rId80"/>
  </p:handoutMasterIdLst>
  <p:sldIdLst>
    <p:sldId id="3430" r:id="rId5"/>
    <p:sldId id="3441" r:id="rId6"/>
    <p:sldId id="3779" r:id="rId7"/>
    <p:sldId id="3813" r:id="rId8"/>
    <p:sldId id="3452" r:id="rId9"/>
    <p:sldId id="286" r:id="rId10"/>
    <p:sldId id="3398" r:id="rId11"/>
    <p:sldId id="3753" r:id="rId12"/>
    <p:sldId id="3754" r:id="rId13"/>
    <p:sldId id="3755" r:id="rId14"/>
    <p:sldId id="3760" r:id="rId15"/>
    <p:sldId id="3761" r:id="rId16"/>
    <p:sldId id="3756" r:id="rId17"/>
    <p:sldId id="3757" r:id="rId18"/>
    <p:sldId id="3758" r:id="rId19"/>
    <p:sldId id="3759" r:id="rId20"/>
    <p:sldId id="3762" r:id="rId21"/>
    <p:sldId id="3763" r:id="rId22"/>
    <p:sldId id="3764" r:id="rId23"/>
    <p:sldId id="3765" r:id="rId24"/>
    <p:sldId id="3766" r:id="rId25"/>
    <p:sldId id="3767" r:id="rId26"/>
    <p:sldId id="3428" r:id="rId27"/>
    <p:sldId id="3399" r:id="rId28"/>
    <p:sldId id="3687" r:id="rId29"/>
    <p:sldId id="3771" r:id="rId30"/>
    <p:sldId id="3772" r:id="rId31"/>
    <p:sldId id="3773" r:id="rId32"/>
    <p:sldId id="3774" r:id="rId33"/>
    <p:sldId id="3775" r:id="rId34"/>
    <p:sldId id="3768" r:id="rId35"/>
    <p:sldId id="3776" r:id="rId36"/>
    <p:sldId id="3777" r:id="rId37"/>
    <p:sldId id="3769" r:id="rId38"/>
    <p:sldId id="3778" r:id="rId39"/>
    <p:sldId id="3770" r:id="rId40"/>
    <p:sldId id="3440" r:id="rId41"/>
    <p:sldId id="3401" r:id="rId42"/>
    <p:sldId id="3607" r:id="rId43"/>
    <p:sldId id="3780" r:id="rId44"/>
    <p:sldId id="3781" r:id="rId45"/>
    <p:sldId id="3782" r:id="rId46"/>
    <p:sldId id="3783" r:id="rId47"/>
    <p:sldId id="3784" r:id="rId48"/>
    <p:sldId id="3785" r:id="rId49"/>
    <p:sldId id="3786" r:id="rId50"/>
    <p:sldId id="3787" r:id="rId51"/>
    <p:sldId id="3788" r:id="rId52"/>
    <p:sldId id="3789" r:id="rId53"/>
    <p:sldId id="3558" r:id="rId54"/>
    <p:sldId id="3790" r:id="rId55"/>
    <p:sldId id="3752" r:id="rId56"/>
    <p:sldId id="3791" r:id="rId57"/>
    <p:sldId id="3792" r:id="rId58"/>
    <p:sldId id="3793" r:id="rId59"/>
    <p:sldId id="3794" r:id="rId60"/>
    <p:sldId id="3795" r:id="rId61"/>
    <p:sldId id="3796" r:id="rId62"/>
    <p:sldId id="3797" r:id="rId63"/>
    <p:sldId id="3798" r:id="rId64"/>
    <p:sldId id="3799" r:id="rId65"/>
    <p:sldId id="3800" r:id="rId66"/>
    <p:sldId id="3801" r:id="rId67"/>
    <p:sldId id="3802" r:id="rId68"/>
    <p:sldId id="3803" r:id="rId69"/>
    <p:sldId id="3804" r:id="rId70"/>
    <p:sldId id="3805" r:id="rId71"/>
    <p:sldId id="3806" r:id="rId72"/>
    <p:sldId id="3807" r:id="rId73"/>
    <p:sldId id="3808" r:id="rId74"/>
    <p:sldId id="3809" r:id="rId75"/>
    <p:sldId id="3810" r:id="rId76"/>
    <p:sldId id="3811" r:id="rId77"/>
    <p:sldId id="3812" r:id="rId78"/>
  </p:sldIdLst>
  <p:sldSz cx="24377650" cy="13716000"/>
  <p:notesSz cx="6858000" cy="9144000"/>
  <p:defaultTextStyle>
    <a:defPPr>
      <a:defRPr lang="en-US"/>
    </a:defPPr>
    <a:lvl1pPr marL="0" algn="l" defTabSz="1828434" rtl="0" eaLnBrk="1" latinLnBrk="0" hangingPunct="1">
      <a:defRPr sz="3599" kern="1200">
        <a:solidFill>
          <a:schemeClr val="tx1"/>
        </a:solidFill>
        <a:latin typeface="+mn-lt"/>
        <a:ea typeface="+mn-ea"/>
        <a:cs typeface="+mn-cs"/>
      </a:defRPr>
    </a:lvl1pPr>
    <a:lvl2pPr marL="914217" algn="l" defTabSz="1828434" rtl="0" eaLnBrk="1" latinLnBrk="0" hangingPunct="1">
      <a:defRPr sz="3599" kern="1200">
        <a:solidFill>
          <a:schemeClr val="tx1"/>
        </a:solidFill>
        <a:latin typeface="+mn-lt"/>
        <a:ea typeface="+mn-ea"/>
        <a:cs typeface="+mn-cs"/>
      </a:defRPr>
    </a:lvl2pPr>
    <a:lvl3pPr marL="1828434" algn="l" defTabSz="1828434" rtl="0" eaLnBrk="1" latinLnBrk="0" hangingPunct="1">
      <a:defRPr sz="3599" kern="1200">
        <a:solidFill>
          <a:schemeClr val="tx1"/>
        </a:solidFill>
        <a:latin typeface="+mn-lt"/>
        <a:ea typeface="+mn-ea"/>
        <a:cs typeface="+mn-cs"/>
      </a:defRPr>
    </a:lvl3pPr>
    <a:lvl4pPr marL="2742651" algn="l" defTabSz="1828434" rtl="0" eaLnBrk="1" latinLnBrk="0" hangingPunct="1">
      <a:defRPr sz="3599" kern="1200">
        <a:solidFill>
          <a:schemeClr val="tx1"/>
        </a:solidFill>
        <a:latin typeface="+mn-lt"/>
        <a:ea typeface="+mn-ea"/>
        <a:cs typeface="+mn-cs"/>
      </a:defRPr>
    </a:lvl4pPr>
    <a:lvl5pPr marL="3656868" algn="l" defTabSz="1828434" rtl="0" eaLnBrk="1" latinLnBrk="0" hangingPunct="1">
      <a:defRPr sz="3599" kern="1200">
        <a:solidFill>
          <a:schemeClr val="tx1"/>
        </a:solidFill>
        <a:latin typeface="+mn-lt"/>
        <a:ea typeface="+mn-ea"/>
        <a:cs typeface="+mn-cs"/>
      </a:defRPr>
    </a:lvl5pPr>
    <a:lvl6pPr marL="4571086" algn="l" defTabSz="1828434" rtl="0" eaLnBrk="1" latinLnBrk="0" hangingPunct="1">
      <a:defRPr sz="3599" kern="1200">
        <a:solidFill>
          <a:schemeClr val="tx1"/>
        </a:solidFill>
        <a:latin typeface="+mn-lt"/>
        <a:ea typeface="+mn-ea"/>
        <a:cs typeface="+mn-cs"/>
      </a:defRPr>
    </a:lvl6pPr>
    <a:lvl7pPr marL="5485303" algn="l" defTabSz="1828434" rtl="0" eaLnBrk="1" latinLnBrk="0" hangingPunct="1">
      <a:defRPr sz="3599" kern="1200">
        <a:solidFill>
          <a:schemeClr val="tx1"/>
        </a:solidFill>
        <a:latin typeface="+mn-lt"/>
        <a:ea typeface="+mn-ea"/>
        <a:cs typeface="+mn-cs"/>
      </a:defRPr>
    </a:lvl7pPr>
    <a:lvl8pPr marL="6399520" algn="l" defTabSz="1828434" rtl="0" eaLnBrk="1" latinLnBrk="0" hangingPunct="1">
      <a:defRPr sz="3599" kern="1200">
        <a:solidFill>
          <a:schemeClr val="tx1"/>
        </a:solidFill>
        <a:latin typeface="+mn-lt"/>
        <a:ea typeface="+mn-ea"/>
        <a:cs typeface="+mn-cs"/>
      </a:defRPr>
    </a:lvl8pPr>
    <a:lvl9pPr marL="7313737" algn="l" defTabSz="1828434" rtl="0" eaLnBrk="1" latinLnBrk="0" hangingPunct="1">
      <a:defRPr sz="35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376" userDrawn="1">
          <p15:clr>
            <a:srgbClr val="A4A3A4"/>
          </p15:clr>
        </p15:guide>
        <p15:guide id="2" pos="21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2116"/>
    <a:srgbClr val="FF9300"/>
    <a:srgbClr val="FFFDF6"/>
    <a:srgbClr val="FFFDEE"/>
    <a:srgbClr val="F3E5E1"/>
    <a:srgbClr val="FCFCFC"/>
    <a:srgbClr val="F7F7F7"/>
    <a:srgbClr val="F0F0F2"/>
    <a:srgbClr val="DFC8E0"/>
    <a:srgbClr val="F4F5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62" autoAdjust="0"/>
    <p:restoredTop sz="89752"/>
  </p:normalViewPr>
  <p:slideViewPr>
    <p:cSldViewPr snapToGrid="0" snapToObjects="1" showGuides="1">
      <p:cViewPr varScale="1">
        <p:scale>
          <a:sx n="56" d="100"/>
          <a:sy n="56" d="100"/>
        </p:scale>
        <p:origin x="416" y="208"/>
      </p:cViewPr>
      <p:guideLst>
        <p:guide orient="horz" pos="8376"/>
        <p:guide pos="214"/>
      </p:guideLst>
    </p:cSldViewPr>
  </p:slideViewPr>
  <p:notesTextViewPr>
    <p:cViewPr>
      <p:scale>
        <a:sx n="1" d="1"/>
        <a:sy n="1" d="1"/>
      </p:scale>
      <p:origin x="0" y="0"/>
    </p:cViewPr>
  </p:notesTextViewPr>
  <p:notesViewPr>
    <p:cSldViewPr snapToGrid="0" snapToObjects="1"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1DFC0D8-B44A-784D-97D1-E03B0E1D11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54B03583-C420-D548-8B13-C712912624B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E07D354-EE47-4040-8B06-740FEF55189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5B514C7-8965-BE41-A5C6-7F1596F0F46B}" type="slidenum">
              <a:rPr lang="en-US" smtClean="0"/>
              <a:t>‹#›</a:t>
            </a:fld>
            <a:endParaRPr lang="en-US"/>
          </a:p>
        </p:txBody>
      </p:sp>
    </p:spTree>
    <p:extLst>
      <p:ext uri="{BB962C8B-B14F-4D97-AF65-F5344CB8AC3E}">
        <p14:creationId xmlns:p14="http://schemas.microsoft.com/office/powerpoint/2010/main" val="16801262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DB5675-A411-7C47-96C4-A94C9946A9B7}" type="datetimeFigureOut">
              <a:rPr lang="en-US" smtClean="0"/>
              <a:t>10/25/26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B9BF1-E6D4-2740-8E1D-E4C82134E02A}" type="slidenum">
              <a:rPr lang="en-US" smtClean="0"/>
              <a:t>‹#›</a:t>
            </a:fld>
            <a:endParaRPr lang="en-US"/>
          </a:p>
        </p:txBody>
      </p:sp>
    </p:spTree>
    <p:extLst>
      <p:ext uri="{BB962C8B-B14F-4D97-AF65-F5344CB8AC3E}">
        <p14:creationId xmlns:p14="http://schemas.microsoft.com/office/powerpoint/2010/main" val="3124964968"/>
      </p:ext>
    </p:extLst>
  </p:cSld>
  <p:clrMap bg1="lt1" tx1="dk1" bg2="lt2" tx2="dk2" accent1="accent1" accent2="accent2" accent3="accent3" accent4="accent4" accent5="accent5" accent6="accent6" hlink="hlink" folHlink="folHlink"/>
  <p:notesStyle>
    <a:lvl1pPr marL="0" algn="l" defTabSz="1828434" rtl="0" eaLnBrk="1" latinLnBrk="0" hangingPunct="1">
      <a:defRPr sz="2400" kern="1200">
        <a:solidFill>
          <a:schemeClr val="tx1"/>
        </a:solidFill>
        <a:latin typeface="+mn-lt"/>
        <a:ea typeface="+mn-ea"/>
        <a:cs typeface="+mn-cs"/>
      </a:defRPr>
    </a:lvl1pPr>
    <a:lvl2pPr marL="914217" algn="l" defTabSz="1828434" rtl="0" eaLnBrk="1" latinLnBrk="0" hangingPunct="1">
      <a:defRPr sz="2400" kern="1200">
        <a:solidFill>
          <a:schemeClr val="tx1"/>
        </a:solidFill>
        <a:latin typeface="+mn-lt"/>
        <a:ea typeface="+mn-ea"/>
        <a:cs typeface="+mn-cs"/>
      </a:defRPr>
    </a:lvl2pPr>
    <a:lvl3pPr marL="1828434" algn="l" defTabSz="1828434" rtl="0" eaLnBrk="1" latinLnBrk="0" hangingPunct="1">
      <a:defRPr sz="2400" kern="1200">
        <a:solidFill>
          <a:schemeClr val="tx1"/>
        </a:solidFill>
        <a:latin typeface="+mn-lt"/>
        <a:ea typeface="+mn-ea"/>
        <a:cs typeface="+mn-cs"/>
      </a:defRPr>
    </a:lvl3pPr>
    <a:lvl4pPr marL="2742651" algn="l" defTabSz="1828434" rtl="0" eaLnBrk="1" latinLnBrk="0" hangingPunct="1">
      <a:defRPr sz="2400" kern="1200">
        <a:solidFill>
          <a:schemeClr val="tx1"/>
        </a:solidFill>
        <a:latin typeface="+mn-lt"/>
        <a:ea typeface="+mn-ea"/>
        <a:cs typeface="+mn-cs"/>
      </a:defRPr>
    </a:lvl4pPr>
    <a:lvl5pPr marL="3656868" algn="l" defTabSz="1828434" rtl="0" eaLnBrk="1" latinLnBrk="0" hangingPunct="1">
      <a:defRPr sz="2400" kern="1200">
        <a:solidFill>
          <a:schemeClr val="tx1"/>
        </a:solidFill>
        <a:latin typeface="+mn-lt"/>
        <a:ea typeface="+mn-ea"/>
        <a:cs typeface="+mn-cs"/>
      </a:defRPr>
    </a:lvl5pPr>
    <a:lvl6pPr marL="4571086" algn="l" defTabSz="1828434" rtl="0" eaLnBrk="1" latinLnBrk="0" hangingPunct="1">
      <a:defRPr sz="2400" kern="1200">
        <a:solidFill>
          <a:schemeClr val="tx1"/>
        </a:solidFill>
        <a:latin typeface="+mn-lt"/>
        <a:ea typeface="+mn-ea"/>
        <a:cs typeface="+mn-cs"/>
      </a:defRPr>
    </a:lvl6pPr>
    <a:lvl7pPr marL="5485303" algn="l" defTabSz="1828434" rtl="0" eaLnBrk="1" latinLnBrk="0" hangingPunct="1">
      <a:defRPr sz="2400" kern="1200">
        <a:solidFill>
          <a:schemeClr val="tx1"/>
        </a:solidFill>
        <a:latin typeface="+mn-lt"/>
        <a:ea typeface="+mn-ea"/>
        <a:cs typeface="+mn-cs"/>
      </a:defRPr>
    </a:lvl7pPr>
    <a:lvl8pPr marL="6399520" algn="l" defTabSz="1828434" rtl="0" eaLnBrk="1" latinLnBrk="0" hangingPunct="1">
      <a:defRPr sz="2400" kern="1200">
        <a:solidFill>
          <a:schemeClr val="tx1"/>
        </a:solidFill>
        <a:latin typeface="+mn-lt"/>
        <a:ea typeface="+mn-ea"/>
        <a:cs typeface="+mn-cs"/>
      </a:defRPr>
    </a:lvl8pPr>
    <a:lvl9pPr marL="7313737" algn="l" defTabSz="1828434"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a:t>
            </a:fld>
            <a:endParaRPr lang="en-US"/>
          </a:p>
        </p:txBody>
      </p:sp>
    </p:spTree>
    <p:extLst>
      <p:ext uri="{BB962C8B-B14F-4D97-AF65-F5344CB8AC3E}">
        <p14:creationId xmlns:p14="http://schemas.microsoft.com/office/powerpoint/2010/main" val="1015167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a:t>
            </a:fld>
            <a:endParaRPr lang="en-US"/>
          </a:p>
        </p:txBody>
      </p:sp>
    </p:spTree>
    <p:extLst>
      <p:ext uri="{BB962C8B-B14F-4D97-AF65-F5344CB8AC3E}">
        <p14:creationId xmlns:p14="http://schemas.microsoft.com/office/powerpoint/2010/main" val="1182125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a:t>
            </a:fld>
            <a:endParaRPr lang="en-US"/>
          </a:p>
        </p:txBody>
      </p:sp>
    </p:spTree>
    <p:extLst>
      <p:ext uri="{BB962C8B-B14F-4D97-AF65-F5344CB8AC3E}">
        <p14:creationId xmlns:p14="http://schemas.microsoft.com/office/powerpoint/2010/main" val="2522647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C6B9BF1-E6D4-2740-8E1D-E4C82134E02A}" type="slidenum">
              <a:rPr lang="en-US" smtClean="0"/>
              <a:t>4</a:t>
            </a:fld>
            <a:endParaRPr lang="en-US"/>
          </a:p>
        </p:txBody>
      </p:sp>
    </p:spTree>
    <p:extLst>
      <p:ext uri="{BB962C8B-B14F-4D97-AF65-F5344CB8AC3E}">
        <p14:creationId xmlns:p14="http://schemas.microsoft.com/office/powerpoint/2010/main" val="782950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a:t>
            </a:fld>
            <a:endParaRPr lang="en-US"/>
          </a:p>
        </p:txBody>
      </p:sp>
    </p:spTree>
    <p:extLst>
      <p:ext uri="{BB962C8B-B14F-4D97-AF65-F5344CB8AC3E}">
        <p14:creationId xmlns:p14="http://schemas.microsoft.com/office/powerpoint/2010/main" val="577406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a:t>
            </a:fld>
            <a:endParaRPr lang="en-US"/>
          </a:p>
        </p:txBody>
      </p:sp>
    </p:spTree>
    <p:extLst>
      <p:ext uri="{BB962C8B-B14F-4D97-AF65-F5344CB8AC3E}">
        <p14:creationId xmlns:p14="http://schemas.microsoft.com/office/powerpoint/2010/main" val="14742454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a:t>
            </a:fld>
            <a:endParaRPr lang="en-US"/>
          </a:p>
        </p:txBody>
      </p:sp>
    </p:spTree>
    <p:extLst>
      <p:ext uri="{BB962C8B-B14F-4D97-AF65-F5344CB8AC3E}">
        <p14:creationId xmlns:p14="http://schemas.microsoft.com/office/powerpoint/2010/main" val="16554082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8</a:t>
            </a:fld>
            <a:endParaRPr lang="en-US"/>
          </a:p>
        </p:txBody>
      </p:sp>
    </p:spTree>
    <p:extLst>
      <p:ext uri="{BB962C8B-B14F-4D97-AF65-F5344CB8AC3E}">
        <p14:creationId xmlns:p14="http://schemas.microsoft.com/office/powerpoint/2010/main" val="597762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9</a:t>
            </a:fld>
            <a:endParaRPr lang="en-US"/>
          </a:p>
        </p:txBody>
      </p:sp>
    </p:spTree>
    <p:extLst>
      <p:ext uri="{BB962C8B-B14F-4D97-AF65-F5344CB8AC3E}">
        <p14:creationId xmlns:p14="http://schemas.microsoft.com/office/powerpoint/2010/main" val="2471052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10</a:t>
            </a:fld>
            <a:endParaRPr lang="en-US"/>
          </a:p>
        </p:txBody>
      </p:sp>
    </p:spTree>
    <p:extLst>
      <p:ext uri="{BB962C8B-B14F-4D97-AF65-F5344CB8AC3E}">
        <p14:creationId xmlns:p14="http://schemas.microsoft.com/office/powerpoint/2010/main" val="652797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11</a:t>
            </a:fld>
            <a:endParaRPr lang="en-US"/>
          </a:p>
        </p:txBody>
      </p:sp>
    </p:spTree>
    <p:extLst>
      <p:ext uri="{BB962C8B-B14F-4D97-AF65-F5344CB8AC3E}">
        <p14:creationId xmlns:p14="http://schemas.microsoft.com/office/powerpoint/2010/main" val="1926724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12</a:t>
            </a:fld>
            <a:endParaRPr lang="en-US"/>
          </a:p>
        </p:txBody>
      </p:sp>
    </p:spTree>
    <p:extLst>
      <p:ext uri="{BB962C8B-B14F-4D97-AF65-F5344CB8AC3E}">
        <p14:creationId xmlns:p14="http://schemas.microsoft.com/office/powerpoint/2010/main" val="3574145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13</a:t>
            </a:fld>
            <a:endParaRPr lang="en-US"/>
          </a:p>
        </p:txBody>
      </p:sp>
    </p:spTree>
    <p:extLst>
      <p:ext uri="{BB962C8B-B14F-4D97-AF65-F5344CB8AC3E}">
        <p14:creationId xmlns:p14="http://schemas.microsoft.com/office/powerpoint/2010/main" val="1427722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14</a:t>
            </a:fld>
            <a:endParaRPr lang="en-US"/>
          </a:p>
        </p:txBody>
      </p:sp>
    </p:spTree>
    <p:extLst>
      <p:ext uri="{BB962C8B-B14F-4D97-AF65-F5344CB8AC3E}">
        <p14:creationId xmlns:p14="http://schemas.microsoft.com/office/powerpoint/2010/main" val="1254648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15</a:t>
            </a:fld>
            <a:endParaRPr lang="en-US"/>
          </a:p>
        </p:txBody>
      </p:sp>
    </p:spTree>
    <p:extLst>
      <p:ext uri="{BB962C8B-B14F-4D97-AF65-F5344CB8AC3E}">
        <p14:creationId xmlns:p14="http://schemas.microsoft.com/office/powerpoint/2010/main" val="3038302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16</a:t>
            </a:fld>
            <a:endParaRPr lang="en-US"/>
          </a:p>
        </p:txBody>
      </p:sp>
    </p:spTree>
    <p:extLst>
      <p:ext uri="{BB962C8B-B14F-4D97-AF65-F5344CB8AC3E}">
        <p14:creationId xmlns:p14="http://schemas.microsoft.com/office/powerpoint/2010/main" val="1474483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17</a:t>
            </a:fld>
            <a:endParaRPr lang="en-US"/>
          </a:p>
        </p:txBody>
      </p:sp>
    </p:spTree>
    <p:extLst>
      <p:ext uri="{BB962C8B-B14F-4D97-AF65-F5344CB8AC3E}">
        <p14:creationId xmlns:p14="http://schemas.microsoft.com/office/powerpoint/2010/main" val="42542353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18</a:t>
            </a:fld>
            <a:endParaRPr lang="en-US"/>
          </a:p>
        </p:txBody>
      </p:sp>
    </p:spTree>
    <p:extLst>
      <p:ext uri="{BB962C8B-B14F-4D97-AF65-F5344CB8AC3E}">
        <p14:creationId xmlns:p14="http://schemas.microsoft.com/office/powerpoint/2010/main" val="1074028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19</a:t>
            </a:fld>
            <a:endParaRPr lang="en-US"/>
          </a:p>
        </p:txBody>
      </p:sp>
    </p:spTree>
    <p:extLst>
      <p:ext uri="{BB962C8B-B14F-4D97-AF65-F5344CB8AC3E}">
        <p14:creationId xmlns:p14="http://schemas.microsoft.com/office/powerpoint/2010/main" val="29384818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20</a:t>
            </a:fld>
            <a:endParaRPr lang="en-US"/>
          </a:p>
        </p:txBody>
      </p:sp>
    </p:spTree>
    <p:extLst>
      <p:ext uri="{BB962C8B-B14F-4D97-AF65-F5344CB8AC3E}">
        <p14:creationId xmlns:p14="http://schemas.microsoft.com/office/powerpoint/2010/main" val="1329918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21</a:t>
            </a:fld>
            <a:endParaRPr lang="en-US"/>
          </a:p>
        </p:txBody>
      </p:sp>
    </p:spTree>
    <p:extLst>
      <p:ext uri="{BB962C8B-B14F-4D97-AF65-F5344CB8AC3E}">
        <p14:creationId xmlns:p14="http://schemas.microsoft.com/office/powerpoint/2010/main" val="21163484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22</a:t>
            </a:fld>
            <a:endParaRPr lang="en-US"/>
          </a:p>
        </p:txBody>
      </p:sp>
    </p:spTree>
    <p:extLst>
      <p:ext uri="{BB962C8B-B14F-4D97-AF65-F5344CB8AC3E}">
        <p14:creationId xmlns:p14="http://schemas.microsoft.com/office/powerpoint/2010/main" val="11355605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23</a:t>
            </a:fld>
            <a:endParaRPr lang="en-US"/>
          </a:p>
        </p:txBody>
      </p:sp>
    </p:spTree>
    <p:extLst>
      <p:ext uri="{BB962C8B-B14F-4D97-AF65-F5344CB8AC3E}">
        <p14:creationId xmlns:p14="http://schemas.microsoft.com/office/powerpoint/2010/main" val="2178305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24</a:t>
            </a:fld>
            <a:endParaRPr lang="en-US"/>
          </a:p>
        </p:txBody>
      </p:sp>
    </p:spTree>
    <p:extLst>
      <p:ext uri="{BB962C8B-B14F-4D97-AF65-F5344CB8AC3E}">
        <p14:creationId xmlns:p14="http://schemas.microsoft.com/office/powerpoint/2010/main" val="23909032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25</a:t>
            </a:fld>
            <a:endParaRPr lang="en-US"/>
          </a:p>
        </p:txBody>
      </p:sp>
    </p:spTree>
    <p:extLst>
      <p:ext uri="{BB962C8B-B14F-4D97-AF65-F5344CB8AC3E}">
        <p14:creationId xmlns:p14="http://schemas.microsoft.com/office/powerpoint/2010/main" val="42867860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26</a:t>
            </a:fld>
            <a:endParaRPr lang="en-US"/>
          </a:p>
        </p:txBody>
      </p:sp>
    </p:spTree>
    <p:extLst>
      <p:ext uri="{BB962C8B-B14F-4D97-AF65-F5344CB8AC3E}">
        <p14:creationId xmlns:p14="http://schemas.microsoft.com/office/powerpoint/2010/main" val="2941877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27</a:t>
            </a:fld>
            <a:endParaRPr lang="en-US"/>
          </a:p>
        </p:txBody>
      </p:sp>
    </p:spTree>
    <p:extLst>
      <p:ext uri="{BB962C8B-B14F-4D97-AF65-F5344CB8AC3E}">
        <p14:creationId xmlns:p14="http://schemas.microsoft.com/office/powerpoint/2010/main" val="19106389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28</a:t>
            </a:fld>
            <a:endParaRPr lang="en-US"/>
          </a:p>
        </p:txBody>
      </p:sp>
    </p:spTree>
    <p:extLst>
      <p:ext uri="{BB962C8B-B14F-4D97-AF65-F5344CB8AC3E}">
        <p14:creationId xmlns:p14="http://schemas.microsoft.com/office/powerpoint/2010/main" val="4572252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29</a:t>
            </a:fld>
            <a:endParaRPr lang="en-US"/>
          </a:p>
        </p:txBody>
      </p:sp>
    </p:spTree>
    <p:extLst>
      <p:ext uri="{BB962C8B-B14F-4D97-AF65-F5344CB8AC3E}">
        <p14:creationId xmlns:p14="http://schemas.microsoft.com/office/powerpoint/2010/main" val="1732136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Turns out this doesn’t really help us with this dataset.</a:t>
            </a:r>
          </a:p>
        </p:txBody>
      </p:sp>
      <p:sp>
        <p:nvSpPr>
          <p:cNvPr id="4" name="Slide Number Placeholder 3"/>
          <p:cNvSpPr>
            <a:spLocks noGrp="1"/>
          </p:cNvSpPr>
          <p:nvPr>
            <p:ph type="sldNum" sz="quarter" idx="5"/>
          </p:nvPr>
        </p:nvSpPr>
        <p:spPr/>
        <p:txBody>
          <a:bodyPr/>
          <a:lstStyle/>
          <a:p>
            <a:fld id="{3C6B9BF1-E6D4-2740-8E1D-E4C82134E02A}" type="slidenum">
              <a:rPr lang="en-US" smtClean="0"/>
              <a:t>30</a:t>
            </a:fld>
            <a:endParaRPr lang="en-US"/>
          </a:p>
        </p:txBody>
      </p:sp>
    </p:spTree>
    <p:extLst>
      <p:ext uri="{BB962C8B-B14F-4D97-AF65-F5344CB8AC3E}">
        <p14:creationId xmlns:p14="http://schemas.microsoft.com/office/powerpoint/2010/main" val="32570877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31</a:t>
            </a:fld>
            <a:endParaRPr lang="en-US"/>
          </a:p>
        </p:txBody>
      </p:sp>
    </p:spTree>
    <p:extLst>
      <p:ext uri="{BB962C8B-B14F-4D97-AF65-F5344CB8AC3E}">
        <p14:creationId xmlns:p14="http://schemas.microsoft.com/office/powerpoint/2010/main" val="6187552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32</a:t>
            </a:fld>
            <a:endParaRPr lang="en-US"/>
          </a:p>
        </p:txBody>
      </p:sp>
    </p:spTree>
    <p:extLst>
      <p:ext uri="{BB962C8B-B14F-4D97-AF65-F5344CB8AC3E}">
        <p14:creationId xmlns:p14="http://schemas.microsoft.com/office/powerpoint/2010/main" val="1896398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33</a:t>
            </a:fld>
            <a:endParaRPr lang="en-US"/>
          </a:p>
        </p:txBody>
      </p:sp>
    </p:spTree>
    <p:extLst>
      <p:ext uri="{BB962C8B-B14F-4D97-AF65-F5344CB8AC3E}">
        <p14:creationId xmlns:p14="http://schemas.microsoft.com/office/powerpoint/2010/main" val="10399884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34</a:t>
            </a:fld>
            <a:endParaRPr lang="en-US"/>
          </a:p>
        </p:txBody>
      </p:sp>
    </p:spTree>
    <p:extLst>
      <p:ext uri="{BB962C8B-B14F-4D97-AF65-F5344CB8AC3E}">
        <p14:creationId xmlns:p14="http://schemas.microsoft.com/office/powerpoint/2010/main" val="19178877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35</a:t>
            </a:fld>
            <a:endParaRPr lang="en-US"/>
          </a:p>
        </p:txBody>
      </p:sp>
    </p:spTree>
    <p:extLst>
      <p:ext uri="{BB962C8B-B14F-4D97-AF65-F5344CB8AC3E}">
        <p14:creationId xmlns:p14="http://schemas.microsoft.com/office/powerpoint/2010/main" val="39108711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36</a:t>
            </a:fld>
            <a:endParaRPr lang="en-US"/>
          </a:p>
        </p:txBody>
      </p:sp>
    </p:spTree>
    <p:extLst>
      <p:ext uri="{BB962C8B-B14F-4D97-AF65-F5344CB8AC3E}">
        <p14:creationId xmlns:p14="http://schemas.microsoft.com/office/powerpoint/2010/main" val="6821681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37</a:t>
            </a:fld>
            <a:endParaRPr lang="en-US"/>
          </a:p>
        </p:txBody>
      </p:sp>
    </p:spTree>
    <p:extLst>
      <p:ext uri="{BB962C8B-B14F-4D97-AF65-F5344CB8AC3E}">
        <p14:creationId xmlns:p14="http://schemas.microsoft.com/office/powerpoint/2010/main" val="12660168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38</a:t>
            </a:fld>
            <a:endParaRPr lang="en-US"/>
          </a:p>
        </p:txBody>
      </p:sp>
    </p:spTree>
    <p:extLst>
      <p:ext uri="{BB962C8B-B14F-4D97-AF65-F5344CB8AC3E}">
        <p14:creationId xmlns:p14="http://schemas.microsoft.com/office/powerpoint/2010/main" val="2639176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39</a:t>
            </a:fld>
            <a:endParaRPr lang="en-US"/>
          </a:p>
        </p:txBody>
      </p:sp>
    </p:spTree>
    <p:extLst>
      <p:ext uri="{BB962C8B-B14F-4D97-AF65-F5344CB8AC3E}">
        <p14:creationId xmlns:p14="http://schemas.microsoft.com/office/powerpoint/2010/main" val="14741334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40</a:t>
            </a:fld>
            <a:endParaRPr lang="en-US"/>
          </a:p>
        </p:txBody>
      </p:sp>
    </p:spTree>
    <p:extLst>
      <p:ext uri="{BB962C8B-B14F-4D97-AF65-F5344CB8AC3E}">
        <p14:creationId xmlns:p14="http://schemas.microsoft.com/office/powerpoint/2010/main" val="12213433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41</a:t>
            </a:fld>
            <a:endParaRPr lang="en-US"/>
          </a:p>
        </p:txBody>
      </p:sp>
    </p:spTree>
    <p:extLst>
      <p:ext uri="{BB962C8B-B14F-4D97-AF65-F5344CB8AC3E}">
        <p14:creationId xmlns:p14="http://schemas.microsoft.com/office/powerpoint/2010/main" val="36350682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42</a:t>
            </a:fld>
            <a:endParaRPr lang="en-US"/>
          </a:p>
        </p:txBody>
      </p:sp>
    </p:spTree>
    <p:extLst>
      <p:ext uri="{BB962C8B-B14F-4D97-AF65-F5344CB8AC3E}">
        <p14:creationId xmlns:p14="http://schemas.microsoft.com/office/powerpoint/2010/main" val="1330563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43</a:t>
            </a:fld>
            <a:endParaRPr lang="en-US"/>
          </a:p>
        </p:txBody>
      </p:sp>
    </p:spTree>
    <p:extLst>
      <p:ext uri="{BB962C8B-B14F-4D97-AF65-F5344CB8AC3E}">
        <p14:creationId xmlns:p14="http://schemas.microsoft.com/office/powerpoint/2010/main" val="39771032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44</a:t>
            </a:fld>
            <a:endParaRPr lang="en-US"/>
          </a:p>
        </p:txBody>
      </p:sp>
    </p:spTree>
    <p:extLst>
      <p:ext uri="{BB962C8B-B14F-4D97-AF65-F5344CB8AC3E}">
        <p14:creationId xmlns:p14="http://schemas.microsoft.com/office/powerpoint/2010/main" val="337074275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45</a:t>
            </a:fld>
            <a:endParaRPr lang="en-US"/>
          </a:p>
        </p:txBody>
      </p:sp>
    </p:spTree>
    <p:extLst>
      <p:ext uri="{BB962C8B-B14F-4D97-AF65-F5344CB8AC3E}">
        <p14:creationId xmlns:p14="http://schemas.microsoft.com/office/powerpoint/2010/main" val="26793262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46</a:t>
            </a:fld>
            <a:endParaRPr lang="en-US"/>
          </a:p>
        </p:txBody>
      </p:sp>
    </p:spTree>
    <p:extLst>
      <p:ext uri="{BB962C8B-B14F-4D97-AF65-F5344CB8AC3E}">
        <p14:creationId xmlns:p14="http://schemas.microsoft.com/office/powerpoint/2010/main" val="30208999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47</a:t>
            </a:fld>
            <a:endParaRPr lang="en-US"/>
          </a:p>
        </p:txBody>
      </p:sp>
    </p:spTree>
    <p:extLst>
      <p:ext uri="{BB962C8B-B14F-4D97-AF65-F5344CB8AC3E}">
        <p14:creationId xmlns:p14="http://schemas.microsoft.com/office/powerpoint/2010/main" val="166046968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48</a:t>
            </a:fld>
            <a:endParaRPr lang="en-US"/>
          </a:p>
        </p:txBody>
      </p:sp>
    </p:spTree>
    <p:extLst>
      <p:ext uri="{BB962C8B-B14F-4D97-AF65-F5344CB8AC3E}">
        <p14:creationId xmlns:p14="http://schemas.microsoft.com/office/powerpoint/2010/main" val="6027427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49</a:t>
            </a:fld>
            <a:endParaRPr lang="en-US"/>
          </a:p>
        </p:txBody>
      </p:sp>
    </p:spTree>
    <p:extLst>
      <p:ext uri="{BB962C8B-B14F-4D97-AF65-F5344CB8AC3E}">
        <p14:creationId xmlns:p14="http://schemas.microsoft.com/office/powerpoint/2010/main" val="46423332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50</a:t>
            </a:fld>
            <a:endParaRPr lang="en-US"/>
          </a:p>
        </p:txBody>
      </p:sp>
    </p:spTree>
    <p:extLst>
      <p:ext uri="{BB962C8B-B14F-4D97-AF65-F5344CB8AC3E}">
        <p14:creationId xmlns:p14="http://schemas.microsoft.com/office/powerpoint/2010/main" val="156592995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51</a:t>
            </a:fld>
            <a:endParaRPr lang="en-US"/>
          </a:p>
        </p:txBody>
      </p:sp>
    </p:spTree>
    <p:extLst>
      <p:ext uri="{BB962C8B-B14F-4D97-AF65-F5344CB8AC3E}">
        <p14:creationId xmlns:p14="http://schemas.microsoft.com/office/powerpoint/2010/main" val="22627177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52</a:t>
            </a:fld>
            <a:endParaRPr lang="en-US"/>
          </a:p>
        </p:txBody>
      </p:sp>
    </p:spTree>
    <p:extLst>
      <p:ext uri="{BB962C8B-B14F-4D97-AF65-F5344CB8AC3E}">
        <p14:creationId xmlns:p14="http://schemas.microsoft.com/office/powerpoint/2010/main" val="9005577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53</a:t>
            </a:fld>
            <a:endParaRPr lang="en-US"/>
          </a:p>
        </p:txBody>
      </p:sp>
    </p:spTree>
    <p:extLst>
      <p:ext uri="{BB962C8B-B14F-4D97-AF65-F5344CB8AC3E}">
        <p14:creationId xmlns:p14="http://schemas.microsoft.com/office/powerpoint/2010/main" val="5370200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54</a:t>
            </a:fld>
            <a:endParaRPr lang="en-US"/>
          </a:p>
        </p:txBody>
      </p:sp>
    </p:spTree>
    <p:extLst>
      <p:ext uri="{BB962C8B-B14F-4D97-AF65-F5344CB8AC3E}">
        <p14:creationId xmlns:p14="http://schemas.microsoft.com/office/powerpoint/2010/main" val="26894914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55</a:t>
            </a:fld>
            <a:endParaRPr lang="en-US"/>
          </a:p>
        </p:txBody>
      </p:sp>
    </p:spTree>
    <p:extLst>
      <p:ext uri="{BB962C8B-B14F-4D97-AF65-F5344CB8AC3E}">
        <p14:creationId xmlns:p14="http://schemas.microsoft.com/office/powerpoint/2010/main" val="9029414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56</a:t>
            </a:fld>
            <a:endParaRPr lang="en-US"/>
          </a:p>
        </p:txBody>
      </p:sp>
    </p:spTree>
    <p:extLst>
      <p:ext uri="{BB962C8B-B14F-4D97-AF65-F5344CB8AC3E}">
        <p14:creationId xmlns:p14="http://schemas.microsoft.com/office/powerpoint/2010/main" val="166874448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57</a:t>
            </a:fld>
            <a:endParaRPr lang="en-US"/>
          </a:p>
        </p:txBody>
      </p:sp>
    </p:spTree>
    <p:extLst>
      <p:ext uri="{BB962C8B-B14F-4D97-AF65-F5344CB8AC3E}">
        <p14:creationId xmlns:p14="http://schemas.microsoft.com/office/powerpoint/2010/main" val="266870520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58</a:t>
            </a:fld>
            <a:endParaRPr lang="en-US"/>
          </a:p>
        </p:txBody>
      </p:sp>
    </p:spTree>
    <p:extLst>
      <p:ext uri="{BB962C8B-B14F-4D97-AF65-F5344CB8AC3E}">
        <p14:creationId xmlns:p14="http://schemas.microsoft.com/office/powerpoint/2010/main" val="335632652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59</a:t>
            </a:fld>
            <a:endParaRPr lang="en-US"/>
          </a:p>
        </p:txBody>
      </p:sp>
    </p:spTree>
    <p:extLst>
      <p:ext uri="{BB962C8B-B14F-4D97-AF65-F5344CB8AC3E}">
        <p14:creationId xmlns:p14="http://schemas.microsoft.com/office/powerpoint/2010/main" val="28640238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60</a:t>
            </a:fld>
            <a:endParaRPr lang="en-US"/>
          </a:p>
        </p:txBody>
      </p:sp>
    </p:spTree>
    <p:extLst>
      <p:ext uri="{BB962C8B-B14F-4D97-AF65-F5344CB8AC3E}">
        <p14:creationId xmlns:p14="http://schemas.microsoft.com/office/powerpoint/2010/main" val="262155378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61</a:t>
            </a:fld>
            <a:endParaRPr lang="en-US"/>
          </a:p>
        </p:txBody>
      </p:sp>
    </p:spTree>
    <p:extLst>
      <p:ext uri="{BB962C8B-B14F-4D97-AF65-F5344CB8AC3E}">
        <p14:creationId xmlns:p14="http://schemas.microsoft.com/office/powerpoint/2010/main" val="5440834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62</a:t>
            </a:fld>
            <a:endParaRPr lang="en-US"/>
          </a:p>
        </p:txBody>
      </p:sp>
    </p:spTree>
    <p:extLst>
      <p:ext uri="{BB962C8B-B14F-4D97-AF65-F5344CB8AC3E}">
        <p14:creationId xmlns:p14="http://schemas.microsoft.com/office/powerpoint/2010/main" val="337850176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63</a:t>
            </a:fld>
            <a:endParaRPr lang="en-US"/>
          </a:p>
        </p:txBody>
      </p:sp>
    </p:spTree>
    <p:extLst>
      <p:ext uri="{BB962C8B-B14F-4D97-AF65-F5344CB8AC3E}">
        <p14:creationId xmlns:p14="http://schemas.microsoft.com/office/powerpoint/2010/main" val="27367822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64</a:t>
            </a:fld>
            <a:endParaRPr lang="en-US"/>
          </a:p>
        </p:txBody>
      </p:sp>
    </p:spTree>
    <p:extLst>
      <p:ext uri="{BB962C8B-B14F-4D97-AF65-F5344CB8AC3E}">
        <p14:creationId xmlns:p14="http://schemas.microsoft.com/office/powerpoint/2010/main" val="18545373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65</a:t>
            </a:fld>
            <a:endParaRPr lang="en-US"/>
          </a:p>
        </p:txBody>
      </p:sp>
    </p:spTree>
    <p:extLst>
      <p:ext uri="{BB962C8B-B14F-4D97-AF65-F5344CB8AC3E}">
        <p14:creationId xmlns:p14="http://schemas.microsoft.com/office/powerpoint/2010/main" val="41488696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66</a:t>
            </a:fld>
            <a:endParaRPr lang="en-US"/>
          </a:p>
        </p:txBody>
      </p:sp>
    </p:spTree>
    <p:extLst>
      <p:ext uri="{BB962C8B-B14F-4D97-AF65-F5344CB8AC3E}">
        <p14:creationId xmlns:p14="http://schemas.microsoft.com/office/powerpoint/2010/main" val="556293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67</a:t>
            </a:fld>
            <a:endParaRPr lang="en-US"/>
          </a:p>
        </p:txBody>
      </p:sp>
    </p:spTree>
    <p:extLst>
      <p:ext uri="{BB962C8B-B14F-4D97-AF65-F5344CB8AC3E}">
        <p14:creationId xmlns:p14="http://schemas.microsoft.com/office/powerpoint/2010/main" val="264297706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68</a:t>
            </a:fld>
            <a:endParaRPr lang="en-US"/>
          </a:p>
        </p:txBody>
      </p:sp>
    </p:spTree>
    <p:extLst>
      <p:ext uri="{BB962C8B-B14F-4D97-AF65-F5344CB8AC3E}">
        <p14:creationId xmlns:p14="http://schemas.microsoft.com/office/powerpoint/2010/main" val="195555045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69</a:t>
            </a:fld>
            <a:endParaRPr lang="en-US"/>
          </a:p>
        </p:txBody>
      </p:sp>
    </p:spTree>
    <p:extLst>
      <p:ext uri="{BB962C8B-B14F-4D97-AF65-F5344CB8AC3E}">
        <p14:creationId xmlns:p14="http://schemas.microsoft.com/office/powerpoint/2010/main" val="228263006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70</a:t>
            </a:fld>
            <a:endParaRPr lang="en-US"/>
          </a:p>
        </p:txBody>
      </p:sp>
    </p:spTree>
    <p:extLst>
      <p:ext uri="{BB962C8B-B14F-4D97-AF65-F5344CB8AC3E}">
        <p14:creationId xmlns:p14="http://schemas.microsoft.com/office/powerpoint/2010/main" val="194600282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71</a:t>
            </a:fld>
            <a:endParaRPr lang="en-US"/>
          </a:p>
        </p:txBody>
      </p:sp>
    </p:spTree>
    <p:extLst>
      <p:ext uri="{BB962C8B-B14F-4D97-AF65-F5344CB8AC3E}">
        <p14:creationId xmlns:p14="http://schemas.microsoft.com/office/powerpoint/2010/main" val="301657304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72</a:t>
            </a:fld>
            <a:endParaRPr lang="en-US"/>
          </a:p>
        </p:txBody>
      </p:sp>
    </p:spTree>
    <p:extLst>
      <p:ext uri="{BB962C8B-B14F-4D97-AF65-F5344CB8AC3E}">
        <p14:creationId xmlns:p14="http://schemas.microsoft.com/office/powerpoint/2010/main" val="19189324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73</a:t>
            </a:fld>
            <a:endParaRPr lang="en-US"/>
          </a:p>
        </p:txBody>
      </p:sp>
    </p:spTree>
    <p:extLst>
      <p:ext uri="{BB962C8B-B14F-4D97-AF65-F5344CB8AC3E}">
        <p14:creationId xmlns:p14="http://schemas.microsoft.com/office/powerpoint/2010/main" val="161568429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C6B9BF1-E6D4-2740-8E1D-E4C82134E02A}" type="slidenum">
              <a:rPr lang="en-US" smtClean="0"/>
              <a:t>74</a:t>
            </a:fld>
            <a:endParaRPr lang="en-US"/>
          </a:p>
        </p:txBody>
      </p:sp>
    </p:spTree>
    <p:extLst>
      <p:ext uri="{BB962C8B-B14F-4D97-AF65-F5344CB8AC3E}">
        <p14:creationId xmlns:p14="http://schemas.microsoft.com/office/powerpoint/2010/main" val="2908807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6CCFB8FC-CF09-1C47-AB71-C1747F3761F4}"/>
              </a:ext>
            </a:extLst>
          </p:cNvPr>
          <p:cNvSpPr>
            <a:spLocks noGrp="1"/>
          </p:cNvSpPr>
          <p:nvPr>
            <p:ph type="body" sz="quarter" idx="10" hasCustomPrompt="1"/>
          </p:nvPr>
        </p:nvSpPr>
        <p:spPr>
          <a:xfrm>
            <a:off x="1784974" y="7172630"/>
            <a:ext cx="18697586" cy="4226890"/>
          </a:xfrm>
          <a:prstGeom prst="rect">
            <a:avLst/>
          </a:prstGeom>
        </p:spPr>
        <p:txBody>
          <a:bodyPr anchor="b">
            <a:normAutofit/>
          </a:bodyPr>
          <a:lstStyle>
            <a:lvl1pPr>
              <a:defRPr sz="3200" b="1"/>
            </a:lvl1pPr>
            <a:lvl5pPr>
              <a:defRPr sz="2400"/>
            </a:lvl5pPr>
          </a:lstStyle>
          <a:p>
            <a:r>
              <a:rPr lang="en-US" sz="3200" b="1"/>
              <a:t>Click to add details</a:t>
            </a:r>
          </a:p>
        </p:txBody>
      </p:sp>
      <p:sp>
        <p:nvSpPr>
          <p:cNvPr id="16" name="Text Placeholder 15">
            <a:extLst>
              <a:ext uri="{FF2B5EF4-FFF2-40B4-BE49-F238E27FC236}">
                <a16:creationId xmlns:a16="http://schemas.microsoft.com/office/drawing/2014/main" id="{4555FCFD-819F-3147-B6C3-EFBC5C936046}"/>
              </a:ext>
            </a:extLst>
          </p:cNvPr>
          <p:cNvSpPr>
            <a:spLocks noGrp="1"/>
          </p:cNvSpPr>
          <p:nvPr>
            <p:ph type="body" sz="quarter" idx="11" hasCustomPrompt="1"/>
          </p:nvPr>
        </p:nvSpPr>
        <p:spPr>
          <a:xfrm>
            <a:off x="1906270" y="1157449"/>
            <a:ext cx="18576290" cy="873125"/>
          </a:xfrm>
          <a:prstGeom prst="rect">
            <a:avLst/>
          </a:prstGeom>
        </p:spPr>
        <p:txBody>
          <a:bodyPr anchor="b">
            <a:normAutofit/>
          </a:bodyPr>
          <a:lstStyle>
            <a:lvl1pPr>
              <a:defRPr sz="1800" cap="all" spc="600" baseline="0"/>
            </a:lvl1pPr>
          </a:lstStyle>
          <a:p>
            <a:pPr lvl="0"/>
            <a:r>
              <a:rPr lang="en-US" dirty="0"/>
              <a:t>PRE-TITLE Such as “Case Study” or “Research Findings”</a:t>
            </a:r>
          </a:p>
        </p:txBody>
      </p:sp>
      <p:sp>
        <p:nvSpPr>
          <p:cNvPr id="3" name="Title 2">
            <a:extLst>
              <a:ext uri="{FF2B5EF4-FFF2-40B4-BE49-F238E27FC236}">
                <a16:creationId xmlns:a16="http://schemas.microsoft.com/office/drawing/2014/main" id="{E98526DB-B0C7-F5D9-8C8C-5FE7BA9EFF6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8734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right-im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544411-7FDB-AB4B-B283-193A15A8F246}"/>
              </a:ext>
            </a:extLst>
          </p:cNvPr>
          <p:cNvSpPr>
            <a:spLocks noGrp="1"/>
          </p:cNvSpPr>
          <p:nvPr>
            <p:ph type="title" hasCustomPrompt="1"/>
          </p:nvPr>
        </p:nvSpPr>
        <p:spPr>
          <a:xfrm>
            <a:off x="1784975" y="2300445"/>
            <a:ext cx="9546413" cy="4567715"/>
          </a:xfrm>
          <a:prstGeom prst="rect">
            <a:avLst/>
          </a:prstGeom>
        </p:spPr>
        <p:txBody>
          <a:bodyPr anchor="t">
            <a:normAutofit/>
          </a:bodyPr>
          <a:lstStyle>
            <a:lvl1pPr>
              <a:defRPr sz="9600"/>
            </a:lvl1pPr>
          </a:lstStyle>
          <a:p>
            <a:r>
              <a:rPr lang="en-US"/>
              <a:t>Click to add title</a:t>
            </a:r>
          </a:p>
        </p:txBody>
      </p:sp>
      <p:sp>
        <p:nvSpPr>
          <p:cNvPr id="13" name="Text Placeholder 12">
            <a:extLst>
              <a:ext uri="{FF2B5EF4-FFF2-40B4-BE49-F238E27FC236}">
                <a16:creationId xmlns:a16="http://schemas.microsoft.com/office/drawing/2014/main" id="{6CCFB8FC-CF09-1C47-AB71-C1747F3761F4}"/>
              </a:ext>
            </a:extLst>
          </p:cNvPr>
          <p:cNvSpPr>
            <a:spLocks noGrp="1"/>
          </p:cNvSpPr>
          <p:nvPr>
            <p:ph type="body" sz="quarter" idx="10" hasCustomPrompt="1"/>
          </p:nvPr>
        </p:nvSpPr>
        <p:spPr>
          <a:xfrm>
            <a:off x="1784974" y="7172630"/>
            <a:ext cx="9546413" cy="4226890"/>
          </a:xfrm>
          <a:prstGeom prst="rect">
            <a:avLst/>
          </a:prstGeom>
        </p:spPr>
        <p:txBody>
          <a:bodyPr anchor="b">
            <a:normAutofit/>
          </a:bodyPr>
          <a:lstStyle>
            <a:lvl1pPr>
              <a:defRPr sz="3200" b="1"/>
            </a:lvl1pPr>
            <a:lvl5pPr>
              <a:defRPr sz="2400"/>
            </a:lvl5pPr>
          </a:lstStyle>
          <a:p>
            <a:r>
              <a:rPr lang="en-US" sz="3200" b="1"/>
              <a:t>Click to add details</a:t>
            </a:r>
          </a:p>
        </p:txBody>
      </p:sp>
      <p:sp>
        <p:nvSpPr>
          <p:cNvPr id="16" name="Text Placeholder 15">
            <a:extLst>
              <a:ext uri="{FF2B5EF4-FFF2-40B4-BE49-F238E27FC236}">
                <a16:creationId xmlns:a16="http://schemas.microsoft.com/office/drawing/2014/main" id="{4555FCFD-819F-3147-B6C3-EFBC5C936046}"/>
              </a:ext>
            </a:extLst>
          </p:cNvPr>
          <p:cNvSpPr>
            <a:spLocks noGrp="1"/>
          </p:cNvSpPr>
          <p:nvPr>
            <p:ph type="body" sz="quarter" idx="11" hasCustomPrompt="1"/>
          </p:nvPr>
        </p:nvSpPr>
        <p:spPr>
          <a:xfrm>
            <a:off x="1906270" y="1157449"/>
            <a:ext cx="9484483" cy="873125"/>
          </a:xfrm>
          <a:prstGeom prst="rect">
            <a:avLst/>
          </a:prstGeom>
        </p:spPr>
        <p:txBody>
          <a:bodyPr anchor="b">
            <a:normAutofit/>
          </a:bodyPr>
          <a:lstStyle>
            <a:lvl1pPr>
              <a:defRPr sz="1800" cap="all" spc="600" baseline="0"/>
            </a:lvl1pPr>
          </a:lstStyle>
          <a:p>
            <a:pPr lvl="0"/>
            <a:r>
              <a:rPr lang="en-US" dirty="0"/>
              <a:t>PRE-TITLE Such as “Case Study” or “Research Findings”</a:t>
            </a:r>
          </a:p>
        </p:txBody>
      </p:sp>
      <p:sp>
        <p:nvSpPr>
          <p:cNvPr id="6" name="Picture Placeholder 4">
            <a:extLst>
              <a:ext uri="{FF2B5EF4-FFF2-40B4-BE49-F238E27FC236}">
                <a16:creationId xmlns:a16="http://schemas.microsoft.com/office/drawing/2014/main" id="{EF18EA5F-FE2F-5542-8C00-E0E41DF9008E}"/>
              </a:ext>
            </a:extLst>
          </p:cNvPr>
          <p:cNvSpPr>
            <a:spLocks noGrp="1"/>
          </p:cNvSpPr>
          <p:nvPr>
            <p:ph type="pic" sz="quarter" idx="12" hasCustomPrompt="1"/>
          </p:nvPr>
        </p:nvSpPr>
        <p:spPr>
          <a:xfrm>
            <a:off x="12107822" y="1362270"/>
            <a:ext cx="10975053" cy="10860832"/>
          </a:xfrm>
          <a:prstGeom prst="rect">
            <a:avLst/>
          </a:prstGeom>
          <a:solidFill>
            <a:schemeClr val="bg1">
              <a:lumMod val="95000"/>
            </a:schemeClr>
          </a:solidFill>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image: 1) drag and drop image</a:t>
            </a:r>
          </a:p>
        </p:txBody>
      </p:sp>
      <p:sp>
        <p:nvSpPr>
          <p:cNvPr id="7" name="Text Placeholder 3">
            <a:extLst>
              <a:ext uri="{FF2B5EF4-FFF2-40B4-BE49-F238E27FC236}">
                <a16:creationId xmlns:a16="http://schemas.microsoft.com/office/drawing/2014/main" id="{0C97529C-E5E8-2144-844D-A9DCCBDD79B5}"/>
              </a:ext>
            </a:extLst>
          </p:cNvPr>
          <p:cNvSpPr>
            <a:spLocks noGrp="1"/>
          </p:cNvSpPr>
          <p:nvPr>
            <p:ph type="body" sz="quarter" idx="13" hasCustomPrompt="1"/>
          </p:nvPr>
        </p:nvSpPr>
        <p:spPr>
          <a:xfrm>
            <a:off x="12107822" y="11749254"/>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2859805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left-im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544411-7FDB-AB4B-B283-193A15A8F246}"/>
              </a:ext>
            </a:extLst>
          </p:cNvPr>
          <p:cNvSpPr>
            <a:spLocks noGrp="1"/>
          </p:cNvSpPr>
          <p:nvPr>
            <p:ph type="title" hasCustomPrompt="1"/>
          </p:nvPr>
        </p:nvSpPr>
        <p:spPr>
          <a:xfrm>
            <a:off x="13147225" y="2300445"/>
            <a:ext cx="9546413" cy="4567715"/>
          </a:xfrm>
          <a:prstGeom prst="rect">
            <a:avLst/>
          </a:prstGeom>
        </p:spPr>
        <p:txBody>
          <a:bodyPr anchor="t">
            <a:normAutofit/>
          </a:bodyPr>
          <a:lstStyle>
            <a:lvl1pPr>
              <a:defRPr sz="9600"/>
            </a:lvl1pPr>
          </a:lstStyle>
          <a:p>
            <a:r>
              <a:rPr lang="en-US"/>
              <a:t>Click to add title</a:t>
            </a:r>
          </a:p>
        </p:txBody>
      </p:sp>
      <p:sp>
        <p:nvSpPr>
          <p:cNvPr id="13" name="Text Placeholder 12">
            <a:extLst>
              <a:ext uri="{FF2B5EF4-FFF2-40B4-BE49-F238E27FC236}">
                <a16:creationId xmlns:a16="http://schemas.microsoft.com/office/drawing/2014/main" id="{6CCFB8FC-CF09-1C47-AB71-C1747F3761F4}"/>
              </a:ext>
            </a:extLst>
          </p:cNvPr>
          <p:cNvSpPr>
            <a:spLocks noGrp="1"/>
          </p:cNvSpPr>
          <p:nvPr>
            <p:ph type="body" sz="quarter" idx="10" hasCustomPrompt="1"/>
          </p:nvPr>
        </p:nvSpPr>
        <p:spPr>
          <a:xfrm>
            <a:off x="13147225" y="7172630"/>
            <a:ext cx="9546413" cy="4226890"/>
          </a:xfrm>
          <a:prstGeom prst="rect">
            <a:avLst/>
          </a:prstGeom>
        </p:spPr>
        <p:txBody>
          <a:bodyPr anchor="b">
            <a:normAutofit/>
          </a:bodyPr>
          <a:lstStyle>
            <a:lvl1pPr>
              <a:defRPr sz="3200" b="1"/>
            </a:lvl1pPr>
            <a:lvl5pPr>
              <a:defRPr sz="2400"/>
            </a:lvl5pPr>
          </a:lstStyle>
          <a:p>
            <a:r>
              <a:rPr lang="en-US" sz="3200" b="1"/>
              <a:t>Click to add details</a:t>
            </a:r>
          </a:p>
        </p:txBody>
      </p:sp>
      <p:sp>
        <p:nvSpPr>
          <p:cNvPr id="16" name="Text Placeholder 15">
            <a:extLst>
              <a:ext uri="{FF2B5EF4-FFF2-40B4-BE49-F238E27FC236}">
                <a16:creationId xmlns:a16="http://schemas.microsoft.com/office/drawing/2014/main" id="{4555FCFD-819F-3147-B6C3-EFBC5C936046}"/>
              </a:ext>
            </a:extLst>
          </p:cNvPr>
          <p:cNvSpPr>
            <a:spLocks noGrp="1"/>
          </p:cNvSpPr>
          <p:nvPr>
            <p:ph type="body" sz="quarter" idx="11" hasCustomPrompt="1"/>
          </p:nvPr>
        </p:nvSpPr>
        <p:spPr>
          <a:xfrm>
            <a:off x="13268520" y="1157449"/>
            <a:ext cx="9484483" cy="873125"/>
          </a:xfrm>
          <a:prstGeom prst="rect">
            <a:avLst/>
          </a:prstGeom>
        </p:spPr>
        <p:txBody>
          <a:bodyPr anchor="b">
            <a:normAutofit/>
          </a:bodyPr>
          <a:lstStyle>
            <a:lvl1pPr>
              <a:defRPr sz="1800" cap="all" spc="600" baseline="0"/>
            </a:lvl1pPr>
          </a:lstStyle>
          <a:p>
            <a:pPr lvl="0"/>
            <a:r>
              <a:rPr lang="en-US" dirty="0"/>
              <a:t>PRE-TITLE Such as “Case Study” or “Research Findings”</a:t>
            </a:r>
          </a:p>
        </p:txBody>
      </p:sp>
      <p:sp>
        <p:nvSpPr>
          <p:cNvPr id="8" name="Picture Placeholder 4">
            <a:extLst>
              <a:ext uri="{FF2B5EF4-FFF2-40B4-BE49-F238E27FC236}">
                <a16:creationId xmlns:a16="http://schemas.microsoft.com/office/drawing/2014/main" id="{4BAE8F92-7C10-E143-B554-69C6F53B93F7}"/>
              </a:ext>
            </a:extLst>
          </p:cNvPr>
          <p:cNvSpPr>
            <a:spLocks noGrp="1"/>
          </p:cNvSpPr>
          <p:nvPr>
            <p:ph type="pic" sz="quarter" idx="12" hasCustomPrompt="1"/>
          </p:nvPr>
        </p:nvSpPr>
        <p:spPr>
          <a:xfrm>
            <a:off x="1362270" y="1362270"/>
            <a:ext cx="10975053" cy="10860832"/>
          </a:xfrm>
          <a:prstGeom prst="rect">
            <a:avLst/>
          </a:prstGeom>
          <a:solidFill>
            <a:schemeClr val="bg1">
              <a:lumMod val="95000"/>
            </a:schemeClr>
          </a:solidFill>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image: 1) drag and drop image</a:t>
            </a:r>
          </a:p>
        </p:txBody>
      </p:sp>
      <p:sp>
        <p:nvSpPr>
          <p:cNvPr id="9" name="Text Placeholder 3">
            <a:extLst>
              <a:ext uri="{FF2B5EF4-FFF2-40B4-BE49-F238E27FC236}">
                <a16:creationId xmlns:a16="http://schemas.microsoft.com/office/drawing/2014/main" id="{CAE9D9BD-A9B6-074A-8D61-8663EAB9EF59}"/>
              </a:ext>
            </a:extLst>
          </p:cNvPr>
          <p:cNvSpPr>
            <a:spLocks noGrp="1"/>
          </p:cNvSpPr>
          <p:nvPr>
            <p:ph type="body" sz="quarter" idx="13" hasCustomPrompt="1"/>
          </p:nvPr>
        </p:nvSpPr>
        <p:spPr>
          <a:xfrm>
            <a:off x="1362270" y="11749254"/>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2567154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ection-layout-left-im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544411-7FDB-AB4B-B283-193A15A8F246}"/>
              </a:ext>
            </a:extLst>
          </p:cNvPr>
          <p:cNvSpPr>
            <a:spLocks noGrp="1"/>
          </p:cNvSpPr>
          <p:nvPr>
            <p:ph type="title" hasCustomPrompt="1"/>
          </p:nvPr>
        </p:nvSpPr>
        <p:spPr>
          <a:xfrm>
            <a:off x="13147225" y="2300445"/>
            <a:ext cx="9546413" cy="4567715"/>
          </a:xfrm>
          <a:prstGeom prst="rect">
            <a:avLst/>
          </a:prstGeom>
        </p:spPr>
        <p:txBody>
          <a:bodyPr anchor="t">
            <a:normAutofit/>
          </a:bodyPr>
          <a:lstStyle>
            <a:lvl1pPr>
              <a:defRPr sz="9600"/>
            </a:lvl1pPr>
          </a:lstStyle>
          <a:p>
            <a:r>
              <a:rPr lang="en-US" dirty="0"/>
              <a:t>Click to add section title</a:t>
            </a:r>
          </a:p>
        </p:txBody>
      </p:sp>
      <p:sp>
        <p:nvSpPr>
          <p:cNvPr id="8" name="Picture Placeholder 4">
            <a:extLst>
              <a:ext uri="{FF2B5EF4-FFF2-40B4-BE49-F238E27FC236}">
                <a16:creationId xmlns:a16="http://schemas.microsoft.com/office/drawing/2014/main" id="{4BAE8F92-7C10-E143-B554-69C6F53B93F7}"/>
              </a:ext>
            </a:extLst>
          </p:cNvPr>
          <p:cNvSpPr>
            <a:spLocks noGrp="1"/>
          </p:cNvSpPr>
          <p:nvPr>
            <p:ph type="pic" sz="quarter" idx="12" hasCustomPrompt="1"/>
          </p:nvPr>
        </p:nvSpPr>
        <p:spPr>
          <a:xfrm>
            <a:off x="1362270" y="1362270"/>
            <a:ext cx="10975053" cy="10860832"/>
          </a:xfrm>
          <a:prstGeom prst="rect">
            <a:avLst/>
          </a:prstGeom>
          <a:solidFill>
            <a:schemeClr val="bg1">
              <a:lumMod val="95000"/>
            </a:schemeClr>
          </a:solidFill>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image: 1) drag and drop image</a:t>
            </a:r>
          </a:p>
        </p:txBody>
      </p:sp>
      <p:sp>
        <p:nvSpPr>
          <p:cNvPr id="9" name="Text Placeholder 3">
            <a:extLst>
              <a:ext uri="{FF2B5EF4-FFF2-40B4-BE49-F238E27FC236}">
                <a16:creationId xmlns:a16="http://schemas.microsoft.com/office/drawing/2014/main" id="{CAE9D9BD-A9B6-074A-8D61-8663EAB9EF59}"/>
              </a:ext>
            </a:extLst>
          </p:cNvPr>
          <p:cNvSpPr>
            <a:spLocks noGrp="1"/>
          </p:cNvSpPr>
          <p:nvPr>
            <p:ph type="body" sz="quarter" idx="13" hasCustomPrompt="1"/>
          </p:nvPr>
        </p:nvSpPr>
        <p:spPr>
          <a:xfrm>
            <a:off x="1362270" y="11749254"/>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22" name="Text Placeholder 12">
            <a:extLst>
              <a:ext uri="{FF2B5EF4-FFF2-40B4-BE49-F238E27FC236}">
                <a16:creationId xmlns:a16="http://schemas.microsoft.com/office/drawing/2014/main" id="{3266D8A4-D31E-4945-B24B-174EFE4453FF}"/>
              </a:ext>
            </a:extLst>
          </p:cNvPr>
          <p:cNvSpPr>
            <a:spLocks noGrp="1"/>
          </p:cNvSpPr>
          <p:nvPr>
            <p:ph type="body" sz="quarter" idx="10" hasCustomPrompt="1"/>
          </p:nvPr>
        </p:nvSpPr>
        <p:spPr>
          <a:xfrm>
            <a:off x="13147224" y="7172630"/>
            <a:ext cx="9546414" cy="904570"/>
          </a:xfrm>
          <a:prstGeom prst="rect">
            <a:avLst/>
          </a:prstGeom>
        </p:spPr>
        <p:txBody>
          <a:bodyPr anchor="t">
            <a:normAutofit/>
          </a:bodyPr>
          <a:lstStyle>
            <a:lvl1pPr>
              <a:defRPr sz="3200" b="1"/>
            </a:lvl1pPr>
            <a:lvl5pPr>
              <a:defRPr sz="2400"/>
            </a:lvl5pPr>
          </a:lstStyle>
          <a:p>
            <a:r>
              <a:rPr lang="en-US" sz="3200" b="1"/>
              <a:t>Click to add details</a:t>
            </a:r>
          </a:p>
        </p:txBody>
      </p:sp>
      <p:sp>
        <p:nvSpPr>
          <p:cNvPr id="23" name="Text Placeholder 15">
            <a:extLst>
              <a:ext uri="{FF2B5EF4-FFF2-40B4-BE49-F238E27FC236}">
                <a16:creationId xmlns:a16="http://schemas.microsoft.com/office/drawing/2014/main" id="{5777FFF6-EEDE-D047-BAD8-48B40A6C917B}"/>
              </a:ext>
            </a:extLst>
          </p:cNvPr>
          <p:cNvSpPr>
            <a:spLocks noGrp="1"/>
          </p:cNvSpPr>
          <p:nvPr>
            <p:ph type="body" sz="quarter" idx="16" hasCustomPrompt="1"/>
          </p:nvPr>
        </p:nvSpPr>
        <p:spPr>
          <a:xfrm>
            <a:off x="13286370" y="1157449"/>
            <a:ext cx="9532069" cy="873125"/>
          </a:xfrm>
          <a:prstGeom prst="rect">
            <a:avLst/>
          </a:prstGeom>
        </p:spPr>
        <p:txBody>
          <a:bodyPr anchor="b">
            <a:normAutofit/>
          </a:bodyPr>
          <a:lstStyle>
            <a:lvl1pPr>
              <a:defRPr sz="1800" cap="all" spc="600" baseline="0"/>
            </a:lvl1pPr>
          </a:lstStyle>
          <a:p>
            <a:pPr lvl="0"/>
            <a:r>
              <a:rPr lang="en-US" dirty="0"/>
              <a:t>PRE-TITLE Such as “Case Study” or “Research Findings”</a:t>
            </a:r>
          </a:p>
        </p:txBody>
      </p:sp>
      <p:sp>
        <p:nvSpPr>
          <p:cNvPr id="24" name="Text Placeholder 12">
            <a:extLst>
              <a:ext uri="{FF2B5EF4-FFF2-40B4-BE49-F238E27FC236}">
                <a16:creationId xmlns:a16="http://schemas.microsoft.com/office/drawing/2014/main" id="{073289FC-454E-2246-AEC2-AF7BD5ADBB02}"/>
              </a:ext>
            </a:extLst>
          </p:cNvPr>
          <p:cNvSpPr>
            <a:spLocks noGrp="1"/>
          </p:cNvSpPr>
          <p:nvPr>
            <p:ph type="body" sz="quarter" idx="17"/>
          </p:nvPr>
        </p:nvSpPr>
        <p:spPr>
          <a:xfrm>
            <a:off x="13147224" y="8392465"/>
            <a:ext cx="9546414" cy="3023090"/>
          </a:xfrm>
          <a:prstGeom prst="rect">
            <a:avLst/>
          </a:prstGeom>
        </p:spPr>
        <p:txBody>
          <a:bodyPr anchor="t">
            <a:normAutofit/>
          </a:bodyPr>
          <a:lstStyle>
            <a:lvl1pPr>
              <a:defRPr sz="3200" b="0" i="0">
                <a:latin typeface="Arial" panose="020B0604020202020204" pitchFamily="34" charset="0"/>
                <a:cs typeface="Arial" panose="020B0604020202020204" pitchFamily="34" charset="0"/>
              </a:defRPr>
            </a:lvl1pPr>
            <a:lvl5pPr>
              <a:defRPr sz="2400"/>
            </a:lvl5pPr>
          </a:lstStyle>
          <a:p>
            <a:pPr lvl="0"/>
            <a:r>
              <a:rPr lang="en-US"/>
              <a:t>Edit Master text styles</a:t>
            </a:r>
          </a:p>
        </p:txBody>
      </p:sp>
    </p:spTree>
    <p:extLst>
      <p:ext uri="{BB962C8B-B14F-4D97-AF65-F5344CB8AC3E}">
        <p14:creationId xmlns:p14="http://schemas.microsoft.com/office/powerpoint/2010/main" val="4042477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D544411-7FDB-AB4B-B283-193A15A8F246}"/>
              </a:ext>
            </a:extLst>
          </p:cNvPr>
          <p:cNvSpPr>
            <a:spLocks noGrp="1"/>
          </p:cNvSpPr>
          <p:nvPr>
            <p:ph type="title" hasCustomPrompt="1"/>
          </p:nvPr>
        </p:nvSpPr>
        <p:spPr>
          <a:xfrm>
            <a:off x="1784975" y="2300445"/>
            <a:ext cx="18697586" cy="4567715"/>
          </a:xfrm>
          <a:prstGeom prst="rect">
            <a:avLst/>
          </a:prstGeom>
        </p:spPr>
        <p:txBody>
          <a:bodyPr anchor="b">
            <a:normAutofit/>
          </a:bodyPr>
          <a:lstStyle>
            <a:lvl1pPr>
              <a:defRPr sz="9600"/>
            </a:lvl1pPr>
          </a:lstStyle>
          <a:p>
            <a:r>
              <a:rPr lang="en-US" dirty="0"/>
              <a:t>Click to add section title</a:t>
            </a:r>
          </a:p>
        </p:txBody>
      </p:sp>
      <p:sp>
        <p:nvSpPr>
          <p:cNvPr id="13" name="Text Placeholder 12">
            <a:extLst>
              <a:ext uri="{FF2B5EF4-FFF2-40B4-BE49-F238E27FC236}">
                <a16:creationId xmlns:a16="http://schemas.microsoft.com/office/drawing/2014/main" id="{6CCFB8FC-CF09-1C47-AB71-C1747F3761F4}"/>
              </a:ext>
            </a:extLst>
          </p:cNvPr>
          <p:cNvSpPr>
            <a:spLocks noGrp="1"/>
          </p:cNvSpPr>
          <p:nvPr>
            <p:ph type="body" sz="quarter" idx="10" hasCustomPrompt="1"/>
          </p:nvPr>
        </p:nvSpPr>
        <p:spPr>
          <a:xfrm>
            <a:off x="1784974" y="7172630"/>
            <a:ext cx="18697586" cy="904570"/>
          </a:xfrm>
          <a:prstGeom prst="rect">
            <a:avLst/>
          </a:prstGeom>
        </p:spPr>
        <p:txBody>
          <a:bodyPr anchor="t">
            <a:normAutofit/>
          </a:bodyPr>
          <a:lstStyle>
            <a:lvl1pPr>
              <a:defRPr sz="3200" b="1"/>
            </a:lvl1pPr>
            <a:lvl5pPr>
              <a:defRPr sz="2400"/>
            </a:lvl5pPr>
          </a:lstStyle>
          <a:p>
            <a:r>
              <a:rPr lang="en-US" sz="3200" b="1"/>
              <a:t>Click to add details</a:t>
            </a:r>
          </a:p>
        </p:txBody>
      </p:sp>
      <p:sp>
        <p:nvSpPr>
          <p:cNvPr id="16" name="Text Placeholder 15">
            <a:extLst>
              <a:ext uri="{FF2B5EF4-FFF2-40B4-BE49-F238E27FC236}">
                <a16:creationId xmlns:a16="http://schemas.microsoft.com/office/drawing/2014/main" id="{4555FCFD-819F-3147-B6C3-EFBC5C936046}"/>
              </a:ext>
            </a:extLst>
          </p:cNvPr>
          <p:cNvSpPr>
            <a:spLocks noGrp="1"/>
          </p:cNvSpPr>
          <p:nvPr>
            <p:ph type="body" sz="quarter" idx="11" hasCustomPrompt="1"/>
          </p:nvPr>
        </p:nvSpPr>
        <p:spPr>
          <a:xfrm>
            <a:off x="1906270" y="1157449"/>
            <a:ext cx="18576290" cy="873125"/>
          </a:xfrm>
          <a:prstGeom prst="rect">
            <a:avLst/>
          </a:prstGeom>
        </p:spPr>
        <p:txBody>
          <a:bodyPr anchor="b">
            <a:normAutofit/>
          </a:bodyPr>
          <a:lstStyle>
            <a:lvl1pPr>
              <a:defRPr sz="1800" cap="all" spc="600" baseline="0"/>
            </a:lvl1pPr>
          </a:lstStyle>
          <a:p>
            <a:pPr lvl="0"/>
            <a:r>
              <a:rPr lang="en-US" dirty="0"/>
              <a:t>PRE-TITLE Such as “Case Study” or “Research Findings”</a:t>
            </a:r>
          </a:p>
        </p:txBody>
      </p:sp>
      <p:sp>
        <p:nvSpPr>
          <p:cNvPr id="6" name="Text Placeholder 12">
            <a:extLst>
              <a:ext uri="{FF2B5EF4-FFF2-40B4-BE49-F238E27FC236}">
                <a16:creationId xmlns:a16="http://schemas.microsoft.com/office/drawing/2014/main" id="{5010D250-E633-9A41-A5E9-F13831F3B038}"/>
              </a:ext>
            </a:extLst>
          </p:cNvPr>
          <p:cNvSpPr>
            <a:spLocks noGrp="1"/>
          </p:cNvSpPr>
          <p:nvPr>
            <p:ph type="body" sz="quarter" idx="12"/>
          </p:nvPr>
        </p:nvSpPr>
        <p:spPr>
          <a:xfrm>
            <a:off x="1784974" y="8392465"/>
            <a:ext cx="18697586" cy="3023090"/>
          </a:xfrm>
          <a:prstGeom prst="rect">
            <a:avLst/>
          </a:prstGeom>
        </p:spPr>
        <p:txBody>
          <a:bodyPr anchor="t">
            <a:normAutofit/>
          </a:bodyPr>
          <a:lstStyle>
            <a:lvl1pPr>
              <a:defRPr sz="3200" b="0" i="0">
                <a:latin typeface="Arial" panose="020B0604020202020204" pitchFamily="34" charset="0"/>
                <a:cs typeface="Arial" panose="020B0604020202020204" pitchFamily="34" charset="0"/>
              </a:defRPr>
            </a:lvl1pPr>
            <a:lvl5pPr>
              <a:defRPr sz="2400"/>
            </a:lvl5pPr>
          </a:lstStyle>
          <a:p>
            <a:pPr lvl="0"/>
            <a:r>
              <a:rPr lang="en-US"/>
              <a:t>Edit Master text styles</a:t>
            </a:r>
          </a:p>
        </p:txBody>
      </p:sp>
    </p:spTree>
    <p:extLst>
      <p:ext uri="{BB962C8B-B14F-4D97-AF65-F5344CB8AC3E}">
        <p14:creationId xmlns:p14="http://schemas.microsoft.com/office/powerpoint/2010/main" val="15319045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with-pre-title">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2296160"/>
            <a:ext cx="18697587" cy="1930400"/>
          </a:xfrm>
          <a:prstGeom prst="rect">
            <a:avLst/>
          </a:prstGeom>
        </p:spPr>
        <p:txBody>
          <a:bodyPr vert="horz" lIns="91440" tIns="45720" rIns="91440" bIns="45720" rtlCol="0" anchor="b">
            <a:normAutofit/>
          </a:bodyPr>
          <a:lstStyle>
            <a:lvl1pPr>
              <a:defRPr sz="8000"/>
            </a:lvl1p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784973" y="4490720"/>
            <a:ext cx="18697587" cy="72136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15">
            <a:extLst>
              <a:ext uri="{FF2B5EF4-FFF2-40B4-BE49-F238E27FC236}">
                <a16:creationId xmlns:a16="http://schemas.microsoft.com/office/drawing/2014/main" id="{6DCBF5E6-69B1-E146-B6D1-E081E0CF284A}"/>
              </a:ext>
            </a:extLst>
          </p:cNvPr>
          <p:cNvSpPr>
            <a:spLocks noGrp="1"/>
          </p:cNvSpPr>
          <p:nvPr>
            <p:ph type="body" sz="quarter" idx="12" hasCustomPrompt="1"/>
          </p:nvPr>
        </p:nvSpPr>
        <p:spPr>
          <a:xfrm>
            <a:off x="1906270" y="1157449"/>
            <a:ext cx="18576290" cy="873125"/>
          </a:xfrm>
          <a:prstGeom prst="rect">
            <a:avLst/>
          </a:prstGeom>
        </p:spPr>
        <p:txBody>
          <a:bodyPr anchor="b">
            <a:normAutofit/>
          </a:bodyPr>
          <a:lstStyle>
            <a:lvl1pPr>
              <a:defRPr sz="1800" cap="all" spc="1000" baseline="0"/>
            </a:lvl1pPr>
          </a:lstStyle>
          <a:p>
            <a:pPr lvl="0"/>
            <a:r>
              <a:rPr lang="en-US"/>
              <a:t>PRE-TITLE i.e. “example” or “case study”</a:t>
            </a:r>
          </a:p>
        </p:txBody>
      </p:sp>
    </p:spTree>
    <p:extLst>
      <p:ext uri="{BB962C8B-B14F-4D97-AF65-F5344CB8AC3E}">
        <p14:creationId xmlns:p14="http://schemas.microsoft.com/office/powerpoint/2010/main" val="355489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1362270"/>
            <a:ext cx="1869758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784973" y="3676595"/>
            <a:ext cx="18697587" cy="8027725"/>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79114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2-column">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1362270"/>
            <a:ext cx="1869758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hasCustomPrompt="1"/>
          </p:nvPr>
        </p:nvSpPr>
        <p:spPr>
          <a:xfrm>
            <a:off x="1784974" y="3676595"/>
            <a:ext cx="8943842" cy="8027725"/>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11">
            <a:extLst>
              <a:ext uri="{FF2B5EF4-FFF2-40B4-BE49-F238E27FC236}">
                <a16:creationId xmlns:a16="http://schemas.microsoft.com/office/drawing/2014/main" id="{0797EACB-68FD-9F4C-8887-A75C5A1A8638}"/>
              </a:ext>
            </a:extLst>
          </p:cNvPr>
          <p:cNvSpPr>
            <a:spLocks noGrp="1"/>
          </p:cNvSpPr>
          <p:nvPr>
            <p:ph type="body" sz="quarter" idx="13" hasCustomPrompt="1"/>
          </p:nvPr>
        </p:nvSpPr>
        <p:spPr>
          <a:xfrm>
            <a:off x="11538717" y="3676595"/>
            <a:ext cx="8943843" cy="8027725"/>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637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Content-2-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0DD7A14-F75E-6C49-A015-B5CC0F8B9980}"/>
              </a:ext>
            </a:extLst>
          </p:cNvPr>
          <p:cNvSpPr>
            <a:spLocks noGrp="1"/>
          </p:cNvSpPr>
          <p:nvPr>
            <p:ph type="body" sz="quarter" idx="17" hasCustomPrompt="1"/>
          </p:nvPr>
        </p:nvSpPr>
        <p:spPr>
          <a:xfrm>
            <a:off x="15229171" y="3673210"/>
            <a:ext cx="5912198" cy="8038862"/>
          </a:xfrm>
          <a:prstGeom prst="rect">
            <a:avLst/>
          </a:prstGeom>
        </p:spPr>
        <p:txBody>
          <a:bodyPr>
            <a:normAutofit/>
          </a:bodyPr>
          <a:lstStyle>
            <a:lvl1pPr>
              <a:defRPr sz="3200"/>
            </a:lvl1pPr>
            <a:lvl2pPr>
              <a:defRPr sz="3200"/>
            </a:lvl2pPr>
            <a:lvl3pPr>
              <a:defRPr sz="32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1362270"/>
            <a:ext cx="19356396"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hasCustomPrompt="1"/>
          </p:nvPr>
        </p:nvSpPr>
        <p:spPr>
          <a:xfrm>
            <a:off x="1784974" y="3676595"/>
            <a:ext cx="5912197" cy="8027725"/>
          </a:xfrm>
          <a:prstGeom prst="rect">
            <a:avLst/>
          </a:prstGeom>
        </p:spPr>
        <p:txBody>
          <a:bodyPr>
            <a:normAutofit/>
          </a:bodyPr>
          <a:lstStyle>
            <a:lvl1pPr>
              <a:defRPr sz="3200"/>
            </a:lvl1pPr>
            <a:lvl2pPr>
              <a:defRPr sz="3200"/>
            </a:lvl2pPr>
            <a:lvl3pPr>
              <a:defRPr sz="32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11">
            <a:extLst>
              <a:ext uri="{FF2B5EF4-FFF2-40B4-BE49-F238E27FC236}">
                <a16:creationId xmlns:a16="http://schemas.microsoft.com/office/drawing/2014/main" id="{0797EACB-68FD-9F4C-8887-A75C5A1A8638}"/>
              </a:ext>
            </a:extLst>
          </p:cNvPr>
          <p:cNvSpPr>
            <a:spLocks noGrp="1"/>
          </p:cNvSpPr>
          <p:nvPr>
            <p:ph type="body" sz="quarter" idx="13" hasCustomPrompt="1"/>
          </p:nvPr>
        </p:nvSpPr>
        <p:spPr>
          <a:xfrm>
            <a:off x="8507072" y="3673208"/>
            <a:ext cx="5912198" cy="8038863"/>
          </a:xfrm>
          <a:prstGeom prst="rect">
            <a:avLst/>
          </a:prstGeom>
        </p:spPr>
        <p:txBody>
          <a:bodyPr>
            <a:normAutofit/>
          </a:bodyPr>
          <a:lstStyle>
            <a:lvl1pPr>
              <a:defRPr sz="3200"/>
            </a:lvl1pPr>
            <a:lvl2pPr>
              <a:defRPr sz="3200"/>
            </a:lvl2pPr>
            <a:lvl3pPr>
              <a:defRPr sz="3200"/>
            </a:lvl3pPr>
            <a:lvl4pPr>
              <a:defRPr sz="3200"/>
            </a:lvl4pPr>
            <a:lvl5pPr>
              <a:defRPr sz="3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3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g-quote">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2FD4F787-C235-4047-AFB5-D1F98B343B4B}"/>
              </a:ext>
            </a:extLst>
          </p:cNvPr>
          <p:cNvSpPr>
            <a:spLocks noGrp="1"/>
          </p:cNvSpPr>
          <p:nvPr>
            <p:ph type="title" hasCustomPrompt="1"/>
          </p:nvPr>
        </p:nvSpPr>
        <p:spPr>
          <a:xfrm>
            <a:off x="1784974" y="2357121"/>
            <a:ext cx="20807701" cy="7945120"/>
          </a:xfrm>
          <a:prstGeom prst="rect">
            <a:avLst/>
          </a:prstGeom>
        </p:spPr>
        <p:txBody>
          <a:bodyPr anchor="ctr">
            <a:normAutofit/>
          </a:bodyPr>
          <a:lstStyle>
            <a:lvl1pPr algn="ctr">
              <a:defRPr sz="9600"/>
            </a:lvl1pPr>
          </a:lstStyle>
          <a:p>
            <a:r>
              <a:rPr lang="en-US"/>
              <a:t>“Insert quote.”</a:t>
            </a:r>
          </a:p>
        </p:txBody>
      </p:sp>
      <p:sp>
        <p:nvSpPr>
          <p:cNvPr id="4" name="Text Placeholder 12">
            <a:extLst>
              <a:ext uri="{FF2B5EF4-FFF2-40B4-BE49-F238E27FC236}">
                <a16:creationId xmlns:a16="http://schemas.microsoft.com/office/drawing/2014/main" id="{0FAED334-0047-6346-904B-338566EA87CC}"/>
              </a:ext>
            </a:extLst>
          </p:cNvPr>
          <p:cNvSpPr>
            <a:spLocks noGrp="1"/>
          </p:cNvSpPr>
          <p:nvPr>
            <p:ph type="body" sz="quarter" idx="10" hasCustomPrompt="1"/>
          </p:nvPr>
        </p:nvSpPr>
        <p:spPr>
          <a:xfrm>
            <a:off x="1784973" y="10566400"/>
            <a:ext cx="20807701" cy="1097280"/>
          </a:xfrm>
          <a:prstGeom prst="rect">
            <a:avLst/>
          </a:prstGeom>
        </p:spPr>
        <p:txBody>
          <a:bodyPr anchor="t">
            <a:normAutofit/>
          </a:bodyPr>
          <a:lstStyle>
            <a:lvl1pPr algn="ctr">
              <a:defRPr sz="3200" b="1"/>
            </a:lvl1pPr>
            <a:lvl5pPr>
              <a:defRPr sz="2400"/>
            </a:lvl5pPr>
          </a:lstStyle>
          <a:p>
            <a:r>
              <a:rPr lang="en-US" sz="3200" b="1"/>
              <a:t>— Attribution</a:t>
            </a:r>
          </a:p>
        </p:txBody>
      </p:sp>
      <p:sp>
        <p:nvSpPr>
          <p:cNvPr id="5" name="Text Placeholder 15">
            <a:extLst>
              <a:ext uri="{FF2B5EF4-FFF2-40B4-BE49-F238E27FC236}">
                <a16:creationId xmlns:a16="http://schemas.microsoft.com/office/drawing/2014/main" id="{353F6690-7E3C-2C4B-99AD-F616509F1D18}"/>
              </a:ext>
            </a:extLst>
          </p:cNvPr>
          <p:cNvSpPr>
            <a:spLocks noGrp="1"/>
          </p:cNvSpPr>
          <p:nvPr>
            <p:ph type="body" sz="quarter" idx="11" hasCustomPrompt="1"/>
          </p:nvPr>
        </p:nvSpPr>
        <p:spPr>
          <a:xfrm>
            <a:off x="1906270" y="1157449"/>
            <a:ext cx="18576290" cy="873125"/>
          </a:xfrm>
          <a:prstGeom prst="rect">
            <a:avLst/>
          </a:prstGeom>
        </p:spPr>
        <p:txBody>
          <a:bodyPr anchor="b">
            <a:normAutofit/>
          </a:bodyPr>
          <a:lstStyle>
            <a:lvl1pPr>
              <a:defRPr sz="1800" cap="all" spc="600" baseline="0"/>
            </a:lvl1pPr>
          </a:lstStyle>
          <a:p>
            <a:pPr lvl="0"/>
            <a:r>
              <a:rPr lang="en-US" dirty="0"/>
              <a:t>PRE-TITLE such as “Verbatim” or “</a:t>
            </a:r>
            <a:r>
              <a:rPr lang="en-US" dirty="0" err="1"/>
              <a:t>QuoteD</a:t>
            </a:r>
            <a:r>
              <a:rPr lang="en-US" dirty="0"/>
              <a:t>”</a:t>
            </a:r>
          </a:p>
        </p:txBody>
      </p:sp>
    </p:spTree>
    <p:extLst>
      <p:ext uri="{BB962C8B-B14F-4D97-AF65-F5344CB8AC3E}">
        <p14:creationId xmlns:p14="http://schemas.microsoft.com/office/powerpoint/2010/main" val="87071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ight-image">
    <p:spTree>
      <p:nvGrpSpPr>
        <p:cNvPr id="1" name=""/>
        <p:cNvGrpSpPr/>
        <p:nvPr/>
      </p:nvGrpSpPr>
      <p:grpSpPr>
        <a:xfrm>
          <a:off x="0" y="0"/>
          <a:ext cx="0" cy="0"/>
          <a:chOff x="0" y="0"/>
          <a:chExt cx="0" cy="0"/>
        </a:xfrm>
      </p:grpSpPr>
      <p:sp>
        <p:nvSpPr>
          <p:cNvPr id="4" name="Picture Placeholder 4"/>
          <p:cNvSpPr>
            <a:spLocks noGrp="1"/>
          </p:cNvSpPr>
          <p:nvPr>
            <p:ph type="pic" sz="quarter" idx="10" hasCustomPrompt="1"/>
          </p:nvPr>
        </p:nvSpPr>
        <p:spPr>
          <a:xfrm>
            <a:off x="12107822" y="1362270"/>
            <a:ext cx="10975053" cy="10860832"/>
          </a:xfrm>
          <a:prstGeom prst="rect">
            <a:avLst/>
          </a:prstGeom>
          <a:solidFill>
            <a:schemeClr val="bg1">
              <a:lumMod val="95000"/>
            </a:schemeClr>
          </a:solidFill>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image: 1) drag and drop image</a:t>
            </a:r>
          </a:p>
        </p:txBody>
      </p:sp>
      <p:sp>
        <p:nvSpPr>
          <p:cNvPr id="10" name="Text Placeholder 3">
            <a:extLst>
              <a:ext uri="{FF2B5EF4-FFF2-40B4-BE49-F238E27FC236}">
                <a16:creationId xmlns:a16="http://schemas.microsoft.com/office/drawing/2014/main" id="{9BBDC945-2F14-444F-848E-CB5A69821791}"/>
              </a:ext>
            </a:extLst>
          </p:cNvPr>
          <p:cNvSpPr>
            <a:spLocks noGrp="1"/>
          </p:cNvSpPr>
          <p:nvPr>
            <p:ph type="body" sz="quarter" idx="12" hasCustomPrompt="1"/>
          </p:nvPr>
        </p:nvSpPr>
        <p:spPr>
          <a:xfrm>
            <a:off x="12107822" y="11749254"/>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1362270"/>
            <a:ext cx="951294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784973" y="3637281"/>
            <a:ext cx="9512947" cy="8585821"/>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34352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image">
    <p:spTree>
      <p:nvGrpSpPr>
        <p:cNvPr id="1" name=""/>
        <p:cNvGrpSpPr/>
        <p:nvPr/>
      </p:nvGrpSpPr>
      <p:grpSpPr>
        <a:xfrm>
          <a:off x="0" y="0"/>
          <a:ext cx="0" cy="0"/>
          <a:chOff x="0" y="0"/>
          <a:chExt cx="0" cy="0"/>
        </a:xfrm>
      </p:grpSpPr>
      <p:sp>
        <p:nvSpPr>
          <p:cNvPr id="4" name="Picture Placeholder 4"/>
          <p:cNvSpPr>
            <a:spLocks noGrp="1"/>
          </p:cNvSpPr>
          <p:nvPr>
            <p:ph type="pic" sz="quarter" idx="10" hasCustomPrompt="1"/>
          </p:nvPr>
        </p:nvSpPr>
        <p:spPr>
          <a:xfrm>
            <a:off x="1362270" y="1362270"/>
            <a:ext cx="10975053" cy="10860832"/>
          </a:xfrm>
          <a:prstGeom prst="rect">
            <a:avLst/>
          </a:prstGeom>
          <a:solidFill>
            <a:schemeClr val="bg1">
              <a:lumMod val="95000"/>
            </a:schemeClr>
          </a:solidFill>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image: 1) drag and drop image</a:t>
            </a:r>
          </a:p>
        </p:txBody>
      </p:sp>
      <p:sp>
        <p:nvSpPr>
          <p:cNvPr id="10" name="Text Placeholder 3">
            <a:extLst>
              <a:ext uri="{FF2B5EF4-FFF2-40B4-BE49-F238E27FC236}">
                <a16:creationId xmlns:a16="http://schemas.microsoft.com/office/drawing/2014/main" id="{9BBDC945-2F14-444F-848E-CB5A69821791}"/>
              </a:ext>
            </a:extLst>
          </p:cNvPr>
          <p:cNvSpPr>
            <a:spLocks noGrp="1"/>
          </p:cNvSpPr>
          <p:nvPr>
            <p:ph type="body" sz="quarter" idx="12" hasCustomPrompt="1"/>
          </p:nvPr>
        </p:nvSpPr>
        <p:spPr>
          <a:xfrm>
            <a:off x="1362270" y="11749254"/>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3147225" y="1362270"/>
            <a:ext cx="951294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3147225" y="3637281"/>
            <a:ext cx="9512947" cy="8585821"/>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200290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ight-image-full">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1362270"/>
            <a:ext cx="951294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784973" y="3637281"/>
            <a:ext cx="9512947" cy="80670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73B2FC47-35A1-D346-9C48-1CDF6FFD26CD}"/>
              </a:ext>
            </a:extLst>
          </p:cNvPr>
          <p:cNvSpPr>
            <a:spLocks noGrp="1"/>
          </p:cNvSpPr>
          <p:nvPr>
            <p:ph type="pic" sz="quarter" idx="13" hasCustomPrompt="1"/>
          </p:nvPr>
        </p:nvSpPr>
        <p:spPr>
          <a:xfrm>
            <a:off x="12192000" y="0"/>
            <a:ext cx="1218565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7" name="Text Placeholder 3">
            <a:extLst>
              <a:ext uri="{FF2B5EF4-FFF2-40B4-BE49-F238E27FC236}">
                <a16:creationId xmlns:a16="http://schemas.microsoft.com/office/drawing/2014/main" id="{216D7B5A-44DD-C749-8276-0A194A0BCF83}"/>
              </a:ext>
            </a:extLst>
          </p:cNvPr>
          <p:cNvSpPr>
            <a:spLocks noGrp="1"/>
          </p:cNvSpPr>
          <p:nvPr>
            <p:ph type="body" sz="quarter" idx="14" hasCustomPrompt="1"/>
          </p:nvPr>
        </p:nvSpPr>
        <p:spPr>
          <a:xfrm>
            <a:off x="12595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965094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ft-image-full">
    <p:spTree>
      <p:nvGrpSpPr>
        <p:cNvPr id="1" name=""/>
        <p:cNvGrpSpPr/>
        <p:nvPr/>
      </p:nvGrpSpPr>
      <p:grpSpPr>
        <a:xfrm>
          <a:off x="0" y="0"/>
          <a:ext cx="0" cy="0"/>
          <a:chOff x="0" y="0"/>
          <a:chExt cx="0" cy="0"/>
        </a:xfrm>
      </p:grpSpPr>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3147225" y="1362270"/>
            <a:ext cx="9512947"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3147225" y="3637281"/>
            <a:ext cx="9512947" cy="8067039"/>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208531B4-3BEB-9F47-9203-6473677A5FC5}"/>
              </a:ext>
            </a:extLst>
          </p:cNvPr>
          <p:cNvSpPr>
            <a:spLocks noGrp="1"/>
          </p:cNvSpPr>
          <p:nvPr>
            <p:ph type="pic" sz="quarter" idx="10" hasCustomPrompt="1"/>
          </p:nvPr>
        </p:nvSpPr>
        <p:spPr>
          <a:xfrm>
            <a:off x="0" y="0"/>
            <a:ext cx="1219200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7" name="Text Placeholder 3">
            <a:extLst>
              <a:ext uri="{FF2B5EF4-FFF2-40B4-BE49-F238E27FC236}">
                <a16:creationId xmlns:a16="http://schemas.microsoft.com/office/drawing/2014/main" id="{F4AEE14B-439D-B640-BA51-5D15DC7C2D1D}"/>
              </a:ext>
            </a:extLst>
          </p:cNvPr>
          <p:cNvSpPr>
            <a:spLocks noGrp="1"/>
          </p:cNvSpPr>
          <p:nvPr>
            <p:ph type="body" sz="quarter" idx="12" hasCustomPrompt="1"/>
          </p:nvPr>
        </p:nvSpPr>
        <p:spPr>
          <a:xfrm>
            <a:off x="403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098129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Header image">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73B2FC47-35A1-D346-9C48-1CDF6FFD26CD}"/>
              </a:ext>
            </a:extLst>
          </p:cNvPr>
          <p:cNvSpPr>
            <a:spLocks noGrp="1"/>
          </p:cNvSpPr>
          <p:nvPr>
            <p:ph type="pic" sz="quarter" idx="13" hasCustomPrompt="1"/>
          </p:nvPr>
        </p:nvSpPr>
        <p:spPr>
          <a:xfrm>
            <a:off x="0" y="-1"/>
            <a:ext cx="24377650" cy="3367409"/>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16" name="Title Placeholder 2">
            <a:extLst>
              <a:ext uri="{FF2B5EF4-FFF2-40B4-BE49-F238E27FC236}">
                <a16:creationId xmlns:a16="http://schemas.microsoft.com/office/drawing/2014/main" id="{99DDC60A-5C4A-5245-8961-D2EE09418E31}"/>
              </a:ext>
            </a:extLst>
          </p:cNvPr>
          <p:cNvSpPr>
            <a:spLocks noGrp="1"/>
          </p:cNvSpPr>
          <p:nvPr>
            <p:ph type="title"/>
          </p:nvPr>
        </p:nvSpPr>
        <p:spPr>
          <a:xfrm>
            <a:off x="1784973" y="3982118"/>
            <a:ext cx="20873859" cy="2005139"/>
          </a:xfrm>
          <a:prstGeom prst="rect">
            <a:avLst/>
          </a:prstGeom>
        </p:spPr>
        <p:txBody>
          <a:bodyPr vert="horz" lIns="91440" tIns="45720" rIns="91440" bIns="45720" rtlCol="0" anchor="b">
            <a:normAutofit/>
          </a:bodyPr>
          <a:lstStyle/>
          <a:p>
            <a:r>
              <a:rPr lang="en-US"/>
              <a:t>Click to edit Master title style</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p:nvPr>
        </p:nvSpPr>
        <p:spPr>
          <a:xfrm>
            <a:off x="1784973" y="6236208"/>
            <a:ext cx="20873859" cy="5468112"/>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216D7B5A-44DD-C749-8276-0A194A0BCF83}"/>
              </a:ext>
            </a:extLst>
          </p:cNvPr>
          <p:cNvSpPr>
            <a:spLocks noGrp="1"/>
          </p:cNvSpPr>
          <p:nvPr>
            <p:ph type="body" sz="quarter" idx="14" hasCustomPrompt="1"/>
          </p:nvPr>
        </p:nvSpPr>
        <p:spPr>
          <a:xfrm>
            <a:off x="19624190" y="2544110"/>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547942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o">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8A5ABD06-3534-A049-B61B-B90D8B0F6A4F}"/>
              </a:ext>
            </a:extLst>
          </p:cNvPr>
          <p:cNvSpPr>
            <a:spLocks noGrp="1"/>
          </p:cNvSpPr>
          <p:nvPr>
            <p:ph type="pic" sz="quarter" idx="11" hasCustomPrompt="1"/>
          </p:nvPr>
        </p:nvSpPr>
        <p:spPr>
          <a:xfrm>
            <a:off x="15637885" y="3221214"/>
            <a:ext cx="7028093" cy="7028092"/>
          </a:xfrm>
          <a:prstGeom prst="ellipse">
            <a:avLst/>
          </a:prstGeom>
          <a:solidFill>
            <a:schemeClr val="bg1">
              <a:lumMod val="95000"/>
            </a:schemeClr>
          </a:solidFill>
        </p:spPr>
        <p:txBody>
          <a:bodyPr anchor="ctr">
            <a:normAutofit/>
          </a:bodyPr>
          <a:lstStyle>
            <a:lvl1pPr algn="ctr">
              <a:defRPr sz="2000">
                <a:solidFill>
                  <a:srgbClr val="FF0000"/>
                </a:solidFill>
              </a:defRPr>
            </a:lvl1pPr>
          </a:lstStyle>
          <a:p>
            <a:r>
              <a:rPr lang="en-US"/>
              <a:t>Place image: 1) drag and drop image</a:t>
            </a:r>
          </a:p>
        </p:txBody>
      </p:sp>
      <p:sp>
        <p:nvSpPr>
          <p:cNvPr id="4" name="Title 4">
            <a:extLst>
              <a:ext uri="{FF2B5EF4-FFF2-40B4-BE49-F238E27FC236}">
                <a16:creationId xmlns:a16="http://schemas.microsoft.com/office/drawing/2014/main" id="{BE60CFA6-10C2-754F-98A8-14257DDCED7A}"/>
              </a:ext>
            </a:extLst>
          </p:cNvPr>
          <p:cNvSpPr>
            <a:spLocks noGrp="1"/>
          </p:cNvSpPr>
          <p:nvPr>
            <p:ph type="title" hasCustomPrompt="1"/>
          </p:nvPr>
        </p:nvSpPr>
        <p:spPr>
          <a:xfrm>
            <a:off x="1784975" y="2300445"/>
            <a:ext cx="12642225" cy="4567715"/>
          </a:xfrm>
          <a:prstGeom prst="rect">
            <a:avLst/>
          </a:prstGeom>
        </p:spPr>
        <p:txBody>
          <a:bodyPr anchor="b">
            <a:normAutofit/>
          </a:bodyPr>
          <a:lstStyle>
            <a:lvl1pPr>
              <a:defRPr sz="9600"/>
            </a:lvl1pPr>
          </a:lstStyle>
          <a:p>
            <a:r>
              <a:rPr lang="en-US"/>
              <a:t>First Last</a:t>
            </a:r>
          </a:p>
        </p:txBody>
      </p:sp>
      <p:sp>
        <p:nvSpPr>
          <p:cNvPr id="5" name="Text Placeholder 15">
            <a:extLst>
              <a:ext uri="{FF2B5EF4-FFF2-40B4-BE49-F238E27FC236}">
                <a16:creationId xmlns:a16="http://schemas.microsoft.com/office/drawing/2014/main" id="{87F6CB27-04BD-2145-A20E-C5CE3EDCF408}"/>
              </a:ext>
            </a:extLst>
          </p:cNvPr>
          <p:cNvSpPr>
            <a:spLocks noGrp="1"/>
          </p:cNvSpPr>
          <p:nvPr>
            <p:ph type="body" sz="quarter" idx="12" hasCustomPrompt="1"/>
          </p:nvPr>
        </p:nvSpPr>
        <p:spPr>
          <a:xfrm>
            <a:off x="1906270" y="1157449"/>
            <a:ext cx="18576290" cy="873125"/>
          </a:xfrm>
          <a:prstGeom prst="rect">
            <a:avLst/>
          </a:prstGeom>
        </p:spPr>
        <p:txBody>
          <a:bodyPr anchor="b">
            <a:normAutofit/>
          </a:bodyPr>
          <a:lstStyle>
            <a:lvl1pPr>
              <a:defRPr sz="1800" cap="all" spc="600" baseline="0"/>
            </a:lvl1pPr>
          </a:lstStyle>
          <a:p>
            <a:pPr lvl="0"/>
            <a:r>
              <a:rPr lang="en-US" dirty="0"/>
              <a:t>PRE-TITLE i.e. “Presenter” or “Moderator” OR “Panelist”</a:t>
            </a:r>
          </a:p>
        </p:txBody>
      </p:sp>
      <p:sp>
        <p:nvSpPr>
          <p:cNvPr id="6" name="Text Placeholder 11">
            <a:extLst>
              <a:ext uri="{FF2B5EF4-FFF2-40B4-BE49-F238E27FC236}">
                <a16:creationId xmlns:a16="http://schemas.microsoft.com/office/drawing/2014/main" id="{945E82B9-CED4-2049-9F27-1D24F683D1EC}"/>
              </a:ext>
            </a:extLst>
          </p:cNvPr>
          <p:cNvSpPr>
            <a:spLocks noGrp="1"/>
          </p:cNvSpPr>
          <p:nvPr>
            <p:ph type="body" sz="quarter" idx="13" hasCustomPrompt="1"/>
          </p:nvPr>
        </p:nvSpPr>
        <p:spPr>
          <a:xfrm>
            <a:off x="1784974" y="7172631"/>
            <a:ext cx="12642225" cy="886169"/>
          </a:xfrm>
          <a:prstGeom prst="rect">
            <a:avLst/>
          </a:prstGeom>
        </p:spPr>
        <p:txBody>
          <a:bodyPr>
            <a:normAutofit/>
          </a:bodyPr>
          <a:lstStyle>
            <a:lvl1pPr>
              <a:defRPr sz="3200" b="1"/>
            </a:lvl1pPr>
            <a:lvl2pPr>
              <a:defRPr sz="2800" b="1"/>
            </a:lvl2pPr>
            <a:lvl3pPr>
              <a:defRPr sz="2400" b="1"/>
            </a:lvl3pPr>
            <a:lvl4pPr>
              <a:defRPr sz="2000" b="1"/>
            </a:lvl4pPr>
            <a:lvl5pPr>
              <a:defRPr sz="2000" b="1"/>
            </a:lvl5pPr>
          </a:lstStyle>
          <a:p>
            <a:pPr lvl="0"/>
            <a:r>
              <a:rPr lang="en-US"/>
              <a:t>Title(s)</a:t>
            </a:r>
          </a:p>
        </p:txBody>
      </p:sp>
      <p:sp>
        <p:nvSpPr>
          <p:cNvPr id="7" name="Text Placeholder 11">
            <a:extLst>
              <a:ext uri="{FF2B5EF4-FFF2-40B4-BE49-F238E27FC236}">
                <a16:creationId xmlns:a16="http://schemas.microsoft.com/office/drawing/2014/main" id="{47DFD862-B4FA-F545-92B6-95891F518B48}"/>
              </a:ext>
            </a:extLst>
          </p:cNvPr>
          <p:cNvSpPr>
            <a:spLocks noGrp="1"/>
          </p:cNvSpPr>
          <p:nvPr>
            <p:ph type="body" sz="quarter" idx="14" hasCustomPrompt="1"/>
          </p:nvPr>
        </p:nvSpPr>
        <p:spPr>
          <a:xfrm>
            <a:off x="1784973" y="8363271"/>
            <a:ext cx="12642225" cy="3036249"/>
          </a:xfrm>
          <a:prstGeom prst="rect">
            <a:avLst/>
          </a:prstGeom>
        </p:spPr>
        <p:txBody>
          <a:bodyPr>
            <a:normAutofit/>
          </a:bodyPr>
          <a:lstStyle>
            <a:lvl1pPr>
              <a:defRPr sz="3200" b="0"/>
            </a:lvl1pPr>
            <a:lvl2pPr>
              <a:defRPr sz="2800" b="1"/>
            </a:lvl2pPr>
            <a:lvl3pPr>
              <a:defRPr sz="2400" b="1"/>
            </a:lvl3pPr>
            <a:lvl4pPr>
              <a:defRPr sz="2000" b="1"/>
            </a:lvl4pPr>
            <a:lvl5pPr>
              <a:defRPr sz="2000" b="1"/>
            </a:lvl5pPr>
          </a:lstStyle>
          <a:p>
            <a:pPr lvl="0"/>
            <a:r>
              <a:rPr lang="en-US"/>
              <a:t>Bio</a:t>
            </a:r>
          </a:p>
        </p:txBody>
      </p:sp>
    </p:spTree>
    <p:extLst>
      <p:ext uri="{BB962C8B-B14F-4D97-AF65-F5344CB8AC3E}">
        <p14:creationId xmlns:p14="http://schemas.microsoft.com/office/powerpoint/2010/main" val="3529027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objects">
    <p:spTree>
      <p:nvGrpSpPr>
        <p:cNvPr id="1" name=""/>
        <p:cNvGrpSpPr/>
        <p:nvPr/>
      </p:nvGrpSpPr>
      <p:grpSpPr>
        <a:xfrm>
          <a:off x="0" y="0"/>
          <a:ext cx="0" cy="0"/>
          <a:chOff x="0" y="0"/>
          <a:chExt cx="0" cy="0"/>
        </a:xfrm>
      </p:grpSpPr>
      <p:sp>
        <p:nvSpPr>
          <p:cNvPr id="3" name="Picture Placeholder 4">
            <a:extLst>
              <a:ext uri="{FF2B5EF4-FFF2-40B4-BE49-F238E27FC236}">
                <a16:creationId xmlns:a16="http://schemas.microsoft.com/office/drawing/2014/main" id="{8A5ABD06-3534-A049-B61B-B90D8B0F6A4F}"/>
              </a:ext>
            </a:extLst>
          </p:cNvPr>
          <p:cNvSpPr>
            <a:spLocks noGrp="1"/>
          </p:cNvSpPr>
          <p:nvPr>
            <p:ph type="pic" sz="quarter" idx="11" hasCustomPrompt="1"/>
          </p:nvPr>
        </p:nvSpPr>
        <p:spPr>
          <a:xfrm>
            <a:off x="2438401" y="3759666"/>
            <a:ext cx="4528170" cy="4375040"/>
          </a:xfrm>
          <a:prstGeom prst="ellipse">
            <a:avLst/>
          </a:prstGeom>
          <a:solidFill>
            <a:schemeClr val="bg1">
              <a:lumMod val="95000"/>
            </a:schemeClr>
          </a:solidFill>
        </p:spPr>
        <p:txBody>
          <a:bodyPr anchor="ctr">
            <a:normAutofit/>
          </a:bodyPr>
          <a:lstStyle>
            <a:lvl1pPr algn="ctr">
              <a:defRPr sz="2000">
                <a:solidFill>
                  <a:srgbClr val="FF0000"/>
                </a:solidFill>
              </a:defRPr>
            </a:lvl1pPr>
          </a:lstStyle>
          <a:p>
            <a:r>
              <a:rPr lang="en-US"/>
              <a:t>Place image: 1) drag and drop image</a:t>
            </a:r>
          </a:p>
        </p:txBody>
      </p:sp>
      <p:sp>
        <p:nvSpPr>
          <p:cNvPr id="6" name="Text Placeholder 11">
            <a:extLst>
              <a:ext uri="{FF2B5EF4-FFF2-40B4-BE49-F238E27FC236}">
                <a16:creationId xmlns:a16="http://schemas.microsoft.com/office/drawing/2014/main" id="{945E82B9-CED4-2049-9F27-1D24F683D1EC}"/>
              </a:ext>
            </a:extLst>
          </p:cNvPr>
          <p:cNvSpPr>
            <a:spLocks noGrp="1"/>
          </p:cNvSpPr>
          <p:nvPr>
            <p:ph type="body" sz="quarter" idx="13" hasCustomPrompt="1"/>
          </p:nvPr>
        </p:nvSpPr>
        <p:spPr>
          <a:xfrm>
            <a:off x="1866254" y="8526963"/>
            <a:ext cx="5835025" cy="705489"/>
          </a:xfrm>
          <a:prstGeom prst="rect">
            <a:avLst/>
          </a:prstGeom>
        </p:spPr>
        <p:txBody>
          <a:bodyPr>
            <a:normAutofit/>
          </a:bodyPr>
          <a:lstStyle>
            <a:lvl1pPr>
              <a:defRPr sz="3200" b="1"/>
            </a:lvl1pPr>
            <a:lvl2pPr>
              <a:defRPr sz="2800" b="1"/>
            </a:lvl2pPr>
            <a:lvl3pPr>
              <a:defRPr sz="2400" b="1"/>
            </a:lvl3pPr>
            <a:lvl4pPr>
              <a:defRPr sz="2000" b="1"/>
            </a:lvl4pPr>
            <a:lvl5pPr>
              <a:defRPr sz="2000" b="1"/>
            </a:lvl5pPr>
          </a:lstStyle>
          <a:p>
            <a:pPr lvl="0"/>
            <a:r>
              <a:rPr lang="en-US"/>
              <a:t>Object one title</a:t>
            </a:r>
          </a:p>
        </p:txBody>
      </p:sp>
      <p:sp>
        <p:nvSpPr>
          <p:cNvPr id="7" name="Text Placeholder 11">
            <a:extLst>
              <a:ext uri="{FF2B5EF4-FFF2-40B4-BE49-F238E27FC236}">
                <a16:creationId xmlns:a16="http://schemas.microsoft.com/office/drawing/2014/main" id="{47DFD862-B4FA-F545-92B6-95891F518B48}"/>
              </a:ext>
            </a:extLst>
          </p:cNvPr>
          <p:cNvSpPr>
            <a:spLocks noGrp="1"/>
          </p:cNvSpPr>
          <p:nvPr>
            <p:ph type="body" sz="quarter" idx="14" hasCustomPrompt="1"/>
          </p:nvPr>
        </p:nvSpPr>
        <p:spPr>
          <a:xfrm>
            <a:off x="1866253" y="9516998"/>
            <a:ext cx="5835025" cy="2146681"/>
          </a:xfrm>
          <a:prstGeom prst="rect">
            <a:avLst/>
          </a:prstGeom>
        </p:spPr>
        <p:txBody>
          <a:bodyPr>
            <a:normAutofit/>
          </a:bodyPr>
          <a:lstStyle>
            <a:lvl1pPr>
              <a:defRPr sz="2800" b="0"/>
            </a:lvl1pPr>
            <a:lvl2pPr>
              <a:defRPr sz="2800" b="1"/>
            </a:lvl2pPr>
            <a:lvl3pPr>
              <a:defRPr sz="2400" b="1"/>
            </a:lvl3pPr>
            <a:lvl4pPr>
              <a:defRPr sz="2000" b="1"/>
            </a:lvl4pPr>
            <a:lvl5pPr>
              <a:defRPr sz="2000" b="1"/>
            </a:lvl5pPr>
          </a:lstStyle>
          <a:p>
            <a:pPr lvl="0"/>
            <a:r>
              <a:rPr lang="en-US"/>
              <a:t>Description</a:t>
            </a:r>
          </a:p>
        </p:txBody>
      </p:sp>
      <p:sp>
        <p:nvSpPr>
          <p:cNvPr id="8" name="Title Placeholder 2">
            <a:extLst>
              <a:ext uri="{FF2B5EF4-FFF2-40B4-BE49-F238E27FC236}">
                <a16:creationId xmlns:a16="http://schemas.microsoft.com/office/drawing/2014/main" id="{05D390B9-64A0-E341-8D26-4F069CFC25D3}"/>
              </a:ext>
            </a:extLst>
          </p:cNvPr>
          <p:cNvSpPr>
            <a:spLocks noGrp="1"/>
          </p:cNvSpPr>
          <p:nvPr>
            <p:ph type="title"/>
          </p:nvPr>
        </p:nvSpPr>
        <p:spPr>
          <a:xfrm>
            <a:off x="1784973" y="1362270"/>
            <a:ext cx="18697587" cy="2005139"/>
          </a:xfrm>
          <a:prstGeom prst="rect">
            <a:avLst/>
          </a:prstGeom>
        </p:spPr>
        <p:txBody>
          <a:bodyPr vert="horz" lIns="91440" tIns="45720" rIns="91440" bIns="45720" rtlCol="0" anchor="t">
            <a:normAutofit/>
          </a:bodyPr>
          <a:lstStyle/>
          <a:p>
            <a:r>
              <a:rPr lang="en-US"/>
              <a:t>Click to edit Master title style</a:t>
            </a:r>
          </a:p>
        </p:txBody>
      </p:sp>
      <p:sp>
        <p:nvSpPr>
          <p:cNvPr id="10" name="Picture Placeholder 4">
            <a:extLst>
              <a:ext uri="{FF2B5EF4-FFF2-40B4-BE49-F238E27FC236}">
                <a16:creationId xmlns:a16="http://schemas.microsoft.com/office/drawing/2014/main" id="{AF37A259-10CD-CD44-A50F-60C9CBB9DAF2}"/>
              </a:ext>
            </a:extLst>
          </p:cNvPr>
          <p:cNvSpPr>
            <a:spLocks noGrp="1"/>
          </p:cNvSpPr>
          <p:nvPr>
            <p:ph type="pic" sz="quarter" idx="15" hasCustomPrompt="1"/>
          </p:nvPr>
        </p:nvSpPr>
        <p:spPr>
          <a:xfrm>
            <a:off x="9036425" y="3759666"/>
            <a:ext cx="4456910" cy="4375040"/>
          </a:xfrm>
          <a:prstGeom prst="ellipse">
            <a:avLst/>
          </a:prstGeom>
          <a:solidFill>
            <a:schemeClr val="bg1">
              <a:lumMod val="95000"/>
            </a:schemeClr>
          </a:solidFill>
        </p:spPr>
        <p:txBody>
          <a:bodyPr anchor="ctr">
            <a:normAutofit/>
          </a:bodyPr>
          <a:lstStyle>
            <a:lvl1pPr algn="ctr">
              <a:defRPr sz="2000">
                <a:solidFill>
                  <a:srgbClr val="FF0000"/>
                </a:solidFill>
              </a:defRPr>
            </a:lvl1pPr>
          </a:lstStyle>
          <a:p>
            <a:r>
              <a:rPr lang="en-US"/>
              <a:t>Place image: 1) drag and drop image</a:t>
            </a:r>
          </a:p>
        </p:txBody>
      </p:sp>
      <p:sp>
        <p:nvSpPr>
          <p:cNvPr id="11" name="Text Placeholder 11">
            <a:extLst>
              <a:ext uri="{FF2B5EF4-FFF2-40B4-BE49-F238E27FC236}">
                <a16:creationId xmlns:a16="http://schemas.microsoft.com/office/drawing/2014/main" id="{E85C0DEE-B616-8B49-8175-D573519BEDF2}"/>
              </a:ext>
            </a:extLst>
          </p:cNvPr>
          <p:cNvSpPr>
            <a:spLocks noGrp="1"/>
          </p:cNvSpPr>
          <p:nvPr>
            <p:ph type="body" sz="quarter" idx="16" hasCustomPrompt="1"/>
          </p:nvPr>
        </p:nvSpPr>
        <p:spPr>
          <a:xfrm>
            <a:off x="8428648" y="8526963"/>
            <a:ext cx="5835025" cy="705489"/>
          </a:xfrm>
          <a:prstGeom prst="rect">
            <a:avLst/>
          </a:prstGeom>
        </p:spPr>
        <p:txBody>
          <a:bodyPr>
            <a:normAutofit/>
          </a:bodyPr>
          <a:lstStyle>
            <a:lvl1pPr marL="0" marR="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3200" b="1"/>
            </a:lvl1pPr>
            <a:lvl2pPr>
              <a:defRPr sz="2800" b="1"/>
            </a:lvl2pPr>
            <a:lvl3pPr>
              <a:defRPr sz="2400" b="1"/>
            </a:lvl3pPr>
            <a:lvl4pPr>
              <a:defRPr sz="2000" b="1"/>
            </a:lvl4pPr>
            <a:lvl5pPr>
              <a:defRPr sz="2000" b="1"/>
            </a:lvl5pPr>
          </a:lstStyle>
          <a:p>
            <a:pPr lvl="0"/>
            <a:r>
              <a:rPr lang="en-US"/>
              <a:t>Object two title</a:t>
            </a:r>
          </a:p>
        </p:txBody>
      </p:sp>
      <p:sp>
        <p:nvSpPr>
          <p:cNvPr id="12" name="Text Placeholder 11">
            <a:extLst>
              <a:ext uri="{FF2B5EF4-FFF2-40B4-BE49-F238E27FC236}">
                <a16:creationId xmlns:a16="http://schemas.microsoft.com/office/drawing/2014/main" id="{8BFBDF3A-37DA-C24D-9E02-E5C1C131FDCF}"/>
              </a:ext>
            </a:extLst>
          </p:cNvPr>
          <p:cNvSpPr>
            <a:spLocks noGrp="1"/>
          </p:cNvSpPr>
          <p:nvPr>
            <p:ph type="body" sz="quarter" idx="17" hasCustomPrompt="1"/>
          </p:nvPr>
        </p:nvSpPr>
        <p:spPr>
          <a:xfrm>
            <a:off x="8428647" y="9516998"/>
            <a:ext cx="5835025" cy="2146681"/>
          </a:xfrm>
          <a:prstGeom prst="rect">
            <a:avLst/>
          </a:prstGeom>
        </p:spPr>
        <p:txBody>
          <a:bodyPr>
            <a:normAutofit/>
          </a:bodyPr>
          <a:lstStyle>
            <a:lvl1pPr>
              <a:defRPr sz="2800" b="0"/>
            </a:lvl1pPr>
            <a:lvl2pPr>
              <a:defRPr sz="2800" b="1"/>
            </a:lvl2pPr>
            <a:lvl3pPr>
              <a:defRPr sz="2400" b="1"/>
            </a:lvl3pPr>
            <a:lvl4pPr>
              <a:defRPr sz="2000" b="1"/>
            </a:lvl4pPr>
            <a:lvl5pPr>
              <a:defRPr sz="2000" b="1"/>
            </a:lvl5pPr>
          </a:lstStyle>
          <a:p>
            <a:pPr lvl="0"/>
            <a:r>
              <a:rPr lang="en-US"/>
              <a:t>Description</a:t>
            </a:r>
          </a:p>
        </p:txBody>
      </p:sp>
      <p:sp>
        <p:nvSpPr>
          <p:cNvPr id="14" name="Picture Placeholder 4">
            <a:extLst>
              <a:ext uri="{FF2B5EF4-FFF2-40B4-BE49-F238E27FC236}">
                <a16:creationId xmlns:a16="http://schemas.microsoft.com/office/drawing/2014/main" id="{2992DD4D-9196-1949-BF61-53FCF933474E}"/>
              </a:ext>
            </a:extLst>
          </p:cNvPr>
          <p:cNvSpPr>
            <a:spLocks noGrp="1"/>
          </p:cNvSpPr>
          <p:nvPr>
            <p:ph type="pic" sz="quarter" idx="18" hasCustomPrompt="1"/>
          </p:nvPr>
        </p:nvSpPr>
        <p:spPr>
          <a:xfrm>
            <a:off x="15563190" y="3759666"/>
            <a:ext cx="4528168" cy="4375040"/>
          </a:xfrm>
          <a:prstGeom prst="ellipse">
            <a:avLst/>
          </a:prstGeom>
          <a:solidFill>
            <a:schemeClr val="bg1">
              <a:lumMod val="95000"/>
            </a:schemeClr>
          </a:solidFill>
        </p:spPr>
        <p:txBody>
          <a:bodyPr anchor="ctr">
            <a:normAutofit/>
          </a:bodyPr>
          <a:lstStyle>
            <a:lvl1pPr algn="ctr">
              <a:defRPr sz="2000">
                <a:solidFill>
                  <a:srgbClr val="FF0000"/>
                </a:solidFill>
              </a:defRPr>
            </a:lvl1pPr>
          </a:lstStyle>
          <a:p>
            <a:r>
              <a:rPr lang="en-US"/>
              <a:t>Place image: 1) drag and drop image</a:t>
            </a:r>
          </a:p>
        </p:txBody>
      </p:sp>
      <p:sp>
        <p:nvSpPr>
          <p:cNvPr id="15" name="Text Placeholder 11">
            <a:extLst>
              <a:ext uri="{FF2B5EF4-FFF2-40B4-BE49-F238E27FC236}">
                <a16:creationId xmlns:a16="http://schemas.microsoft.com/office/drawing/2014/main" id="{33F772EE-7151-1B4C-A5B4-A0B66CA0318B}"/>
              </a:ext>
            </a:extLst>
          </p:cNvPr>
          <p:cNvSpPr>
            <a:spLocks noGrp="1"/>
          </p:cNvSpPr>
          <p:nvPr>
            <p:ph type="body" sz="quarter" idx="19" hasCustomPrompt="1"/>
          </p:nvPr>
        </p:nvSpPr>
        <p:spPr>
          <a:xfrm>
            <a:off x="14991042" y="8526963"/>
            <a:ext cx="5835025" cy="705489"/>
          </a:xfrm>
          <a:prstGeom prst="rect">
            <a:avLst/>
          </a:prstGeom>
        </p:spPr>
        <p:txBody>
          <a:bodyPr>
            <a:normAutofit/>
          </a:bodyPr>
          <a:lstStyle>
            <a:lvl1pPr>
              <a:defRPr sz="3200" b="1"/>
            </a:lvl1pPr>
            <a:lvl2pPr>
              <a:defRPr sz="2800" b="1"/>
            </a:lvl2pPr>
            <a:lvl3pPr>
              <a:defRPr sz="2400" b="1"/>
            </a:lvl3pPr>
            <a:lvl4pPr>
              <a:defRPr sz="2000" b="1"/>
            </a:lvl4pPr>
            <a:lvl5pPr>
              <a:defRPr sz="2000" b="1"/>
            </a:lvl5pPr>
          </a:lstStyle>
          <a:p>
            <a:pPr lvl="0"/>
            <a:r>
              <a:rPr lang="en-US"/>
              <a:t>Object three title</a:t>
            </a:r>
          </a:p>
        </p:txBody>
      </p:sp>
      <p:sp>
        <p:nvSpPr>
          <p:cNvPr id="16" name="Text Placeholder 11">
            <a:extLst>
              <a:ext uri="{FF2B5EF4-FFF2-40B4-BE49-F238E27FC236}">
                <a16:creationId xmlns:a16="http://schemas.microsoft.com/office/drawing/2014/main" id="{F02EE9A1-F7DD-0943-9471-1AA50FECD53D}"/>
              </a:ext>
            </a:extLst>
          </p:cNvPr>
          <p:cNvSpPr>
            <a:spLocks noGrp="1"/>
          </p:cNvSpPr>
          <p:nvPr>
            <p:ph type="body" sz="quarter" idx="20" hasCustomPrompt="1"/>
          </p:nvPr>
        </p:nvSpPr>
        <p:spPr>
          <a:xfrm>
            <a:off x="14991041" y="9516998"/>
            <a:ext cx="5835025" cy="2146681"/>
          </a:xfrm>
          <a:prstGeom prst="rect">
            <a:avLst/>
          </a:prstGeom>
        </p:spPr>
        <p:txBody>
          <a:bodyPr>
            <a:normAutofit/>
          </a:bodyPr>
          <a:lstStyle>
            <a:lvl1pPr>
              <a:defRPr sz="2800" b="0"/>
            </a:lvl1pPr>
            <a:lvl2pPr>
              <a:defRPr sz="2800" b="1"/>
            </a:lvl2pPr>
            <a:lvl3pPr>
              <a:defRPr sz="2400" b="1"/>
            </a:lvl3pPr>
            <a:lvl4pPr>
              <a:defRPr sz="2000" b="1"/>
            </a:lvl4pPr>
            <a:lvl5pPr>
              <a:defRPr sz="2000" b="1"/>
            </a:lvl5pPr>
          </a:lstStyle>
          <a:p>
            <a:pPr lvl="0"/>
            <a:r>
              <a:rPr lang="en-US"/>
              <a:t>Description</a:t>
            </a:r>
          </a:p>
        </p:txBody>
      </p:sp>
    </p:spTree>
    <p:extLst>
      <p:ext uri="{BB962C8B-B14F-4D97-AF65-F5344CB8AC3E}">
        <p14:creationId xmlns:p14="http://schemas.microsoft.com/office/powerpoint/2010/main" val="1501122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size-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CE43BB-B21C-A34D-85A1-D72A9E465D0B}"/>
              </a:ext>
            </a:extLst>
          </p:cNvPr>
          <p:cNvSpPr>
            <a:spLocks noGrp="1"/>
          </p:cNvSpPr>
          <p:nvPr>
            <p:ph type="pic" sz="quarter" idx="10" hasCustomPrompt="1"/>
          </p:nvPr>
        </p:nvSpPr>
        <p:spPr>
          <a:xfrm>
            <a:off x="0" y="0"/>
            <a:ext cx="2437765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4" name="Text Placeholder 3">
            <a:extLst>
              <a:ext uri="{FF2B5EF4-FFF2-40B4-BE49-F238E27FC236}">
                <a16:creationId xmlns:a16="http://schemas.microsoft.com/office/drawing/2014/main" id="{B61A9327-9EAD-5040-8171-00789D48DDB4}"/>
              </a:ext>
            </a:extLst>
          </p:cNvPr>
          <p:cNvSpPr>
            <a:spLocks noGrp="1"/>
          </p:cNvSpPr>
          <p:nvPr>
            <p:ph type="body" sz="quarter" idx="12" hasCustomPrompt="1"/>
          </p:nvPr>
        </p:nvSpPr>
        <p:spPr>
          <a:xfrm>
            <a:off x="403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8617607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size-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CE43BB-B21C-A34D-85A1-D72A9E465D0B}"/>
              </a:ext>
            </a:extLst>
          </p:cNvPr>
          <p:cNvSpPr>
            <a:spLocks noGrp="1"/>
          </p:cNvSpPr>
          <p:nvPr>
            <p:ph type="pic" sz="quarter" idx="10" hasCustomPrompt="1"/>
          </p:nvPr>
        </p:nvSpPr>
        <p:spPr>
          <a:xfrm>
            <a:off x="0" y="0"/>
            <a:ext cx="1219200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4" name="Text Placeholder 3">
            <a:extLst>
              <a:ext uri="{FF2B5EF4-FFF2-40B4-BE49-F238E27FC236}">
                <a16:creationId xmlns:a16="http://schemas.microsoft.com/office/drawing/2014/main" id="{B61A9327-9EAD-5040-8171-00789D48DDB4}"/>
              </a:ext>
            </a:extLst>
          </p:cNvPr>
          <p:cNvSpPr>
            <a:spLocks noGrp="1"/>
          </p:cNvSpPr>
          <p:nvPr>
            <p:ph type="body" sz="quarter" idx="12" hasCustomPrompt="1"/>
          </p:nvPr>
        </p:nvSpPr>
        <p:spPr>
          <a:xfrm>
            <a:off x="403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5" name="Picture Placeholder 2">
            <a:extLst>
              <a:ext uri="{FF2B5EF4-FFF2-40B4-BE49-F238E27FC236}">
                <a16:creationId xmlns:a16="http://schemas.microsoft.com/office/drawing/2014/main" id="{81791B52-D5CB-ED43-AEAF-1B48028AFC00}"/>
              </a:ext>
            </a:extLst>
          </p:cNvPr>
          <p:cNvSpPr>
            <a:spLocks noGrp="1"/>
          </p:cNvSpPr>
          <p:nvPr>
            <p:ph type="pic" sz="quarter" idx="13" hasCustomPrompt="1"/>
          </p:nvPr>
        </p:nvSpPr>
        <p:spPr>
          <a:xfrm>
            <a:off x="12192000" y="0"/>
            <a:ext cx="1218565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6" name="Text Placeholder 3">
            <a:extLst>
              <a:ext uri="{FF2B5EF4-FFF2-40B4-BE49-F238E27FC236}">
                <a16:creationId xmlns:a16="http://schemas.microsoft.com/office/drawing/2014/main" id="{DFF1E221-6DD3-9D49-ACF5-F9B8DC1E5EA8}"/>
              </a:ext>
            </a:extLst>
          </p:cNvPr>
          <p:cNvSpPr>
            <a:spLocks noGrp="1"/>
          </p:cNvSpPr>
          <p:nvPr>
            <p:ph type="body" sz="quarter" idx="14" hasCustomPrompt="1"/>
          </p:nvPr>
        </p:nvSpPr>
        <p:spPr>
          <a:xfrm>
            <a:off x="12595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24826955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ull-size-3">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600ECA8F-DE02-6343-96E2-E40D43FD43D7}"/>
              </a:ext>
            </a:extLst>
          </p:cNvPr>
          <p:cNvSpPr>
            <a:spLocks noGrp="1"/>
          </p:cNvSpPr>
          <p:nvPr>
            <p:ph type="pic" sz="quarter" idx="10" hasCustomPrompt="1"/>
          </p:nvPr>
        </p:nvSpPr>
        <p:spPr>
          <a:xfrm>
            <a:off x="0" y="0"/>
            <a:ext cx="8129016"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8" name="Text Placeholder 3">
            <a:extLst>
              <a:ext uri="{FF2B5EF4-FFF2-40B4-BE49-F238E27FC236}">
                <a16:creationId xmlns:a16="http://schemas.microsoft.com/office/drawing/2014/main" id="{1F45E21F-215C-6A4B-B603-E6E29FB29562}"/>
              </a:ext>
            </a:extLst>
          </p:cNvPr>
          <p:cNvSpPr>
            <a:spLocks noGrp="1"/>
          </p:cNvSpPr>
          <p:nvPr>
            <p:ph type="body" sz="quarter" idx="12" hasCustomPrompt="1"/>
          </p:nvPr>
        </p:nvSpPr>
        <p:spPr>
          <a:xfrm>
            <a:off x="403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9" name="Picture Placeholder 2">
            <a:extLst>
              <a:ext uri="{FF2B5EF4-FFF2-40B4-BE49-F238E27FC236}">
                <a16:creationId xmlns:a16="http://schemas.microsoft.com/office/drawing/2014/main" id="{E8029C57-F128-5543-9BD3-AE831586FC7A}"/>
              </a:ext>
            </a:extLst>
          </p:cNvPr>
          <p:cNvSpPr>
            <a:spLocks noGrp="1"/>
          </p:cNvSpPr>
          <p:nvPr>
            <p:ph type="pic" sz="quarter" idx="13" hasCustomPrompt="1"/>
          </p:nvPr>
        </p:nvSpPr>
        <p:spPr>
          <a:xfrm>
            <a:off x="8129016" y="0"/>
            <a:ext cx="8129016"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10" name="Text Placeholder 3">
            <a:extLst>
              <a:ext uri="{FF2B5EF4-FFF2-40B4-BE49-F238E27FC236}">
                <a16:creationId xmlns:a16="http://schemas.microsoft.com/office/drawing/2014/main" id="{335D84D6-973F-7744-9BBF-A00686A90B15}"/>
              </a:ext>
            </a:extLst>
          </p:cNvPr>
          <p:cNvSpPr>
            <a:spLocks noGrp="1"/>
          </p:cNvSpPr>
          <p:nvPr>
            <p:ph type="body" sz="quarter" idx="14" hasCustomPrompt="1"/>
          </p:nvPr>
        </p:nvSpPr>
        <p:spPr>
          <a:xfrm>
            <a:off x="8532518"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1" name="Picture Placeholder 2">
            <a:extLst>
              <a:ext uri="{FF2B5EF4-FFF2-40B4-BE49-F238E27FC236}">
                <a16:creationId xmlns:a16="http://schemas.microsoft.com/office/drawing/2014/main" id="{B3657136-AD5B-274A-A4FA-3B6AB9D7F819}"/>
              </a:ext>
            </a:extLst>
          </p:cNvPr>
          <p:cNvSpPr>
            <a:spLocks noGrp="1"/>
          </p:cNvSpPr>
          <p:nvPr>
            <p:ph type="pic" sz="quarter" idx="15" hasCustomPrompt="1"/>
          </p:nvPr>
        </p:nvSpPr>
        <p:spPr>
          <a:xfrm>
            <a:off x="16258032" y="0"/>
            <a:ext cx="8129016"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12" name="Text Placeholder 3">
            <a:extLst>
              <a:ext uri="{FF2B5EF4-FFF2-40B4-BE49-F238E27FC236}">
                <a16:creationId xmlns:a16="http://schemas.microsoft.com/office/drawing/2014/main" id="{7A8F89CB-F4C3-7E46-8877-61E49ADD38A3}"/>
              </a:ext>
            </a:extLst>
          </p:cNvPr>
          <p:cNvSpPr>
            <a:spLocks noGrp="1"/>
          </p:cNvSpPr>
          <p:nvPr>
            <p:ph type="body" sz="quarter" idx="16" hasCustomPrompt="1"/>
          </p:nvPr>
        </p:nvSpPr>
        <p:spPr>
          <a:xfrm>
            <a:off x="16661534"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2148434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size-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CE43BB-B21C-A34D-85A1-D72A9E465D0B}"/>
              </a:ext>
            </a:extLst>
          </p:cNvPr>
          <p:cNvSpPr>
            <a:spLocks noGrp="1"/>
          </p:cNvSpPr>
          <p:nvPr>
            <p:ph type="pic" sz="quarter" idx="10" hasCustomPrompt="1"/>
          </p:nvPr>
        </p:nvSpPr>
        <p:spPr>
          <a:xfrm>
            <a:off x="0" y="6847840"/>
            <a:ext cx="12192000" cy="686816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4" name="Text Placeholder 3">
            <a:extLst>
              <a:ext uri="{FF2B5EF4-FFF2-40B4-BE49-F238E27FC236}">
                <a16:creationId xmlns:a16="http://schemas.microsoft.com/office/drawing/2014/main" id="{B61A9327-9EAD-5040-8171-00789D48DDB4}"/>
              </a:ext>
            </a:extLst>
          </p:cNvPr>
          <p:cNvSpPr>
            <a:spLocks noGrp="1"/>
          </p:cNvSpPr>
          <p:nvPr>
            <p:ph type="body" sz="quarter" idx="12" hasCustomPrompt="1"/>
          </p:nvPr>
        </p:nvSpPr>
        <p:spPr>
          <a:xfrm>
            <a:off x="403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5" name="Picture Placeholder 2">
            <a:extLst>
              <a:ext uri="{FF2B5EF4-FFF2-40B4-BE49-F238E27FC236}">
                <a16:creationId xmlns:a16="http://schemas.microsoft.com/office/drawing/2014/main" id="{81791B52-D5CB-ED43-AEAF-1B48028AFC00}"/>
              </a:ext>
            </a:extLst>
          </p:cNvPr>
          <p:cNvSpPr>
            <a:spLocks noGrp="1"/>
          </p:cNvSpPr>
          <p:nvPr>
            <p:ph type="pic" sz="quarter" idx="13" hasCustomPrompt="1"/>
          </p:nvPr>
        </p:nvSpPr>
        <p:spPr>
          <a:xfrm>
            <a:off x="12192000" y="6847840"/>
            <a:ext cx="12185650" cy="686816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6" name="Text Placeholder 3">
            <a:extLst>
              <a:ext uri="{FF2B5EF4-FFF2-40B4-BE49-F238E27FC236}">
                <a16:creationId xmlns:a16="http://schemas.microsoft.com/office/drawing/2014/main" id="{DFF1E221-6DD3-9D49-ACF5-F9B8DC1E5EA8}"/>
              </a:ext>
            </a:extLst>
          </p:cNvPr>
          <p:cNvSpPr>
            <a:spLocks noGrp="1"/>
          </p:cNvSpPr>
          <p:nvPr>
            <p:ph type="body" sz="quarter" idx="14" hasCustomPrompt="1"/>
          </p:nvPr>
        </p:nvSpPr>
        <p:spPr>
          <a:xfrm>
            <a:off x="12595502" y="1289270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7" name="Picture Placeholder 2">
            <a:extLst>
              <a:ext uri="{FF2B5EF4-FFF2-40B4-BE49-F238E27FC236}">
                <a16:creationId xmlns:a16="http://schemas.microsoft.com/office/drawing/2014/main" id="{4FABC5BE-13D0-4E4D-8583-ABBED61784B0}"/>
              </a:ext>
            </a:extLst>
          </p:cNvPr>
          <p:cNvSpPr>
            <a:spLocks noGrp="1"/>
          </p:cNvSpPr>
          <p:nvPr>
            <p:ph type="pic" sz="quarter" idx="15" hasCustomPrompt="1"/>
          </p:nvPr>
        </p:nvSpPr>
        <p:spPr>
          <a:xfrm>
            <a:off x="0" y="0"/>
            <a:ext cx="12192000" cy="686816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8" name="Text Placeholder 3">
            <a:extLst>
              <a:ext uri="{FF2B5EF4-FFF2-40B4-BE49-F238E27FC236}">
                <a16:creationId xmlns:a16="http://schemas.microsoft.com/office/drawing/2014/main" id="{9B9ED6A7-0AE3-9B42-8864-195810257D9C}"/>
              </a:ext>
            </a:extLst>
          </p:cNvPr>
          <p:cNvSpPr>
            <a:spLocks noGrp="1"/>
          </p:cNvSpPr>
          <p:nvPr>
            <p:ph type="body" sz="quarter" idx="16" hasCustomPrompt="1"/>
          </p:nvPr>
        </p:nvSpPr>
        <p:spPr>
          <a:xfrm>
            <a:off x="403502" y="604486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9" name="Picture Placeholder 2">
            <a:extLst>
              <a:ext uri="{FF2B5EF4-FFF2-40B4-BE49-F238E27FC236}">
                <a16:creationId xmlns:a16="http://schemas.microsoft.com/office/drawing/2014/main" id="{84A76FA1-2BDB-5F4E-B8C2-8C6F7F3990C7}"/>
              </a:ext>
            </a:extLst>
          </p:cNvPr>
          <p:cNvSpPr>
            <a:spLocks noGrp="1"/>
          </p:cNvSpPr>
          <p:nvPr>
            <p:ph type="pic" sz="quarter" idx="17" hasCustomPrompt="1"/>
          </p:nvPr>
        </p:nvSpPr>
        <p:spPr>
          <a:xfrm>
            <a:off x="12192000" y="0"/>
            <a:ext cx="12185650" cy="686816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10" name="Text Placeholder 3">
            <a:extLst>
              <a:ext uri="{FF2B5EF4-FFF2-40B4-BE49-F238E27FC236}">
                <a16:creationId xmlns:a16="http://schemas.microsoft.com/office/drawing/2014/main" id="{1CCD6054-458A-574A-8194-BF973E8BF446}"/>
              </a:ext>
            </a:extLst>
          </p:cNvPr>
          <p:cNvSpPr>
            <a:spLocks noGrp="1"/>
          </p:cNvSpPr>
          <p:nvPr>
            <p:ph type="body" sz="quarter" idx="18" hasCustomPrompt="1"/>
          </p:nvPr>
        </p:nvSpPr>
        <p:spPr>
          <a:xfrm>
            <a:off x="12595502" y="6044861"/>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546573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set-full-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10C994-46FC-484D-BDBB-4434D9AA08F8}"/>
              </a:ext>
            </a:extLst>
          </p:cNvPr>
          <p:cNvSpPr/>
          <p:nvPr userDrawn="1"/>
        </p:nvSpPr>
        <p:spPr>
          <a:xfrm>
            <a:off x="22920960" y="101600"/>
            <a:ext cx="1375410" cy="1331578"/>
          </a:xfrm>
          <a:prstGeom prst="rect">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Picture Placeholder 4">
            <a:extLst>
              <a:ext uri="{FF2B5EF4-FFF2-40B4-BE49-F238E27FC236}">
                <a16:creationId xmlns:a16="http://schemas.microsoft.com/office/drawing/2014/main" id="{3BD7DB57-5C71-194B-A7E6-0A28DC02578E}"/>
              </a:ext>
            </a:extLst>
          </p:cNvPr>
          <p:cNvSpPr>
            <a:spLocks noGrp="1"/>
          </p:cNvSpPr>
          <p:nvPr>
            <p:ph type="pic" sz="quarter" idx="10" hasCustomPrompt="1"/>
          </p:nvPr>
        </p:nvSpPr>
        <p:spPr>
          <a:xfrm>
            <a:off x="727368" y="727369"/>
            <a:ext cx="22922914"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5" name="Text Placeholder 3">
            <a:extLst>
              <a:ext uri="{FF2B5EF4-FFF2-40B4-BE49-F238E27FC236}">
                <a16:creationId xmlns:a16="http://schemas.microsoft.com/office/drawing/2014/main" id="{8DC3113E-B41D-2241-97AC-DAAF06B768D6}"/>
              </a:ext>
            </a:extLst>
          </p:cNvPr>
          <p:cNvSpPr>
            <a:spLocks noGrp="1"/>
          </p:cNvSpPr>
          <p:nvPr>
            <p:ph type="body" sz="quarter" idx="12" hasCustomPrompt="1"/>
          </p:nvPr>
        </p:nvSpPr>
        <p:spPr>
          <a:xfrm>
            <a:off x="727368"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20917929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set-2-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10C994-46FC-484D-BDBB-4434D9AA08F8}"/>
              </a:ext>
            </a:extLst>
          </p:cNvPr>
          <p:cNvSpPr/>
          <p:nvPr userDrawn="1"/>
        </p:nvSpPr>
        <p:spPr>
          <a:xfrm>
            <a:off x="22920960" y="101600"/>
            <a:ext cx="1375410" cy="1331578"/>
          </a:xfrm>
          <a:prstGeom prst="rect">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Picture Placeholder 4">
            <a:extLst>
              <a:ext uri="{FF2B5EF4-FFF2-40B4-BE49-F238E27FC236}">
                <a16:creationId xmlns:a16="http://schemas.microsoft.com/office/drawing/2014/main" id="{3BD7DB57-5C71-194B-A7E6-0A28DC02578E}"/>
              </a:ext>
            </a:extLst>
          </p:cNvPr>
          <p:cNvSpPr>
            <a:spLocks noGrp="1"/>
          </p:cNvSpPr>
          <p:nvPr>
            <p:ph type="pic" sz="quarter" idx="10" hasCustomPrompt="1"/>
          </p:nvPr>
        </p:nvSpPr>
        <p:spPr>
          <a:xfrm>
            <a:off x="727368" y="727369"/>
            <a:ext cx="11097773"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5" name="Text Placeholder 3">
            <a:extLst>
              <a:ext uri="{FF2B5EF4-FFF2-40B4-BE49-F238E27FC236}">
                <a16:creationId xmlns:a16="http://schemas.microsoft.com/office/drawing/2014/main" id="{8DC3113E-B41D-2241-97AC-DAAF06B768D6}"/>
              </a:ext>
            </a:extLst>
          </p:cNvPr>
          <p:cNvSpPr>
            <a:spLocks noGrp="1"/>
          </p:cNvSpPr>
          <p:nvPr>
            <p:ph type="body" sz="quarter" idx="12" hasCustomPrompt="1"/>
          </p:nvPr>
        </p:nvSpPr>
        <p:spPr>
          <a:xfrm>
            <a:off x="727368"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7" name="Picture Placeholder 4">
            <a:extLst>
              <a:ext uri="{FF2B5EF4-FFF2-40B4-BE49-F238E27FC236}">
                <a16:creationId xmlns:a16="http://schemas.microsoft.com/office/drawing/2014/main" id="{7929B8B1-70FF-4C4E-8A10-6AEAEAF26D38}"/>
              </a:ext>
            </a:extLst>
          </p:cNvPr>
          <p:cNvSpPr>
            <a:spLocks noGrp="1"/>
          </p:cNvSpPr>
          <p:nvPr>
            <p:ph type="pic" sz="quarter" idx="13" hasCustomPrompt="1"/>
          </p:nvPr>
        </p:nvSpPr>
        <p:spPr>
          <a:xfrm>
            <a:off x="12552509" y="727369"/>
            <a:ext cx="11097773"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8" name="Text Placeholder 3">
            <a:extLst>
              <a:ext uri="{FF2B5EF4-FFF2-40B4-BE49-F238E27FC236}">
                <a16:creationId xmlns:a16="http://schemas.microsoft.com/office/drawing/2014/main" id="{0FF92761-B3F6-5247-AEB2-815C9700DC3A}"/>
              </a:ext>
            </a:extLst>
          </p:cNvPr>
          <p:cNvSpPr>
            <a:spLocks noGrp="1"/>
          </p:cNvSpPr>
          <p:nvPr>
            <p:ph type="body" sz="quarter" idx="14" hasCustomPrompt="1"/>
          </p:nvPr>
        </p:nvSpPr>
        <p:spPr>
          <a:xfrm>
            <a:off x="12552509"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17839092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set-3-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10C994-46FC-484D-BDBB-4434D9AA08F8}"/>
              </a:ext>
            </a:extLst>
          </p:cNvPr>
          <p:cNvSpPr/>
          <p:nvPr userDrawn="1"/>
        </p:nvSpPr>
        <p:spPr>
          <a:xfrm>
            <a:off x="22920960" y="101600"/>
            <a:ext cx="1375410" cy="1331578"/>
          </a:xfrm>
          <a:prstGeom prst="rect">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Picture Placeholder 4">
            <a:extLst>
              <a:ext uri="{FF2B5EF4-FFF2-40B4-BE49-F238E27FC236}">
                <a16:creationId xmlns:a16="http://schemas.microsoft.com/office/drawing/2014/main" id="{3BD7DB57-5C71-194B-A7E6-0A28DC02578E}"/>
              </a:ext>
            </a:extLst>
          </p:cNvPr>
          <p:cNvSpPr>
            <a:spLocks noGrp="1"/>
          </p:cNvSpPr>
          <p:nvPr>
            <p:ph type="pic" sz="quarter" idx="10" hasCustomPrompt="1"/>
          </p:nvPr>
        </p:nvSpPr>
        <p:spPr>
          <a:xfrm>
            <a:off x="727368" y="727369"/>
            <a:ext cx="7156059"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5" name="Text Placeholder 3">
            <a:extLst>
              <a:ext uri="{FF2B5EF4-FFF2-40B4-BE49-F238E27FC236}">
                <a16:creationId xmlns:a16="http://schemas.microsoft.com/office/drawing/2014/main" id="{8DC3113E-B41D-2241-97AC-DAAF06B768D6}"/>
              </a:ext>
            </a:extLst>
          </p:cNvPr>
          <p:cNvSpPr>
            <a:spLocks noGrp="1"/>
          </p:cNvSpPr>
          <p:nvPr>
            <p:ph type="body" sz="quarter" idx="12" hasCustomPrompt="1"/>
          </p:nvPr>
        </p:nvSpPr>
        <p:spPr>
          <a:xfrm>
            <a:off x="727368"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3" name="Picture Placeholder 4">
            <a:extLst>
              <a:ext uri="{FF2B5EF4-FFF2-40B4-BE49-F238E27FC236}">
                <a16:creationId xmlns:a16="http://schemas.microsoft.com/office/drawing/2014/main" id="{960EF462-11E2-524D-8D64-284818261A37}"/>
              </a:ext>
            </a:extLst>
          </p:cNvPr>
          <p:cNvSpPr>
            <a:spLocks noGrp="1"/>
          </p:cNvSpPr>
          <p:nvPr>
            <p:ph type="pic" sz="quarter" idx="13" hasCustomPrompt="1"/>
          </p:nvPr>
        </p:nvSpPr>
        <p:spPr>
          <a:xfrm>
            <a:off x="8608842" y="727369"/>
            <a:ext cx="7156059"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14" name="Text Placeholder 3">
            <a:extLst>
              <a:ext uri="{FF2B5EF4-FFF2-40B4-BE49-F238E27FC236}">
                <a16:creationId xmlns:a16="http://schemas.microsoft.com/office/drawing/2014/main" id="{4285A49C-89A3-DA4B-BADC-25D516A53E0C}"/>
              </a:ext>
            </a:extLst>
          </p:cNvPr>
          <p:cNvSpPr>
            <a:spLocks noGrp="1"/>
          </p:cNvSpPr>
          <p:nvPr>
            <p:ph type="body" sz="quarter" idx="14" hasCustomPrompt="1"/>
          </p:nvPr>
        </p:nvSpPr>
        <p:spPr>
          <a:xfrm>
            <a:off x="8608842"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5" name="Picture Placeholder 4">
            <a:extLst>
              <a:ext uri="{FF2B5EF4-FFF2-40B4-BE49-F238E27FC236}">
                <a16:creationId xmlns:a16="http://schemas.microsoft.com/office/drawing/2014/main" id="{4C9CB18C-27FB-4D48-B06C-C292BB9D16F5}"/>
              </a:ext>
            </a:extLst>
          </p:cNvPr>
          <p:cNvSpPr>
            <a:spLocks noGrp="1"/>
          </p:cNvSpPr>
          <p:nvPr>
            <p:ph type="pic" sz="quarter" idx="15" hasCustomPrompt="1"/>
          </p:nvPr>
        </p:nvSpPr>
        <p:spPr>
          <a:xfrm>
            <a:off x="16490316" y="727369"/>
            <a:ext cx="7156059" cy="11495734"/>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16" name="Text Placeholder 3">
            <a:extLst>
              <a:ext uri="{FF2B5EF4-FFF2-40B4-BE49-F238E27FC236}">
                <a16:creationId xmlns:a16="http://schemas.microsoft.com/office/drawing/2014/main" id="{6F5080DD-139D-F44B-A121-2B6DB2DD27C0}"/>
              </a:ext>
            </a:extLst>
          </p:cNvPr>
          <p:cNvSpPr>
            <a:spLocks noGrp="1"/>
          </p:cNvSpPr>
          <p:nvPr>
            <p:ph type="body" sz="quarter" idx="16" hasCustomPrompt="1"/>
          </p:nvPr>
        </p:nvSpPr>
        <p:spPr>
          <a:xfrm>
            <a:off x="16490316"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325283409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Inset-2-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10C994-46FC-484D-BDBB-4434D9AA08F8}"/>
              </a:ext>
            </a:extLst>
          </p:cNvPr>
          <p:cNvSpPr/>
          <p:nvPr userDrawn="1"/>
        </p:nvSpPr>
        <p:spPr>
          <a:xfrm>
            <a:off x="22920960" y="101600"/>
            <a:ext cx="1375410" cy="1331578"/>
          </a:xfrm>
          <a:prstGeom prst="rect">
            <a:avLst/>
          </a:prstGeom>
          <a:solidFill>
            <a:srgbClr val="FCFC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 name="Picture Placeholder 4">
            <a:extLst>
              <a:ext uri="{FF2B5EF4-FFF2-40B4-BE49-F238E27FC236}">
                <a16:creationId xmlns:a16="http://schemas.microsoft.com/office/drawing/2014/main" id="{3BD7DB57-5C71-194B-A7E6-0A28DC02578E}"/>
              </a:ext>
            </a:extLst>
          </p:cNvPr>
          <p:cNvSpPr>
            <a:spLocks noGrp="1"/>
          </p:cNvSpPr>
          <p:nvPr>
            <p:ph type="pic" sz="quarter" idx="10" hasCustomPrompt="1"/>
          </p:nvPr>
        </p:nvSpPr>
        <p:spPr>
          <a:xfrm>
            <a:off x="727368" y="6838919"/>
            <a:ext cx="11097773" cy="5384183"/>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5" name="Text Placeholder 3">
            <a:extLst>
              <a:ext uri="{FF2B5EF4-FFF2-40B4-BE49-F238E27FC236}">
                <a16:creationId xmlns:a16="http://schemas.microsoft.com/office/drawing/2014/main" id="{8DC3113E-B41D-2241-97AC-DAAF06B768D6}"/>
              </a:ext>
            </a:extLst>
          </p:cNvPr>
          <p:cNvSpPr>
            <a:spLocks noGrp="1"/>
          </p:cNvSpPr>
          <p:nvPr>
            <p:ph type="body" sz="quarter" idx="12" hasCustomPrompt="1"/>
          </p:nvPr>
        </p:nvSpPr>
        <p:spPr>
          <a:xfrm>
            <a:off x="727368"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0" name="Picture Placeholder 4">
            <a:extLst>
              <a:ext uri="{FF2B5EF4-FFF2-40B4-BE49-F238E27FC236}">
                <a16:creationId xmlns:a16="http://schemas.microsoft.com/office/drawing/2014/main" id="{71601D00-964F-2645-A6B7-604456D3AFBE}"/>
              </a:ext>
            </a:extLst>
          </p:cNvPr>
          <p:cNvSpPr>
            <a:spLocks noGrp="1"/>
          </p:cNvSpPr>
          <p:nvPr>
            <p:ph type="pic" sz="quarter" idx="15" hasCustomPrompt="1"/>
          </p:nvPr>
        </p:nvSpPr>
        <p:spPr>
          <a:xfrm>
            <a:off x="727368" y="727366"/>
            <a:ext cx="11097773" cy="5384183"/>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11" name="Text Placeholder 3">
            <a:extLst>
              <a:ext uri="{FF2B5EF4-FFF2-40B4-BE49-F238E27FC236}">
                <a16:creationId xmlns:a16="http://schemas.microsoft.com/office/drawing/2014/main" id="{0CFF464A-347B-3842-9EDA-70B6D0100296}"/>
              </a:ext>
            </a:extLst>
          </p:cNvPr>
          <p:cNvSpPr>
            <a:spLocks noGrp="1"/>
          </p:cNvSpPr>
          <p:nvPr>
            <p:ph type="body" sz="quarter" idx="16" hasCustomPrompt="1"/>
          </p:nvPr>
        </p:nvSpPr>
        <p:spPr>
          <a:xfrm>
            <a:off x="727368" y="5637702"/>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6" name="Picture Placeholder 4">
            <a:extLst>
              <a:ext uri="{FF2B5EF4-FFF2-40B4-BE49-F238E27FC236}">
                <a16:creationId xmlns:a16="http://schemas.microsoft.com/office/drawing/2014/main" id="{8A46F4F6-C2A6-584E-B1D9-799DB49F9892}"/>
              </a:ext>
            </a:extLst>
          </p:cNvPr>
          <p:cNvSpPr>
            <a:spLocks noGrp="1"/>
          </p:cNvSpPr>
          <p:nvPr>
            <p:ph type="pic" sz="quarter" idx="17" hasCustomPrompt="1"/>
          </p:nvPr>
        </p:nvSpPr>
        <p:spPr>
          <a:xfrm>
            <a:off x="12552509" y="6838919"/>
            <a:ext cx="11097773" cy="5384183"/>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17" name="Text Placeholder 3">
            <a:extLst>
              <a:ext uri="{FF2B5EF4-FFF2-40B4-BE49-F238E27FC236}">
                <a16:creationId xmlns:a16="http://schemas.microsoft.com/office/drawing/2014/main" id="{AE8D8A9F-E54C-1346-8788-2B3670B87945}"/>
              </a:ext>
            </a:extLst>
          </p:cNvPr>
          <p:cNvSpPr>
            <a:spLocks noGrp="1"/>
          </p:cNvSpPr>
          <p:nvPr>
            <p:ph type="body" sz="quarter" idx="18" hasCustomPrompt="1"/>
          </p:nvPr>
        </p:nvSpPr>
        <p:spPr>
          <a:xfrm>
            <a:off x="12552509" y="11749255"/>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
        <p:nvSpPr>
          <p:cNvPr id="18" name="Picture Placeholder 4">
            <a:extLst>
              <a:ext uri="{FF2B5EF4-FFF2-40B4-BE49-F238E27FC236}">
                <a16:creationId xmlns:a16="http://schemas.microsoft.com/office/drawing/2014/main" id="{59D061A1-0488-D246-8BE7-C04384E17A03}"/>
              </a:ext>
            </a:extLst>
          </p:cNvPr>
          <p:cNvSpPr>
            <a:spLocks noGrp="1"/>
          </p:cNvSpPr>
          <p:nvPr>
            <p:ph type="pic" sz="quarter" idx="19" hasCustomPrompt="1"/>
          </p:nvPr>
        </p:nvSpPr>
        <p:spPr>
          <a:xfrm>
            <a:off x="12552509" y="727366"/>
            <a:ext cx="11097773" cy="5384183"/>
          </a:xfrm>
          <a:prstGeom prst="rect">
            <a:avLst/>
          </a:prstGeom>
          <a:solidFill>
            <a:schemeClr val="bg1">
              <a:lumMod val="95000"/>
            </a:schemeClr>
          </a:solidFill>
        </p:spPr>
        <p:txBody>
          <a:bodyPr>
            <a:normAutofit/>
          </a:bodyPr>
          <a:lstStyle>
            <a:lvl1pPr>
              <a:defRPr sz="2000">
                <a:solidFill>
                  <a:srgbClr val="FF0000"/>
                </a:solidFill>
              </a:defRPr>
            </a:lvl1pPr>
          </a:lstStyle>
          <a:p>
            <a:r>
              <a:rPr lang="en-US"/>
              <a:t>Place image: 1) drag and drop image</a:t>
            </a:r>
          </a:p>
        </p:txBody>
      </p:sp>
      <p:sp>
        <p:nvSpPr>
          <p:cNvPr id="19" name="Text Placeholder 3">
            <a:extLst>
              <a:ext uri="{FF2B5EF4-FFF2-40B4-BE49-F238E27FC236}">
                <a16:creationId xmlns:a16="http://schemas.microsoft.com/office/drawing/2014/main" id="{45BC6D79-8CB5-BA49-9C9D-83EC4FADA62C}"/>
              </a:ext>
            </a:extLst>
          </p:cNvPr>
          <p:cNvSpPr>
            <a:spLocks noGrp="1"/>
          </p:cNvSpPr>
          <p:nvPr>
            <p:ph type="body" sz="quarter" idx="20" hasCustomPrompt="1"/>
          </p:nvPr>
        </p:nvSpPr>
        <p:spPr>
          <a:xfrm>
            <a:off x="12552509" y="5637702"/>
            <a:ext cx="4139595"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credit or delete this textbox</a:t>
            </a:r>
          </a:p>
        </p:txBody>
      </p:sp>
    </p:spTree>
    <p:extLst>
      <p:ext uri="{BB962C8B-B14F-4D97-AF65-F5344CB8AC3E}">
        <p14:creationId xmlns:p14="http://schemas.microsoft.com/office/powerpoint/2010/main" val="4043478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ideo_external link">
    <p:spTree>
      <p:nvGrpSpPr>
        <p:cNvPr id="1" name=""/>
        <p:cNvGrpSpPr/>
        <p:nvPr/>
      </p:nvGrpSpPr>
      <p:grpSpPr>
        <a:xfrm>
          <a:off x="0" y="0"/>
          <a:ext cx="0" cy="0"/>
          <a:chOff x="0" y="0"/>
          <a:chExt cx="0" cy="0"/>
        </a:xfrm>
      </p:grpSpPr>
      <p:sp>
        <p:nvSpPr>
          <p:cNvPr id="4" name="Picture Placeholder 4"/>
          <p:cNvSpPr>
            <a:spLocks noGrp="1"/>
          </p:cNvSpPr>
          <p:nvPr>
            <p:ph type="pic" sz="quarter" idx="10" hasCustomPrompt="1"/>
          </p:nvPr>
        </p:nvSpPr>
        <p:spPr>
          <a:xfrm>
            <a:off x="8582302" y="2433419"/>
            <a:ext cx="14500573" cy="8156448"/>
          </a:xfrm>
          <a:prstGeom prst="rect">
            <a:avLst/>
          </a:prstGeom>
          <a:solidFill>
            <a:schemeClr val="bg1">
              <a:lumMod val="95000"/>
            </a:schemeClr>
          </a:solidFill>
          <a:effectLst>
            <a:outerShdw blurRad="482600" dist="177800" dir="3120000" sx="98000" sy="98000" algn="ctr" rotWithShape="0">
              <a:prstClr val="black">
                <a:alpha val="21000"/>
              </a:prstClr>
            </a:outerShdw>
          </a:effectLst>
        </p:spPr>
        <p:txBody>
          <a:bodyPr anchor="t">
            <a:normAutofit/>
          </a:bodyPr>
          <a:lstStyle>
            <a:lvl1pPr marL="0" marR="0" indent="0" algn="r" defTabSz="1828343" rtl="0" eaLnBrk="1" fontAlgn="auto" latinLnBrk="0" hangingPunct="1">
              <a:lnSpc>
                <a:spcPct val="120000"/>
              </a:lnSpc>
              <a:spcBef>
                <a:spcPts val="2000"/>
              </a:spcBef>
              <a:spcAft>
                <a:spcPts val="800"/>
              </a:spcAft>
              <a:buClrTx/>
              <a:buSzTx/>
              <a:buFont typeface="Arial" panose="020B0604020202020204" pitchFamily="34" charset="0"/>
              <a:buNone/>
              <a:tabLst/>
              <a:defRPr sz="2000">
                <a:solidFill>
                  <a:srgbClr val="FF0000"/>
                </a:solidFill>
              </a:defRPr>
            </a:lvl1pPr>
          </a:lstStyle>
          <a:p>
            <a:pPr marL="0" marR="0" lvl="0" indent="0" algn="l" defTabSz="1828343" rtl="0" eaLnBrk="1" fontAlgn="auto" latinLnBrk="0" hangingPunct="1">
              <a:lnSpc>
                <a:spcPct val="120000"/>
              </a:lnSpc>
              <a:spcBef>
                <a:spcPts val="2000"/>
              </a:spcBef>
              <a:spcAft>
                <a:spcPts val="800"/>
              </a:spcAft>
              <a:buClrTx/>
              <a:buSzTx/>
              <a:buFont typeface="Arial" panose="020B0604020202020204" pitchFamily="34" charset="0"/>
              <a:buNone/>
              <a:tabLst/>
              <a:defRPr/>
            </a:pPr>
            <a:r>
              <a:rPr lang="en-US"/>
              <a:t>Place video still screenshot here</a:t>
            </a:r>
          </a:p>
        </p:txBody>
      </p:sp>
      <p:sp>
        <p:nvSpPr>
          <p:cNvPr id="16" name="Title Placeholder 2">
            <a:extLst>
              <a:ext uri="{FF2B5EF4-FFF2-40B4-BE49-F238E27FC236}">
                <a16:creationId xmlns:a16="http://schemas.microsoft.com/office/drawing/2014/main" id="{99DDC60A-5C4A-5245-8961-D2EE09418E31}"/>
              </a:ext>
            </a:extLst>
          </p:cNvPr>
          <p:cNvSpPr>
            <a:spLocks noGrp="1"/>
          </p:cNvSpPr>
          <p:nvPr>
            <p:ph type="title" hasCustomPrompt="1"/>
          </p:nvPr>
        </p:nvSpPr>
        <p:spPr>
          <a:xfrm>
            <a:off x="1784973" y="1151467"/>
            <a:ext cx="5987427" cy="4157132"/>
          </a:xfrm>
          <a:prstGeom prst="rect">
            <a:avLst/>
          </a:prstGeom>
        </p:spPr>
        <p:txBody>
          <a:bodyPr vert="horz" lIns="91440" tIns="45720" rIns="91440" bIns="45720" rtlCol="0" anchor="b">
            <a:noAutofit/>
          </a:bodyPr>
          <a:lstStyle>
            <a:lvl1pPr>
              <a:defRPr sz="4400"/>
            </a:lvl1pPr>
          </a:lstStyle>
          <a:p>
            <a:r>
              <a:rPr lang="en-US"/>
              <a:t>Watch: Click to add video title or an introduction</a:t>
            </a:r>
          </a:p>
        </p:txBody>
      </p:sp>
      <p:sp>
        <p:nvSpPr>
          <p:cNvPr id="17" name="Text Placeholder 11">
            <a:extLst>
              <a:ext uri="{FF2B5EF4-FFF2-40B4-BE49-F238E27FC236}">
                <a16:creationId xmlns:a16="http://schemas.microsoft.com/office/drawing/2014/main" id="{07FBE0F4-A6E6-8549-99EC-DBB59C25C001}"/>
              </a:ext>
            </a:extLst>
          </p:cNvPr>
          <p:cNvSpPr>
            <a:spLocks noGrp="1"/>
          </p:cNvSpPr>
          <p:nvPr>
            <p:ph type="body" sz="quarter" idx="11" hasCustomPrompt="1"/>
          </p:nvPr>
        </p:nvSpPr>
        <p:spPr>
          <a:xfrm>
            <a:off x="1784973" y="5715000"/>
            <a:ext cx="5987427" cy="5989320"/>
          </a:xfrm>
          <a:prstGeom prst="rect">
            <a:avLst/>
          </a:prstGeom>
        </p:spPr>
        <p:txBody>
          <a:bodyPr>
            <a:normAutofit/>
          </a:bodyPr>
          <a:lstStyle>
            <a:lvl1pPr>
              <a:defRPr sz="3200"/>
            </a:lvl1pPr>
          </a:lstStyle>
          <a:p>
            <a:pPr lvl="0"/>
            <a:r>
              <a:rPr lang="en-US"/>
              <a:t>Video Description</a:t>
            </a:r>
          </a:p>
        </p:txBody>
      </p:sp>
    </p:spTree>
    <p:extLst>
      <p:ext uri="{BB962C8B-B14F-4D97-AF65-F5344CB8AC3E}">
        <p14:creationId xmlns:p14="http://schemas.microsoft.com/office/powerpoint/2010/main" val="18149836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5" name="Media Placeholder 4">
            <a:extLst>
              <a:ext uri="{FF2B5EF4-FFF2-40B4-BE49-F238E27FC236}">
                <a16:creationId xmlns:a16="http://schemas.microsoft.com/office/drawing/2014/main" id="{733EA2CC-6AFB-994C-BDFD-AC2F57C5B0D0}"/>
              </a:ext>
            </a:extLst>
          </p:cNvPr>
          <p:cNvSpPr>
            <a:spLocks noGrp="1"/>
          </p:cNvSpPr>
          <p:nvPr>
            <p:ph type="media" sz="quarter" idx="13" hasCustomPrompt="1"/>
          </p:nvPr>
        </p:nvSpPr>
        <p:spPr>
          <a:xfrm>
            <a:off x="0" y="17929"/>
            <a:ext cx="24377650" cy="13716000"/>
          </a:xfrm>
          <a:solidFill>
            <a:schemeClr val="bg1">
              <a:lumMod val="95000"/>
            </a:schemeClr>
          </a:solidFill>
        </p:spPr>
        <p:txBody>
          <a:bodyPr/>
          <a:lstStyle/>
          <a:p>
            <a:r>
              <a:rPr lang="en-US"/>
              <a:t>Click icon to insert video from file</a:t>
            </a:r>
          </a:p>
        </p:txBody>
      </p:sp>
    </p:spTree>
    <p:extLst>
      <p:ext uri="{BB962C8B-B14F-4D97-AF65-F5344CB8AC3E}">
        <p14:creationId xmlns:p14="http://schemas.microsoft.com/office/powerpoint/2010/main" val="130051450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8484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5533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_bg_surroun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CE43BB-B21C-A34D-85A1-D72A9E465D0B}"/>
              </a:ext>
            </a:extLst>
          </p:cNvPr>
          <p:cNvSpPr>
            <a:spLocks noGrp="1"/>
          </p:cNvSpPr>
          <p:nvPr>
            <p:ph type="pic" sz="quarter" idx="10" hasCustomPrompt="1"/>
          </p:nvPr>
        </p:nvSpPr>
        <p:spPr>
          <a:xfrm>
            <a:off x="0" y="0"/>
            <a:ext cx="24377650" cy="13716000"/>
          </a:xfrm>
          <a:prstGeom prst="rect">
            <a:avLst/>
          </a:prstGeom>
          <a:solidFill>
            <a:schemeClr val="bg1">
              <a:lumMod val="95000"/>
            </a:schemeClr>
          </a:solidFill>
        </p:spPr>
        <p:txBody>
          <a:bodyPr>
            <a:normAutofit/>
          </a:bodyPr>
          <a:lstStyle>
            <a:lvl1pPr>
              <a:defRPr sz="2799">
                <a:solidFill>
                  <a:srgbClr val="FF0000"/>
                </a:solidFill>
              </a:defRPr>
            </a:lvl1pPr>
          </a:lstStyle>
          <a:p>
            <a:r>
              <a:rPr lang="en-US"/>
              <a:t>Place image: 1) drag and drop image</a:t>
            </a:r>
          </a:p>
        </p:txBody>
      </p:sp>
      <p:sp>
        <p:nvSpPr>
          <p:cNvPr id="4" name="Text Placeholder 3">
            <a:extLst>
              <a:ext uri="{FF2B5EF4-FFF2-40B4-BE49-F238E27FC236}">
                <a16:creationId xmlns:a16="http://schemas.microsoft.com/office/drawing/2014/main" id="{B61A9327-9EAD-5040-8171-00789D48DDB4}"/>
              </a:ext>
            </a:extLst>
          </p:cNvPr>
          <p:cNvSpPr>
            <a:spLocks noGrp="1"/>
          </p:cNvSpPr>
          <p:nvPr>
            <p:ph type="body" sz="quarter" idx="12" hasCustomPrompt="1"/>
          </p:nvPr>
        </p:nvSpPr>
        <p:spPr>
          <a:xfrm>
            <a:off x="403502" y="12892701"/>
            <a:ext cx="4339971" cy="473848"/>
          </a:xfrm>
          <a:prstGeom prst="rect">
            <a:avLst/>
          </a:prstGeom>
          <a:solidFill>
            <a:schemeClr val="tx1">
              <a:alpha val="60000"/>
            </a:schemeClr>
          </a:solidFill>
        </p:spPr>
        <p:txBody>
          <a:bodyPr wrap="none" lIns="182880" rIns="182880" bIns="91440" anchor="t" anchorCtr="0">
            <a:spAutoFit/>
          </a:bodyPr>
          <a:lstStyle>
            <a:lvl1pPr>
              <a:defRPr sz="2000">
                <a:solidFill>
                  <a:schemeClr val="bg1"/>
                </a:solidFill>
              </a:defRPr>
            </a:lvl1pPr>
            <a:lvl2pPr>
              <a:defRPr sz="1800"/>
            </a:lvl2pPr>
            <a:lvl3pPr>
              <a:defRPr sz="1600"/>
            </a:lvl3pPr>
            <a:lvl4pPr>
              <a:defRPr sz="1400"/>
            </a:lvl4pPr>
            <a:lvl5pPr>
              <a:defRPr sz="1400"/>
            </a:lvl5pPr>
          </a:lstStyle>
          <a:p>
            <a:pPr lvl="0"/>
            <a:r>
              <a:rPr lang="en-US" dirty="0"/>
              <a:t>Insert caption or delete this textbox</a:t>
            </a:r>
          </a:p>
        </p:txBody>
      </p:sp>
      <p:sp>
        <p:nvSpPr>
          <p:cNvPr id="5" name="Title Placeholder 2">
            <a:extLst>
              <a:ext uri="{FF2B5EF4-FFF2-40B4-BE49-F238E27FC236}">
                <a16:creationId xmlns:a16="http://schemas.microsoft.com/office/drawing/2014/main" id="{FD5CA76F-F58D-3F48-A0DD-51494E7BAFCD}"/>
              </a:ext>
            </a:extLst>
          </p:cNvPr>
          <p:cNvSpPr>
            <a:spLocks noGrp="1"/>
          </p:cNvSpPr>
          <p:nvPr>
            <p:ph type="title"/>
          </p:nvPr>
        </p:nvSpPr>
        <p:spPr>
          <a:xfrm>
            <a:off x="1784973" y="1784973"/>
            <a:ext cx="20807704" cy="1031937"/>
          </a:xfrm>
          <a:prstGeom prst="rect">
            <a:avLst/>
          </a:prstGeom>
        </p:spPr>
        <p:txBody>
          <a:bodyPr vert="horz" lIns="91440" tIns="45720" rIns="91440" bIns="45720" rtlCol="0" anchor="b">
            <a:normAutofit/>
          </a:bodyPr>
          <a:lstStyle/>
          <a:p>
            <a:r>
              <a:rPr lang="en-US"/>
              <a:t>Click to edit Master title style</a:t>
            </a:r>
          </a:p>
        </p:txBody>
      </p:sp>
      <p:sp>
        <p:nvSpPr>
          <p:cNvPr id="6" name="Text Placeholder 11">
            <a:extLst>
              <a:ext uri="{FF2B5EF4-FFF2-40B4-BE49-F238E27FC236}">
                <a16:creationId xmlns:a16="http://schemas.microsoft.com/office/drawing/2014/main" id="{F79C85A2-DA5A-1744-9932-836532F6B82A}"/>
              </a:ext>
            </a:extLst>
          </p:cNvPr>
          <p:cNvSpPr>
            <a:spLocks noGrp="1"/>
          </p:cNvSpPr>
          <p:nvPr>
            <p:ph type="body" sz="quarter" idx="11"/>
          </p:nvPr>
        </p:nvSpPr>
        <p:spPr>
          <a:xfrm>
            <a:off x="1784973" y="3086782"/>
            <a:ext cx="20807704" cy="8844245"/>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8539272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12590" y="3556001"/>
            <a:ext cx="20771793" cy="8659814"/>
          </a:xfrm>
          <a:prstGeom prst="rect">
            <a:avLst/>
          </a:prstGeom>
        </p:spPr>
        <p:txBody>
          <a:bodyPr>
            <a:normAutofit/>
          </a:bodyPr>
          <a:lstStyle>
            <a:lvl1pPr>
              <a:spcBef>
                <a:spcPts val="2399"/>
              </a:spcBef>
              <a:buClr>
                <a:schemeClr val="accent2"/>
              </a:buClr>
              <a:defRPr sz="5399"/>
            </a:lvl1pPr>
            <a:lvl2pPr>
              <a:spcBef>
                <a:spcPts val="2399"/>
              </a:spcBef>
              <a:buClr>
                <a:schemeClr val="accent2"/>
              </a:buClr>
              <a:defRPr sz="5399"/>
            </a:lvl2pPr>
            <a:lvl3pPr>
              <a:spcBef>
                <a:spcPts val="2399"/>
              </a:spcBef>
              <a:buClr>
                <a:schemeClr val="accent2"/>
              </a:buClr>
              <a:defRPr sz="5399"/>
            </a:lvl3pPr>
            <a:lvl4pPr>
              <a:spcBef>
                <a:spcPts val="2399"/>
              </a:spcBef>
              <a:buClr>
                <a:schemeClr val="accent2"/>
              </a:buClr>
              <a:defRPr sz="5399"/>
            </a:lvl4pPr>
            <a:lvl5pPr>
              <a:spcBef>
                <a:spcPts val="2399"/>
              </a:spcBef>
              <a:buClr>
                <a:schemeClr val="accent2"/>
              </a:buClr>
              <a:defRPr sz="5399"/>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6"/>
          <p:cNvSpPr>
            <a:spLocks noGrp="1"/>
          </p:cNvSpPr>
          <p:nvPr>
            <p:ph type="title"/>
          </p:nvPr>
        </p:nvSpPr>
        <p:spPr>
          <a:xfrm>
            <a:off x="558659" y="459323"/>
            <a:ext cx="21025723" cy="2651126"/>
          </a:xfrm>
          <a:prstGeom prst="rect">
            <a:avLst/>
          </a:prstGeom>
        </p:spPr>
        <p:txBody>
          <a:bodyPr vert="horz" lIns="91440" tIns="45720" rIns="91440" bIns="45720" rtlCol="0" anchor="ctr">
            <a:normAutofit/>
          </a:bodyPr>
          <a:lstStyle/>
          <a:p>
            <a:r>
              <a:rPr lang="en-US" dirty="0"/>
              <a:t>Click to edit Master title style</a:t>
            </a:r>
          </a:p>
        </p:txBody>
      </p:sp>
      <p:cxnSp>
        <p:nvCxnSpPr>
          <p:cNvPr id="5" name="Straight Connector 4"/>
          <p:cNvCxnSpPr/>
          <p:nvPr userDrawn="1"/>
        </p:nvCxnSpPr>
        <p:spPr bwMode="auto">
          <a:xfrm>
            <a:off x="812588" y="2898974"/>
            <a:ext cx="22416013" cy="0"/>
          </a:xfrm>
          <a:prstGeom prst="line">
            <a:avLst/>
          </a:prstGeom>
          <a:blipFill dpi="0" rotWithShape="0">
            <a:blip r:embed="rId2"/>
            <a:srcRect/>
            <a:tile tx="0" ty="0" sx="100000" sy="100000" flip="none" algn="tl"/>
          </a:blipFill>
          <a:ln w="25400" cap="flat" cmpd="sng" algn="ctr">
            <a:solidFill>
              <a:schemeClr val="accent2"/>
            </a:solidFill>
            <a:prstDash val="solid"/>
            <a:round/>
            <a:headEnd type="none" w="med" len="med"/>
            <a:tailEnd type="none" w="med" len="med"/>
          </a:ln>
          <a:effectLst/>
        </p:spPr>
      </p:cxnSp>
    </p:spTree>
    <p:extLst>
      <p:ext uri="{BB962C8B-B14F-4D97-AF65-F5344CB8AC3E}">
        <p14:creationId xmlns:p14="http://schemas.microsoft.com/office/powerpoint/2010/main" val="2268992668"/>
      </p:ext>
    </p:extLst>
  </p:cSld>
  <p:clrMapOvr>
    <a:masterClrMapping/>
  </p:clrMapOvr>
  <p:transition/>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F6"/>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8D30106-46E8-6A40-8519-F5F4CBB48539}"/>
              </a:ext>
            </a:extLst>
          </p:cNvPr>
          <p:cNvSpPr/>
          <p:nvPr userDrawn="1"/>
        </p:nvSpPr>
        <p:spPr>
          <a:xfrm>
            <a:off x="0" y="12223102"/>
            <a:ext cx="24377650" cy="1492898"/>
          </a:xfrm>
          <a:prstGeom prst="rect">
            <a:avLst/>
          </a:prstGeom>
          <a:solidFill>
            <a:srgbClr val="F0F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Placeholder 2">
            <a:extLst>
              <a:ext uri="{FF2B5EF4-FFF2-40B4-BE49-F238E27FC236}">
                <a16:creationId xmlns:a16="http://schemas.microsoft.com/office/drawing/2014/main" id="{3D3E3DAF-69DE-594C-9C00-292FED284B7E}"/>
              </a:ext>
            </a:extLst>
          </p:cNvPr>
          <p:cNvSpPr>
            <a:spLocks noGrp="1"/>
          </p:cNvSpPr>
          <p:nvPr>
            <p:ph type="title"/>
          </p:nvPr>
        </p:nvSpPr>
        <p:spPr>
          <a:xfrm>
            <a:off x="1784974" y="1362271"/>
            <a:ext cx="18697588" cy="200513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3" name="Text Placeholder 12">
            <a:extLst>
              <a:ext uri="{FF2B5EF4-FFF2-40B4-BE49-F238E27FC236}">
                <a16:creationId xmlns:a16="http://schemas.microsoft.com/office/drawing/2014/main" id="{CBB353D3-A5CC-C640-8875-804897EFEA23}"/>
              </a:ext>
            </a:extLst>
          </p:cNvPr>
          <p:cNvSpPr>
            <a:spLocks noGrp="1"/>
          </p:cNvSpPr>
          <p:nvPr>
            <p:ph type="body" idx="1"/>
          </p:nvPr>
        </p:nvSpPr>
        <p:spPr>
          <a:xfrm>
            <a:off x="1784974" y="3718560"/>
            <a:ext cx="18697586" cy="798576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4" name="Picture 13">
            <a:extLst>
              <a:ext uri="{FF2B5EF4-FFF2-40B4-BE49-F238E27FC236}">
                <a16:creationId xmlns:a16="http://schemas.microsoft.com/office/drawing/2014/main" id="{4EAB0489-EC04-F744-B767-64AC75EFC1D6}"/>
              </a:ext>
            </a:extLst>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19171505" y="12583271"/>
            <a:ext cx="4597795" cy="819220"/>
          </a:xfrm>
          <a:prstGeom prst="rect">
            <a:avLst/>
          </a:prstGeom>
        </p:spPr>
      </p:pic>
      <p:sp>
        <p:nvSpPr>
          <p:cNvPr id="15" name="TextBox 14">
            <a:extLst>
              <a:ext uri="{FF2B5EF4-FFF2-40B4-BE49-F238E27FC236}">
                <a16:creationId xmlns:a16="http://schemas.microsoft.com/office/drawing/2014/main" id="{BD8C7D92-9BE6-EE4F-B9F5-80C0B3A5878D}"/>
              </a:ext>
            </a:extLst>
          </p:cNvPr>
          <p:cNvSpPr txBox="1"/>
          <p:nvPr userDrawn="1"/>
        </p:nvSpPr>
        <p:spPr>
          <a:xfrm>
            <a:off x="621952" y="12775879"/>
            <a:ext cx="18818192" cy="646203"/>
          </a:xfrm>
          <a:prstGeom prst="rect">
            <a:avLst/>
          </a:prstGeom>
          <a:noFill/>
        </p:spPr>
        <p:txBody>
          <a:bodyPr wrap="square" rtlCol="0">
            <a:spAutoFit/>
          </a:bodyPr>
          <a:lstStyle/>
          <a:p>
            <a:pPr marL="0" marR="0" indent="0" algn="l" defTabSz="1828434" rtl="0" eaLnBrk="1" fontAlgn="auto" latinLnBrk="0" hangingPunct="1">
              <a:lnSpc>
                <a:spcPct val="100000"/>
              </a:lnSpc>
              <a:spcBef>
                <a:spcPts val="0"/>
              </a:spcBef>
              <a:spcAft>
                <a:spcPts val="0"/>
              </a:spcAft>
              <a:buClrTx/>
              <a:buSzTx/>
              <a:buFontTx/>
              <a:buNone/>
              <a:tabLst/>
              <a:defRPr/>
            </a:pPr>
            <a:r>
              <a:rPr lang="en-US" sz="3599" b="0" i="0" kern="1200" dirty="0">
                <a:solidFill>
                  <a:schemeClr val="tx1"/>
                </a:solidFill>
                <a:effectLst/>
                <a:latin typeface="+mn-lt"/>
                <a:ea typeface="+mn-ea"/>
                <a:cs typeface="+mn-cs"/>
              </a:rPr>
              <a:t>BST 219: Core Principles of Data Science</a:t>
            </a:r>
            <a:endParaRPr lang="en-US" sz="1800" cap="all" spc="600" baseline="0" dirty="0">
              <a:solidFill>
                <a:schemeClr val="tx1"/>
              </a:solidFill>
              <a:latin typeface="Arial" panose="020B0604020202020204" pitchFamily="34" charset="0"/>
              <a:ea typeface="Montserrat" charset="0"/>
              <a:cs typeface="Arial" panose="020B0604020202020204" pitchFamily="34" charset="0"/>
            </a:endParaRPr>
          </a:p>
        </p:txBody>
      </p:sp>
    </p:spTree>
    <p:extLst>
      <p:ext uri="{BB962C8B-B14F-4D97-AF65-F5344CB8AC3E}">
        <p14:creationId xmlns:p14="http://schemas.microsoft.com/office/powerpoint/2010/main" val="1632606618"/>
      </p:ext>
    </p:extLst>
  </p:cSld>
  <p:clrMap bg1="lt1" tx1="dk1" bg2="lt2" tx2="dk2" accent1="accent1" accent2="accent2" accent3="accent3" accent4="accent4" accent5="accent5" accent6="accent6" hlink="hlink" folHlink="folHlink"/>
  <p:sldLayoutIdLst>
    <p:sldLayoutId id="2147483691" r:id="rId1"/>
    <p:sldLayoutId id="2147483704" r:id="rId2"/>
    <p:sldLayoutId id="2147483705" r:id="rId3"/>
    <p:sldLayoutId id="2147483742" r:id="rId4"/>
    <p:sldLayoutId id="2147483684" r:id="rId5"/>
    <p:sldLayoutId id="2147483695" r:id="rId6"/>
    <p:sldLayoutId id="2147483683" r:id="rId7"/>
    <p:sldLayoutId id="2147483694" r:id="rId8"/>
    <p:sldLayoutId id="2147483748" r:id="rId9"/>
    <p:sldLayoutId id="2147483690" r:id="rId10"/>
    <p:sldLayoutId id="2147483686" r:id="rId11"/>
    <p:sldLayoutId id="2147483702" r:id="rId12"/>
    <p:sldLayoutId id="2147483701" r:id="rId13"/>
    <p:sldLayoutId id="2147483703" r:id="rId14"/>
    <p:sldLayoutId id="2147483711" r:id="rId15"/>
    <p:sldLayoutId id="2147483689" r:id="rId16"/>
    <p:sldLayoutId id="2147483692" r:id="rId17"/>
    <p:sldLayoutId id="2147483687" r:id="rId18"/>
    <p:sldLayoutId id="2147483698" r:id="rId19"/>
    <p:sldLayoutId id="2147483699" r:id="rId20"/>
    <p:sldLayoutId id="2147483700" r:id="rId21"/>
    <p:sldLayoutId id="2147483693" r:id="rId22"/>
    <p:sldLayoutId id="2147483688" r:id="rId23"/>
    <p:sldLayoutId id="2147483696" r:id="rId24"/>
    <p:sldLayoutId id="2147483697" r:id="rId25"/>
    <p:sldLayoutId id="2147483710" r:id="rId26"/>
    <p:sldLayoutId id="2147483706" r:id="rId27"/>
    <p:sldLayoutId id="2147483682" r:id="rId28"/>
    <p:sldLayoutId id="2147483708" r:id="rId29"/>
    <p:sldLayoutId id="2147483707" r:id="rId30"/>
    <p:sldLayoutId id="2147483749" r:id="rId31"/>
  </p:sldLayoutIdLst>
  <p:txStyles>
    <p:titleStyle>
      <a:lvl1pPr algn="l" defTabSz="1828343" rtl="0" eaLnBrk="1" latinLnBrk="0" hangingPunct="1">
        <a:lnSpc>
          <a:spcPct val="90000"/>
        </a:lnSpc>
        <a:spcBef>
          <a:spcPct val="0"/>
        </a:spcBef>
        <a:buNone/>
        <a:defRPr sz="6600" b="1" kern="1200">
          <a:solidFill>
            <a:schemeClr val="tx1"/>
          </a:solidFill>
          <a:latin typeface="+mj-lt"/>
          <a:ea typeface="+mj-ea"/>
          <a:cs typeface="+mj-cs"/>
        </a:defRPr>
      </a:lvl1pPr>
    </p:titleStyle>
    <p:bodyStyle>
      <a:lvl1pPr marL="0" indent="0" algn="l" defTabSz="1828343" rtl="0" eaLnBrk="1" latinLnBrk="0" hangingPunct="1">
        <a:lnSpc>
          <a:spcPct val="120000"/>
        </a:lnSpc>
        <a:spcBef>
          <a:spcPts val="2000"/>
        </a:spcBef>
        <a:spcAft>
          <a:spcPts val="800"/>
        </a:spcAft>
        <a:buFont typeface="Arial" panose="020B0604020202020204" pitchFamily="34" charset="0"/>
        <a:buNone/>
        <a:defRPr sz="3200" b="0" kern="1200">
          <a:solidFill>
            <a:schemeClr val="tx1"/>
          </a:solidFill>
          <a:latin typeface="+mn-lt"/>
          <a:ea typeface="+mn-ea"/>
          <a:cs typeface="+mn-cs"/>
        </a:defRPr>
      </a:lvl1pPr>
      <a:lvl2pPr marL="914171" indent="0" algn="l" defTabSz="1828343" rtl="0" eaLnBrk="1" latinLnBrk="0" hangingPunct="1">
        <a:lnSpc>
          <a:spcPct val="120000"/>
        </a:lnSpc>
        <a:spcBef>
          <a:spcPts val="1000"/>
        </a:spcBef>
        <a:spcAft>
          <a:spcPts val="800"/>
        </a:spcAft>
        <a:buFont typeface="Arial" panose="020B0604020202020204" pitchFamily="34" charset="0"/>
        <a:buNone/>
        <a:defRPr sz="3200" b="0" kern="1200">
          <a:solidFill>
            <a:schemeClr val="tx1"/>
          </a:solidFill>
          <a:latin typeface="+mn-lt"/>
          <a:ea typeface="+mn-ea"/>
          <a:cs typeface="+mn-cs"/>
        </a:defRPr>
      </a:lvl2pPr>
      <a:lvl3pPr marL="1828343" indent="0" algn="l" defTabSz="1828343" rtl="0" eaLnBrk="1" latinLnBrk="0" hangingPunct="1">
        <a:lnSpc>
          <a:spcPct val="120000"/>
        </a:lnSpc>
        <a:spcBef>
          <a:spcPts val="1000"/>
        </a:spcBef>
        <a:spcAft>
          <a:spcPts val="800"/>
        </a:spcAft>
        <a:buFont typeface="Arial" panose="020B0604020202020204" pitchFamily="34" charset="0"/>
        <a:buNone/>
        <a:defRPr sz="3200" kern="1200">
          <a:solidFill>
            <a:schemeClr val="tx1"/>
          </a:solidFill>
          <a:latin typeface="+mn-lt"/>
          <a:ea typeface="+mn-ea"/>
          <a:cs typeface="+mn-cs"/>
        </a:defRPr>
      </a:lvl3pPr>
      <a:lvl4pPr marL="2742514" indent="0" algn="l" defTabSz="1828343" rtl="0" eaLnBrk="1" latinLnBrk="0" hangingPunct="1">
        <a:lnSpc>
          <a:spcPct val="120000"/>
        </a:lnSpc>
        <a:spcBef>
          <a:spcPts val="1000"/>
        </a:spcBef>
        <a:spcAft>
          <a:spcPts val="800"/>
        </a:spcAft>
        <a:buFont typeface="Arial" panose="020B0604020202020204" pitchFamily="34" charset="0"/>
        <a:buNone/>
        <a:defRPr sz="3200" kern="1200">
          <a:solidFill>
            <a:schemeClr val="tx1"/>
          </a:solidFill>
          <a:latin typeface="+mn-lt"/>
          <a:ea typeface="+mn-ea"/>
          <a:cs typeface="+mn-cs"/>
        </a:defRPr>
      </a:lvl4pPr>
      <a:lvl5pPr marL="3656685" indent="0" algn="l" defTabSz="1828343" rtl="0" eaLnBrk="1" latinLnBrk="0" hangingPunct="1">
        <a:lnSpc>
          <a:spcPct val="120000"/>
        </a:lnSpc>
        <a:spcBef>
          <a:spcPts val="1000"/>
        </a:spcBef>
        <a:spcAft>
          <a:spcPts val="800"/>
        </a:spcAft>
        <a:buFont typeface="Arial" panose="020B0604020202020204" pitchFamily="34" charset="0"/>
        <a:buNone/>
        <a:defRPr sz="3200"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hyperlink" Target="https://healthysimpleyum.com/day-of-the-dead-food-and-recipes/" TargetMode="External"/><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1.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1.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31.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1.xml"/><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31.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31.xml"/></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31.xml"/></Relationships>
</file>

<file path=ppt/slides/_rels/slide4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31.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9.xml"/><Relationship Id="rId1" Type="http://schemas.openxmlformats.org/officeDocument/2006/relationships/slideLayout" Target="../slideLayouts/slideLayout31.xml"/><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2.xml"/><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31.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31.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5.xml"/><Relationship Id="rId1" Type="http://schemas.openxmlformats.org/officeDocument/2006/relationships/slideLayout" Target="../slideLayouts/slideLayout31.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6.xml"/><Relationship Id="rId1" Type="http://schemas.openxmlformats.org/officeDocument/2006/relationships/slideLayout" Target="../slideLayouts/slideLayout31.xml"/><Relationship Id="rId4" Type="http://schemas.openxmlformats.org/officeDocument/2006/relationships/image" Target="../media/image37.png"/></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31.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3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62.xml"/><Relationship Id="rId1" Type="http://schemas.openxmlformats.org/officeDocument/2006/relationships/slideLayout" Target="../slideLayouts/slideLayout31.xml"/></Relationships>
</file>

<file path=ppt/slides/_rels/slide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3.xml"/><Relationship Id="rId1" Type="http://schemas.openxmlformats.org/officeDocument/2006/relationships/slideLayout" Target="../slideLayouts/slideLayout3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1.xml"/></Relationships>
</file>

<file path=ppt/slides/_rels/slide6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5.xml"/><Relationship Id="rId1" Type="http://schemas.openxmlformats.org/officeDocument/2006/relationships/slideLayout" Target="../slideLayouts/slideLayout31.xml"/></Relationships>
</file>

<file path=ppt/slides/_rels/slide6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6.xml"/><Relationship Id="rId1" Type="http://schemas.openxmlformats.org/officeDocument/2006/relationships/slideLayout" Target="../slideLayouts/slideLayout31.xml"/><Relationship Id="rId4" Type="http://schemas.openxmlformats.org/officeDocument/2006/relationships/image" Target="../media/image43.png"/></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7.xml"/><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8.xml"/><Relationship Id="rId1" Type="http://schemas.openxmlformats.org/officeDocument/2006/relationships/slideLayout" Target="../slideLayouts/slideLayout31.xml"/><Relationship Id="rId4" Type="http://schemas.openxmlformats.org/officeDocument/2006/relationships/image" Target="../media/image46.png"/></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9.xml"/><Relationship Id="rId1" Type="http://schemas.openxmlformats.org/officeDocument/2006/relationships/slideLayout" Target="../slideLayouts/slideLayout31.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0.xml"/><Relationship Id="rId1" Type="http://schemas.openxmlformats.org/officeDocument/2006/relationships/slideLayout" Target="../slideLayouts/slideLayout31.xml"/><Relationship Id="rId4" Type="http://schemas.openxmlformats.org/officeDocument/2006/relationships/image" Target="../media/image49.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1.xml"/></Relationships>
</file>

<file path=ppt/slides/_rels/slide7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72.xml"/><Relationship Id="rId1" Type="http://schemas.openxmlformats.org/officeDocument/2006/relationships/slideLayout" Target="../slideLayouts/slideLayout31.xml"/></Relationships>
</file>

<file path=ppt/slides/_rels/slide7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73.xml"/><Relationship Id="rId1" Type="http://schemas.openxmlformats.org/officeDocument/2006/relationships/slideLayout" Target="../slideLayouts/slideLayout3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C3EBB-0387-1335-C293-966636683FED}"/>
              </a:ext>
            </a:extLst>
          </p:cNvPr>
          <p:cNvSpPr>
            <a:spLocks noGrp="1"/>
          </p:cNvSpPr>
          <p:nvPr>
            <p:ph type="title"/>
          </p:nvPr>
        </p:nvSpPr>
        <p:spPr>
          <a:xfrm>
            <a:off x="1061764" y="3732203"/>
            <a:ext cx="22254121" cy="4567715"/>
          </a:xfrm>
        </p:spPr>
        <p:txBody>
          <a:bodyPr anchor="ctr">
            <a:normAutofit/>
          </a:bodyPr>
          <a:lstStyle/>
          <a:p>
            <a:r>
              <a:rPr lang="en-US" sz="7200" dirty="0"/>
              <a:t>Lecture 18: Linear Regression Continued</a:t>
            </a:r>
          </a:p>
        </p:txBody>
      </p:sp>
      <p:sp>
        <p:nvSpPr>
          <p:cNvPr id="3" name="Text Placeholder 2">
            <a:extLst>
              <a:ext uri="{FF2B5EF4-FFF2-40B4-BE49-F238E27FC236}">
                <a16:creationId xmlns:a16="http://schemas.microsoft.com/office/drawing/2014/main" id="{8883F08E-03FE-B475-4EC5-62A30EBC6EA3}"/>
              </a:ext>
            </a:extLst>
          </p:cNvPr>
          <p:cNvSpPr>
            <a:spLocks noGrp="1"/>
          </p:cNvSpPr>
          <p:nvPr>
            <p:ph type="body" sz="quarter" idx="10"/>
          </p:nvPr>
        </p:nvSpPr>
        <p:spPr>
          <a:xfrm>
            <a:off x="1784974" y="9418319"/>
            <a:ext cx="18697586" cy="1976511"/>
          </a:xfrm>
        </p:spPr>
        <p:txBody>
          <a:bodyPr>
            <a:normAutofit/>
          </a:bodyPr>
          <a:lstStyle/>
          <a:p>
            <a:r>
              <a:rPr lang="en-US" sz="4000" dirty="0"/>
              <a:t>Heather Mattie, PhD</a:t>
            </a:r>
          </a:p>
          <a:p>
            <a:r>
              <a:rPr lang="en-US" sz="4000" dirty="0"/>
              <a:t>October 29, 2026</a:t>
            </a:r>
          </a:p>
        </p:txBody>
      </p:sp>
    </p:spTree>
    <p:extLst>
      <p:ext uri="{BB962C8B-B14F-4D97-AF65-F5344CB8AC3E}">
        <p14:creationId xmlns:p14="http://schemas.microsoft.com/office/powerpoint/2010/main" val="2099873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49477A-0D17-BC90-FE68-4267F44F6174}"/>
              </a:ext>
            </a:extLst>
          </p:cNvPr>
          <p:cNvSpPr>
            <a:spLocks noGrp="1"/>
          </p:cNvSpPr>
          <p:nvPr>
            <p:ph idx="1"/>
          </p:nvPr>
        </p:nvSpPr>
        <p:spPr>
          <a:xfrm>
            <a:off x="2554172" y="3501483"/>
            <a:ext cx="10526752" cy="1379118"/>
          </a:xfrm>
        </p:spPr>
        <p:txBody>
          <a:bodyPr>
            <a:normAutofit/>
          </a:bodyPr>
          <a:lstStyle/>
          <a:p>
            <a:pPr algn="ctr"/>
            <a:r>
              <a:rPr lang="en-US" u="sng" dirty="0">
                <a:solidFill>
                  <a:schemeClr val="accent5"/>
                </a:solidFill>
                <a:hlinkClick r:id="rId3">
                  <a:extLst>
                    <a:ext uri="{A12FA001-AC4F-418D-AE19-62706E023703}">
                      <ahyp:hlinkClr xmlns:ahyp="http://schemas.microsoft.com/office/drawing/2018/hyperlinkcolor" val="tx"/>
                    </a:ext>
                  </a:extLst>
                </a:hlinkClick>
              </a:rPr>
              <a:t>Dia de </a:t>
            </a:r>
            <a:r>
              <a:rPr lang="en-US" u="sng" dirty="0" err="1">
                <a:solidFill>
                  <a:schemeClr val="accent5"/>
                </a:solidFill>
                <a:hlinkClick r:id="rId3">
                  <a:extLst>
                    <a:ext uri="{A12FA001-AC4F-418D-AE19-62706E023703}">
                      <ahyp:hlinkClr xmlns:ahyp="http://schemas.microsoft.com/office/drawing/2018/hyperlinkcolor" val="tx"/>
                    </a:ext>
                  </a:extLst>
                </a:hlinkClick>
              </a:rPr>
              <a:t>los</a:t>
            </a:r>
            <a:r>
              <a:rPr lang="en-US" u="sng" dirty="0">
                <a:solidFill>
                  <a:schemeClr val="accent5"/>
                </a:solidFill>
                <a:hlinkClick r:id="rId3">
                  <a:extLst>
                    <a:ext uri="{A12FA001-AC4F-418D-AE19-62706E023703}">
                      <ahyp:hlinkClr xmlns:ahyp="http://schemas.microsoft.com/office/drawing/2018/hyperlinkcolor" val="tx"/>
                    </a:ext>
                  </a:extLst>
                </a:hlinkClick>
              </a:rPr>
              <a:t> Muertos recipes</a:t>
            </a:r>
            <a:endParaRPr lang="en-US" dirty="0">
              <a:solidFill>
                <a:schemeClr val="accent5"/>
              </a:solidFill>
            </a:endParaRPr>
          </a:p>
        </p:txBody>
      </p:sp>
      <p:sp>
        <p:nvSpPr>
          <p:cNvPr id="3" name="Title 2">
            <a:extLst>
              <a:ext uri="{FF2B5EF4-FFF2-40B4-BE49-F238E27FC236}">
                <a16:creationId xmlns:a16="http://schemas.microsoft.com/office/drawing/2014/main" id="{0AE1F2D0-3061-E9D3-D016-BDABA04EDC5C}"/>
              </a:ext>
            </a:extLst>
          </p:cNvPr>
          <p:cNvSpPr>
            <a:spLocks noGrp="1"/>
          </p:cNvSpPr>
          <p:nvPr>
            <p:ph type="title"/>
          </p:nvPr>
        </p:nvSpPr>
        <p:spPr>
          <a:xfrm>
            <a:off x="558659" y="682348"/>
            <a:ext cx="21025723" cy="2651126"/>
          </a:xfrm>
        </p:spPr>
        <p:txBody>
          <a:bodyPr/>
          <a:lstStyle/>
          <a:p>
            <a:r>
              <a:rPr lang="en-US" dirty="0"/>
              <a:t>Recipe of the Day!</a:t>
            </a:r>
          </a:p>
        </p:txBody>
      </p:sp>
      <p:pic>
        <p:nvPicPr>
          <p:cNvPr id="4" name="Picture 3" descr="A person holding a child in a garment&#10;&#10;AI-generated content may be incorrect.">
            <a:extLst>
              <a:ext uri="{FF2B5EF4-FFF2-40B4-BE49-F238E27FC236}">
                <a16:creationId xmlns:a16="http://schemas.microsoft.com/office/drawing/2014/main" id="{F306FD24-83EA-9110-3148-CD0421066694}"/>
              </a:ext>
            </a:extLst>
          </p:cNvPr>
          <p:cNvPicPr>
            <a:picLocks noChangeAspect="1"/>
          </p:cNvPicPr>
          <p:nvPr/>
        </p:nvPicPr>
        <p:blipFill>
          <a:blip r:embed="rId4"/>
          <a:stretch>
            <a:fillRect/>
          </a:stretch>
        </p:blipFill>
        <p:spPr>
          <a:xfrm>
            <a:off x="18776094" y="4315183"/>
            <a:ext cx="4885055" cy="6513407"/>
          </a:xfrm>
          <a:prstGeom prst="rect">
            <a:avLst/>
          </a:prstGeom>
        </p:spPr>
      </p:pic>
      <p:pic>
        <p:nvPicPr>
          <p:cNvPr id="6" name="Picture 5" descr="pan de muerto day of the dead food.">
            <a:extLst>
              <a:ext uri="{FF2B5EF4-FFF2-40B4-BE49-F238E27FC236}">
                <a16:creationId xmlns:a16="http://schemas.microsoft.com/office/drawing/2014/main" id="{1D82D91E-7B56-D05B-7B1D-9FDFACB71E1B}"/>
              </a:ext>
            </a:extLst>
          </p:cNvPr>
          <p:cNvPicPr>
            <a:picLocks noChangeAspect="1"/>
          </p:cNvPicPr>
          <p:nvPr/>
        </p:nvPicPr>
        <p:blipFill>
          <a:blip r:embed="rId5"/>
          <a:stretch>
            <a:fillRect/>
          </a:stretch>
        </p:blipFill>
        <p:spPr>
          <a:xfrm>
            <a:off x="1141542" y="4680097"/>
            <a:ext cx="5359899" cy="3747741"/>
          </a:xfrm>
          <a:prstGeom prst="rect">
            <a:avLst/>
          </a:prstGeom>
        </p:spPr>
      </p:pic>
      <p:pic>
        <p:nvPicPr>
          <p:cNvPr id="7" name="Picture 6" descr="enchiladas verdes in a mexican dish.">
            <a:extLst>
              <a:ext uri="{FF2B5EF4-FFF2-40B4-BE49-F238E27FC236}">
                <a16:creationId xmlns:a16="http://schemas.microsoft.com/office/drawing/2014/main" id="{18C6D2BB-0219-7C7F-6247-1F1912305580}"/>
              </a:ext>
            </a:extLst>
          </p:cNvPr>
          <p:cNvPicPr>
            <a:picLocks noChangeAspect="1"/>
          </p:cNvPicPr>
          <p:nvPr/>
        </p:nvPicPr>
        <p:blipFill>
          <a:blip r:embed="rId6"/>
          <a:stretch>
            <a:fillRect/>
          </a:stretch>
        </p:blipFill>
        <p:spPr>
          <a:xfrm>
            <a:off x="6954485" y="5463160"/>
            <a:ext cx="4571959" cy="6378319"/>
          </a:xfrm>
          <a:prstGeom prst="rect">
            <a:avLst/>
          </a:prstGeom>
        </p:spPr>
      </p:pic>
      <p:pic>
        <p:nvPicPr>
          <p:cNvPr id="8" name="Picture 7" descr="vegan pozole recipe day of the dead food.">
            <a:extLst>
              <a:ext uri="{FF2B5EF4-FFF2-40B4-BE49-F238E27FC236}">
                <a16:creationId xmlns:a16="http://schemas.microsoft.com/office/drawing/2014/main" id="{79613C92-C79A-804D-9289-D1AF6B1BB405}"/>
              </a:ext>
            </a:extLst>
          </p:cNvPr>
          <p:cNvPicPr>
            <a:picLocks noChangeAspect="1"/>
          </p:cNvPicPr>
          <p:nvPr/>
        </p:nvPicPr>
        <p:blipFill>
          <a:blip r:embed="rId7"/>
          <a:stretch>
            <a:fillRect/>
          </a:stretch>
        </p:blipFill>
        <p:spPr>
          <a:xfrm>
            <a:off x="11979488" y="4680097"/>
            <a:ext cx="4975913" cy="5783580"/>
          </a:xfrm>
          <a:prstGeom prst="rect">
            <a:avLst/>
          </a:prstGeom>
        </p:spPr>
      </p:pic>
      <p:pic>
        <p:nvPicPr>
          <p:cNvPr id="9" name="Picture 8">
            <a:extLst>
              <a:ext uri="{FF2B5EF4-FFF2-40B4-BE49-F238E27FC236}">
                <a16:creationId xmlns:a16="http://schemas.microsoft.com/office/drawing/2014/main" id="{031A8203-EBB3-7449-63E9-F79329B3D746}"/>
              </a:ext>
            </a:extLst>
          </p:cNvPr>
          <p:cNvPicPr>
            <a:picLocks noChangeAspect="1"/>
          </p:cNvPicPr>
          <p:nvPr/>
        </p:nvPicPr>
        <p:blipFill>
          <a:blip r:embed="rId8"/>
          <a:stretch>
            <a:fillRect/>
          </a:stretch>
        </p:blipFill>
        <p:spPr>
          <a:xfrm>
            <a:off x="2420590" y="8652319"/>
            <a:ext cx="2801801" cy="3316814"/>
          </a:xfrm>
          <a:prstGeom prst="rect">
            <a:avLst/>
          </a:prstGeom>
        </p:spPr>
      </p:pic>
    </p:spTree>
    <p:extLst>
      <p:ext uri="{BB962C8B-B14F-4D97-AF65-F5344CB8AC3E}">
        <p14:creationId xmlns:p14="http://schemas.microsoft.com/office/powerpoint/2010/main" val="392810760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280E05-B956-3CAC-7438-82C9FAA9D1C6}"/>
              </a:ext>
            </a:extLst>
          </p:cNvPr>
          <p:cNvSpPr>
            <a:spLocks noGrp="1"/>
          </p:cNvSpPr>
          <p:nvPr>
            <p:ph idx="1"/>
          </p:nvPr>
        </p:nvSpPr>
        <p:spPr/>
        <p:txBody>
          <a:bodyPr/>
          <a:lstStyle/>
          <a:p>
            <a:pPr marL="685800" indent="-685800">
              <a:buFont typeface="Arial" panose="020B0604020202020204" pitchFamily="34" charset="0"/>
              <a:buChar char="•"/>
            </a:pPr>
            <a:r>
              <a:rPr lang="en-US" sz="4400" dirty="0"/>
              <a:t>There will be lab this week</a:t>
            </a:r>
          </a:p>
          <a:p>
            <a:pPr marL="685800" indent="-685800">
              <a:buFont typeface="Arial" panose="020B0604020202020204" pitchFamily="34" charset="0"/>
              <a:buChar char="•"/>
            </a:pPr>
            <a:r>
              <a:rPr lang="en-US" sz="4400" dirty="0"/>
              <a:t>Heather’s office hour:</a:t>
            </a:r>
          </a:p>
          <a:p>
            <a:pPr marL="1599971" lvl="1" indent="-685800">
              <a:buFont typeface="Arial" panose="020B0604020202020204" pitchFamily="34" charset="0"/>
              <a:buChar char="•"/>
            </a:pPr>
            <a:r>
              <a:rPr lang="en-US" sz="4400" dirty="0"/>
              <a:t>Today 12-1pm</a:t>
            </a:r>
          </a:p>
          <a:p>
            <a:pPr marL="685800" indent="-685800">
              <a:buFont typeface="Arial" panose="020B0604020202020204" pitchFamily="34" charset="0"/>
              <a:buChar char="•"/>
            </a:pPr>
            <a:r>
              <a:rPr lang="en-US" sz="4400" dirty="0"/>
              <a:t>Midterm due </a:t>
            </a:r>
            <a:r>
              <a:rPr lang="en-US" sz="4400" b="1" dirty="0"/>
              <a:t>Friday, November 6</a:t>
            </a:r>
            <a:r>
              <a:rPr lang="en-US" sz="4400" b="1" baseline="30000" dirty="0"/>
              <a:t>th</a:t>
            </a:r>
            <a:r>
              <a:rPr lang="en-US" sz="4400" b="1" dirty="0"/>
              <a:t> </a:t>
            </a:r>
          </a:p>
          <a:p>
            <a:pPr marL="1599971" lvl="1" indent="-685800">
              <a:buFont typeface="Arial" panose="020B0604020202020204" pitchFamily="34" charset="0"/>
              <a:buChar char="•"/>
            </a:pPr>
            <a:r>
              <a:rPr lang="en-US" sz="4400" dirty="0"/>
              <a:t>No late days may be used</a:t>
            </a:r>
            <a:endParaRPr lang="en-US" sz="4400" b="1" dirty="0"/>
          </a:p>
          <a:p>
            <a:pPr marL="685800" indent="-685800">
              <a:buFont typeface="Arial" panose="020B0604020202020204" pitchFamily="34" charset="0"/>
              <a:buChar char="•"/>
            </a:pPr>
            <a:r>
              <a:rPr lang="en-US" sz="4400" dirty="0"/>
              <a:t>No class November 24</a:t>
            </a:r>
            <a:r>
              <a:rPr lang="en-US" sz="4400" baseline="30000" dirty="0"/>
              <a:t>th</a:t>
            </a:r>
            <a:r>
              <a:rPr lang="en-US" sz="4400" dirty="0"/>
              <a:t> and 26</a:t>
            </a:r>
            <a:r>
              <a:rPr lang="en-US" sz="4400" baseline="30000" dirty="0"/>
              <a:t>th</a:t>
            </a:r>
            <a:r>
              <a:rPr lang="en-US" sz="4400" dirty="0"/>
              <a:t> </a:t>
            </a:r>
          </a:p>
          <a:p>
            <a:endParaRPr lang="en-US" dirty="0"/>
          </a:p>
        </p:txBody>
      </p:sp>
      <p:sp>
        <p:nvSpPr>
          <p:cNvPr id="3" name="Title 2">
            <a:extLst>
              <a:ext uri="{FF2B5EF4-FFF2-40B4-BE49-F238E27FC236}">
                <a16:creationId xmlns:a16="http://schemas.microsoft.com/office/drawing/2014/main" id="{8F347D04-C599-177C-15CD-5E1F29F33CF4}"/>
              </a:ext>
            </a:extLst>
          </p:cNvPr>
          <p:cNvSpPr>
            <a:spLocks noGrp="1"/>
          </p:cNvSpPr>
          <p:nvPr>
            <p:ph type="title"/>
          </p:nvPr>
        </p:nvSpPr>
        <p:spPr/>
        <p:txBody>
          <a:bodyPr/>
          <a:lstStyle/>
          <a:p>
            <a:r>
              <a:rPr lang="en-US" dirty="0"/>
              <a:t>Announcements</a:t>
            </a:r>
          </a:p>
        </p:txBody>
      </p:sp>
      <p:pic>
        <p:nvPicPr>
          <p:cNvPr id="4" name="Picture 2" descr="Linear Regression">
            <a:extLst>
              <a:ext uri="{FF2B5EF4-FFF2-40B4-BE49-F238E27FC236}">
                <a16:creationId xmlns:a16="http://schemas.microsoft.com/office/drawing/2014/main" id="{6EC23F53-E64A-23E9-5B3F-8E553C4A44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89453" y="3450243"/>
            <a:ext cx="6809884" cy="44356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I created a meme using ChatGPT | Shivani Khandelwal posted on the topic  | LinkedIn">
            <a:extLst>
              <a:ext uri="{FF2B5EF4-FFF2-40B4-BE49-F238E27FC236}">
                <a16:creationId xmlns:a16="http://schemas.microsoft.com/office/drawing/2014/main" id="{0A2BB6D2-9B96-EFCA-414E-782B11C32A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4023" y="6285967"/>
            <a:ext cx="5486192" cy="5475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4221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511F9E-ACE7-8250-A083-277F06362072}"/>
              </a:ext>
            </a:extLst>
          </p:cNvPr>
          <p:cNvSpPr>
            <a:spLocks noGrp="1"/>
          </p:cNvSpPr>
          <p:nvPr>
            <p:ph idx="1"/>
          </p:nvPr>
        </p:nvSpPr>
        <p:spPr>
          <a:xfrm>
            <a:off x="867939" y="3395981"/>
            <a:ext cx="22641769" cy="5199379"/>
          </a:xfrm>
        </p:spPr>
        <p:txBody>
          <a:bodyPr>
            <a:normAutofit fontScale="40000" lnSpcReduction="20000"/>
          </a:bodyPr>
          <a:lstStyle/>
          <a:p>
            <a:r>
              <a:rPr lang="en-US" sz="9000" dirty="0"/>
              <a:t>A survey has three linked alcohol questions:</a:t>
            </a:r>
          </a:p>
          <a:p>
            <a:pPr lvl="0"/>
            <a:r>
              <a:rPr lang="en-US" sz="9000" dirty="0"/>
              <a:t>“Have you ever had an alcoholic drink?” (</a:t>
            </a:r>
            <a:r>
              <a:rPr lang="en-US" sz="9000" b="1" dirty="0" err="1">
                <a:solidFill>
                  <a:schemeClr val="accent5"/>
                </a:solidFill>
                <a:latin typeface="Courier New" panose="02070309020205020404" pitchFamily="49" charset="0"/>
                <a:cs typeface="Courier New" panose="02070309020205020404" pitchFamily="49" charset="0"/>
              </a:rPr>
              <a:t>ever_drink</a:t>
            </a:r>
            <a:r>
              <a:rPr lang="en-US" sz="9000" dirty="0"/>
              <a:t>)</a:t>
            </a:r>
          </a:p>
          <a:p>
            <a:pPr lvl="0"/>
            <a:r>
              <a:rPr lang="en-US" sz="9000" dirty="0"/>
              <a:t>If yes: “Have you had a drink in the past 30 days?” (</a:t>
            </a:r>
            <a:r>
              <a:rPr lang="en-US" sz="9000" b="1" dirty="0">
                <a:solidFill>
                  <a:schemeClr val="accent5"/>
                </a:solidFill>
                <a:latin typeface="Courier New" panose="02070309020205020404" pitchFamily="49" charset="0"/>
                <a:cs typeface="Courier New" panose="02070309020205020404" pitchFamily="49" charset="0"/>
              </a:rPr>
              <a:t>drink_30d</a:t>
            </a:r>
            <a:r>
              <a:rPr lang="en-US" sz="9000" dirty="0"/>
              <a:t>)</a:t>
            </a:r>
          </a:p>
          <a:p>
            <a:pPr lvl="0"/>
            <a:r>
              <a:rPr lang="en-US" sz="9000" dirty="0"/>
              <a:t>If yes: “On days you drink, how many drinks do you have?” (</a:t>
            </a:r>
            <a:r>
              <a:rPr lang="en-US" sz="9000" b="1" dirty="0" err="1">
                <a:solidFill>
                  <a:schemeClr val="accent5"/>
                </a:solidFill>
                <a:latin typeface="Courier New" panose="02070309020205020404" pitchFamily="49" charset="0"/>
                <a:cs typeface="Courier New" panose="02070309020205020404" pitchFamily="49" charset="0"/>
              </a:rPr>
              <a:t>drinks_per_day</a:t>
            </a:r>
            <a:r>
              <a:rPr lang="en-US" sz="9000" dirty="0"/>
              <a:t>)</a:t>
            </a:r>
          </a:p>
          <a:p>
            <a:r>
              <a:rPr lang="en-US" sz="9000" dirty="0"/>
              <a:t>Create imputed versions of </a:t>
            </a:r>
            <a:r>
              <a:rPr lang="en-US" sz="9000" b="1" dirty="0">
                <a:solidFill>
                  <a:schemeClr val="accent5"/>
                </a:solidFill>
                <a:latin typeface="Courier New" panose="02070309020205020404" pitchFamily="49" charset="0"/>
                <a:cs typeface="Courier New" panose="02070309020205020404" pitchFamily="49" charset="0"/>
              </a:rPr>
              <a:t>drink_30d </a:t>
            </a:r>
            <a:r>
              <a:rPr lang="en-US" sz="9000" dirty="0"/>
              <a:t>and </a:t>
            </a:r>
            <a:r>
              <a:rPr lang="en-US" sz="9000" b="1" dirty="0" err="1">
                <a:solidFill>
                  <a:schemeClr val="accent5"/>
                </a:solidFill>
                <a:latin typeface="Courier New" panose="02070309020205020404" pitchFamily="49" charset="0"/>
                <a:cs typeface="Courier New" panose="02070309020205020404" pitchFamily="49" charset="0"/>
              </a:rPr>
              <a:t>drinks_per_day</a:t>
            </a:r>
            <a:r>
              <a:rPr lang="en-US" sz="9000" b="1" dirty="0">
                <a:solidFill>
                  <a:schemeClr val="accent5"/>
                </a:solidFill>
                <a:latin typeface="Courier New" panose="02070309020205020404" pitchFamily="49" charset="0"/>
                <a:cs typeface="Courier New" panose="02070309020205020404" pitchFamily="49" charset="0"/>
              </a:rPr>
              <a:t> </a:t>
            </a:r>
            <a:r>
              <a:rPr lang="en-US" sz="9000" dirty="0"/>
              <a:t>that correctly fill in skipped values. Then count how many truly missing values remain in each imputed variable.</a:t>
            </a:r>
          </a:p>
          <a:p>
            <a:endParaRPr lang="en-US" dirty="0"/>
          </a:p>
        </p:txBody>
      </p:sp>
      <p:sp>
        <p:nvSpPr>
          <p:cNvPr id="3" name="Title 2">
            <a:extLst>
              <a:ext uri="{FF2B5EF4-FFF2-40B4-BE49-F238E27FC236}">
                <a16:creationId xmlns:a16="http://schemas.microsoft.com/office/drawing/2014/main" id="{B3EFBC80-EE99-B9B8-4C35-C4D3A4D5B273}"/>
              </a:ext>
            </a:extLst>
          </p:cNvPr>
          <p:cNvSpPr>
            <a:spLocks noGrp="1"/>
          </p:cNvSpPr>
          <p:nvPr>
            <p:ph type="title"/>
          </p:nvPr>
        </p:nvSpPr>
        <p:spPr/>
        <p:txBody>
          <a:bodyPr/>
          <a:lstStyle/>
          <a:p>
            <a:r>
              <a:rPr lang="en-US" dirty="0"/>
              <a:t>Coding question of the day</a:t>
            </a:r>
          </a:p>
        </p:txBody>
      </p:sp>
      <p:sp>
        <p:nvSpPr>
          <p:cNvPr id="4" name="Content Placeholder 1">
            <a:extLst>
              <a:ext uri="{FF2B5EF4-FFF2-40B4-BE49-F238E27FC236}">
                <a16:creationId xmlns:a16="http://schemas.microsoft.com/office/drawing/2014/main" id="{42A34763-5365-CD3E-C648-322D9561C704}"/>
              </a:ext>
            </a:extLst>
          </p:cNvPr>
          <p:cNvSpPr txBox="1">
            <a:spLocks/>
          </p:cNvSpPr>
          <p:nvPr/>
        </p:nvSpPr>
        <p:spPr>
          <a:xfrm>
            <a:off x="945403" y="8864121"/>
            <a:ext cx="22564305" cy="2911795"/>
          </a:xfrm>
          <a:prstGeom prst="rect">
            <a:avLst/>
          </a:prstGeom>
          <a:ln w="57150">
            <a:solidFill>
              <a:srgbClr val="B02116"/>
            </a:solidFill>
          </a:ln>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Bef>
                <a:spcPts val="0"/>
              </a:spcBef>
              <a:spcAft>
                <a:spcPts val="0"/>
              </a:spcAft>
            </a:pPr>
            <a:r>
              <a:rPr lang="en-US" sz="3600" dirty="0"/>
              <a:t>Run this code first:</a:t>
            </a:r>
          </a:p>
          <a:p>
            <a:pPr>
              <a:spcBef>
                <a:spcPts val="0"/>
              </a:spcBef>
              <a:spcAft>
                <a:spcPts val="0"/>
              </a:spcAft>
            </a:pPr>
            <a:r>
              <a:rPr lang="en-US" sz="2800" b="1" dirty="0">
                <a:latin typeface="Courier New" panose="02070309020205020404" pitchFamily="49" charset="0"/>
                <a:cs typeface="Courier New" panose="02070309020205020404" pitchFamily="49" charset="0"/>
              </a:rPr>
              <a:t>survey &lt;- </a:t>
            </a:r>
            <a:r>
              <a:rPr lang="en-US" sz="2800" b="1" dirty="0" err="1">
                <a:latin typeface="Courier New" panose="02070309020205020404" pitchFamily="49" charset="0"/>
                <a:cs typeface="Courier New" panose="02070309020205020404" pitchFamily="49" charset="0"/>
              </a:rPr>
              <a:t>data.frame</a:t>
            </a:r>
            <a:r>
              <a:rPr lang="en-US" sz="2800" b="1" dirty="0">
                <a:latin typeface="Courier New" panose="02070309020205020404" pitchFamily="49" charset="0"/>
                <a:cs typeface="Courier New" panose="02070309020205020404" pitchFamily="49" charset="0"/>
              </a:rPr>
              <a:t>( id = 1:10, </a:t>
            </a:r>
          </a:p>
          <a:p>
            <a:pPr>
              <a:spcBef>
                <a:spcPts val="0"/>
              </a:spcBef>
              <a:spcAft>
                <a:spcPts val="0"/>
              </a:spcAft>
            </a:pPr>
            <a:r>
              <a:rPr lang="en-US" sz="2800" b="1" dirty="0" err="1">
                <a:latin typeface="Courier New" panose="02070309020205020404" pitchFamily="49" charset="0"/>
                <a:cs typeface="Courier New" panose="02070309020205020404" pitchFamily="49" charset="0"/>
              </a:rPr>
              <a:t>ever_drink</a:t>
            </a:r>
            <a:r>
              <a:rPr lang="en-US" sz="2800" b="1" dirty="0">
                <a:latin typeface="Courier New" panose="02070309020205020404" pitchFamily="49" charset="0"/>
                <a:cs typeface="Courier New" panose="02070309020205020404" pitchFamily="49" charset="0"/>
              </a:rPr>
              <a:t> = c("Yes", "No", "Yes", "No", "Yes", NA, "Yes", "No", "Yes", "Yes"), </a:t>
            </a:r>
          </a:p>
          <a:p>
            <a:pPr>
              <a:spcBef>
                <a:spcPts val="0"/>
              </a:spcBef>
              <a:spcAft>
                <a:spcPts val="0"/>
              </a:spcAft>
            </a:pPr>
            <a:r>
              <a:rPr lang="en-US" sz="2800" b="1" dirty="0">
                <a:latin typeface="Courier New" panose="02070309020205020404" pitchFamily="49" charset="0"/>
                <a:cs typeface="Courier New" panose="02070309020205020404" pitchFamily="49" charset="0"/>
              </a:rPr>
              <a:t>drink_30d = c("Yes", NA, "No", NA, "Yes", NA, NA, NA, "Yes", "No"), </a:t>
            </a:r>
          </a:p>
          <a:p>
            <a:pPr>
              <a:spcBef>
                <a:spcPts val="0"/>
              </a:spcBef>
              <a:spcAft>
                <a:spcPts val="0"/>
              </a:spcAft>
            </a:pPr>
            <a:r>
              <a:rPr lang="en-US" sz="2800" b="1" dirty="0" err="1">
                <a:latin typeface="Courier New" panose="02070309020205020404" pitchFamily="49" charset="0"/>
                <a:cs typeface="Courier New" panose="02070309020205020404" pitchFamily="49" charset="0"/>
              </a:rPr>
              <a:t>drinks_per_day</a:t>
            </a:r>
            <a:r>
              <a:rPr lang="en-US" sz="2800" b="1" dirty="0">
                <a:latin typeface="Courier New" panose="02070309020205020404" pitchFamily="49" charset="0"/>
                <a:cs typeface="Courier New" panose="02070309020205020404" pitchFamily="49" charset="0"/>
              </a:rPr>
              <a:t> = c(2, NA, NA, NA, NA, NA, NA, NA, 4, NA) )</a:t>
            </a:r>
          </a:p>
          <a:p>
            <a:endParaRPr lang="en-US" dirty="0"/>
          </a:p>
          <a:p>
            <a:endParaRPr lang="en-US" dirty="0"/>
          </a:p>
        </p:txBody>
      </p:sp>
    </p:spTree>
    <p:extLst>
      <p:ext uri="{BB962C8B-B14F-4D97-AF65-F5344CB8AC3E}">
        <p14:creationId xmlns:p14="http://schemas.microsoft.com/office/powerpoint/2010/main" val="283763958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26934-F22D-4159-1A26-ADB564B27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61F877-D4D1-08D2-9B61-1BEDF33D87D4}"/>
              </a:ext>
            </a:extLst>
          </p:cNvPr>
          <p:cNvSpPr>
            <a:spLocks noGrp="1"/>
          </p:cNvSpPr>
          <p:nvPr>
            <p:ph type="title"/>
          </p:nvPr>
        </p:nvSpPr>
        <p:spPr>
          <a:xfrm>
            <a:off x="1784974" y="2290285"/>
            <a:ext cx="18697586" cy="2323279"/>
          </a:xfrm>
        </p:spPr>
        <p:txBody>
          <a:bodyPr>
            <a:normAutofit/>
          </a:bodyPr>
          <a:lstStyle/>
          <a:p>
            <a:r>
              <a:rPr lang="en-US" dirty="0"/>
              <a:t>Linear Regression</a:t>
            </a:r>
          </a:p>
        </p:txBody>
      </p:sp>
      <p:sp>
        <p:nvSpPr>
          <p:cNvPr id="3" name="Text Placeholder 2">
            <a:extLst>
              <a:ext uri="{FF2B5EF4-FFF2-40B4-BE49-F238E27FC236}">
                <a16:creationId xmlns:a16="http://schemas.microsoft.com/office/drawing/2014/main" id="{1C1C2DE5-DD94-BA96-02E2-AB36B3259586}"/>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77A648CE-2704-9E13-AF64-779EBCB237EF}"/>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endParaRPr lang="en-US" sz="6600" dirty="0"/>
          </a:p>
        </p:txBody>
      </p:sp>
    </p:spTree>
    <p:extLst>
      <p:ext uri="{BB962C8B-B14F-4D97-AF65-F5344CB8AC3E}">
        <p14:creationId xmlns:p14="http://schemas.microsoft.com/office/powerpoint/2010/main" val="557721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marL="1403381" indent="-1028443">
              <a:buFont typeface="+mj-lt"/>
              <a:buAutoNum type="arabicPeriod"/>
            </a:pPr>
            <a:r>
              <a:rPr lang="en-US" dirty="0"/>
              <a:t>Correlation</a:t>
            </a:r>
          </a:p>
          <a:p>
            <a:pPr marL="1403381" indent="-1028443">
              <a:buFont typeface="+mj-lt"/>
              <a:buAutoNum type="arabicPeriod"/>
            </a:pPr>
            <a:r>
              <a:rPr lang="en-US" dirty="0"/>
              <a:t>Simple linear regression</a:t>
            </a:r>
          </a:p>
          <a:p>
            <a:pPr marL="1403381" indent="-1028443">
              <a:buFont typeface="+mj-lt"/>
              <a:buAutoNum type="arabicPeriod"/>
            </a:pPr>
            <a:r>
              <a:rPr lang="en-US" dirty="0"/>
              <a:t>Evaluation of model assumptions</a:t>
            </a:r>
          </a:p>
          <a:p>
            <a:pPr marL="1403381" indent="-1028443">
              <a:buFont typeface="+mj-lt"/>
              <a:buAutoNum type="arabicPeriod"/>
            </a:pPr>
            <a:r>
              <a:rPr lang="en-US" dirty="0"/>
              <a:t>Multivariate linear regression</a:t>
            </a:r>
          </a:p>
          <a:p>
            <a:pPr marL="1403381" indent="-1028443">
              <a:buFont typeface="+mj-lt"/>
              <a:buAutoNum type="arabicPeriod"/>
            </a:pPr>
            <a:r>
              <a:rPr lang="en-US" dirty="0"/>
              <a:t>Collinearity</a:t>
            </a:r>
          </a:p>
          <a:p>
            <a:pPr marL="1403381" indent="-1028443">
              <a:buFont typeface="+mj-lt"/>
              <a:buAutoNum type="arabicPeriod"/>
            </a:pPr>
            <a:r>
              <a:rPr lang="en-US" dirty="0"/>
              <a:t>Model selection</a:t>
            </a:r>
          </a:p>
        </p:txBody>
      </p:sp>
      <p:sp>
        <p:nvSpPr>
          <p:cNvPr id="3" name="Title 2"/>
          <p:cNvSpPr>
            <a:spLocks noGrp="1"/>
          </p:cNvSpPr>
          <p:nvPr>
            <p:ph type="title"/>
          </p:nvPr>
        </p:nvSpPr>
        <p:spPr/>
        <p:txBody>
          <a:bodyPr/>
          <a:lstStyle/>
          <a:p>
            <a:r>
              <a:rPr lang="en-US" dirty="0"/>
              <a:t>Linear Regression Roadmap</a:t>
            </a:r>
          </a:p>
        </p:txBody>
      </p:sp>
    </p:spTree>
    <p:extLst>
      <p:ext uri="{BB962C8B-B14F-4D97-AF65-F5344CB8AC3E}">
        <p14:creationId xmlns:p14="http://schemas.microsoft.com/office/powerpoint/2010/main" val="138855807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C940-5A1F-DB4C-20F8-E35E372BB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6FC39-975D-7E1B-4DA0-DF313917E8D0}"/>
              </a:ext>
            </a:extLst>
          </p:cNvPr>
          <p:cNvSpPr>
            <a:spLocks noGrp="1"/>
          </p:cNvSpPr>
          <p:nvPr>
            <p:ph type="title"/>
          </p:nvPr>
        </p:nvSpPr>
        <p:spPr>
          <a:xfrm>
            <a:off x="1784974" y="2290285"/>
            <a:ext cx="18697586" cy="2323279"/>
          </a:xfrm>
        </p:spPr>
        <p:txBody>
          <a:bodyPr>
            <a:normAutofit/>
          </a:bodyPr>
          <a:lstStyle/>
          <a:p>
            <a:r>
              <a:rPr lang="en-US" dirty="0"/>
              <a:t>Linear Regression</a:t>
            </a:r>
          </a:p>
        </p:txBody>
      </p:sp>
      <p:sp>
        <p:nvSpPr>
          <p:cNvPr id="3" name="Text Placeholder 2">
            <a:extLst>
              <a:ext uri="{FF2B5EF4-FFF2-40B4-BE49-F238E27FC236}">
                <a16:creationId xmlns:a16="http://schemas.microsoft.com/office/drawing/2014/main" id="{23651688-BCFC-4651-EF9C-358F4C8F5D65}"/>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9F94F24D-C929-CDC0-0421-CC81EDE97593}"/>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r>
              <a:rPr lang="en-US" sz="6600" dirty="0"/>
              <a:t>Simple linear regression</a:t>
            </a:r>
          </a:p>
        </p:txBody>
      </p:sp>
    </p:spTree>
    <p:extLst>
      <p:ext uri="{BB962C8B-B14F-4D97-AF65-F5344CB8AC3E}">
        <p14:creationId xmlns:p14="http://schemas.microsoft.com/office/powerpoint/2010/main" val="2387855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6F0729-6319-B290-9229-B8A178414452}"/>
              </a:ext>
            </a:extLst>
          </p:cNvPr>
          <p:cNvSpPr>
            <a:spLocks noGrp="1"/>
          </p:cNvSpPr>
          <p:nvPr>
            <p:ph idx="1"/>
          </p:nvPr>
        </p:nvSpPr>
        <p:spPr>
          <a:xfrm>
            <a:off x="812590" y="3556001"/>
            <a:ext cx="14122609" cy="8659814"/>
          </a:xfrm>
        </p:spPr>
        <p:txBody>
          <a:bodyPr>
            <a:normAutofit fontScale="92500"/>
          </a:bodyPr>
          <a:lstStyle/>
          <a:p>
            <a:r>
              <a:rPr lang="en-US" altLang="en-US" sz="5400" dirty="0"/>
              <a:t>Like correlation analysis, </a:t>
            </a:r>
            <a:r>
              <a:rPr lang="en-US" altLang="en-US" sz="5400" dirty="0">
                <a:solidFill>
                  <a:schemeClr val="accent5"/>
                </a:solidFill>
              </a:rPr>
              <a:t>linear regression </a:t>
            </a:r>
            <a:r>
              <a:rPr lang="en-US" altLang="en-US" sz="5400" dirty="0"/>
              <a:t>can be used to investigate the </a:t>
            </a:r>
            <a:r>
              <a:rPr lang="en-US" altLang="en-US" sz="5400" dirty="0">
                <a:solidFill>
                  <a:schemeClr val="accent5"/>
                </a:solidFill>
              </a:rPr>
              <a:t>linear relationship </a:t>
            </a:r>
            <a:r>
              <a:rPr lang="en-US" altLang="en-US" sz="5400" dirty="0"/>
              <a:t>between two continuous random variables.</a:t>
            </a:r>
          </a:p>
          <a:p>
            <a:pPr marL="685800" indent="-685800">
              <a:buFont typeface="Arial" panose="020B0604020202020204" pitchFamily="34" charset="0"/>
              <a:buChar char="•"/>
            </a:pPr>
            <a:r>
              <a:rPr lang="en-US" altLang="en-US" sz="5400" dirty="0"/>
              <a:t>Relationships between a continuous outcome variable and one or more risk factors that can be continuous, discrete, or categorical (nominal or ordinal), or some combination of these.</a:t>
            </a:r>
          </a:p>
          <a:p>
            <a:endParaRPr lang="en-US" dirty="0"/>
          </a:p>
        </p:txBody>
      </p:sp>
      <p:sp>
        <p:nvSpPr>
          <p:cNvPr id="3" name="Title 2">
            <a:extLst>
              <a:ext uri="{FF2B5EF4-FFF2-40B4-BE49-F238E27FC236}">
                <a16:creationId xmlns:a16="http://schemas.microsoft.com/office/drawing/2014/main" id="{092C997C-523D-CAC4-757B-E93D9316A694}"/>
              </a:ext>
            </a:extLst>
          </p:cNvPr>
          <p:cNvSpPr>
            <a:spLocks noGrp="1"/>
          </p:cNvSpPr>
          <p:nvPr>
            <p:ph type="title"/>
          </p:nvPr>
        </p:nvSpPr>
        <p:spPr/>
        <p:txBody>
          <a:bodyPr/>
          <a:lstStyle/>
          <a:p>
            <a:r>
              <a:rPr lang="en-US" dirty="0"/>
              <a:t>Linear regression</a:t>
            </a:r>
          </a:p>
        </p:txBody>
      </p:sp>
      <p:pic>
        <p:nvPicPr>
          <p:cNvPr id="4" name="Picture 4" descr="Correlation - Free marketing icons">
            <a:extLst>
              <a:ext uri="{FF2B5EF4-FFF2-40B4-BE49-F238E27FC236}">
                <a16:creationId xmlns:a16="http://schemas.microsoft.com/office/drawing/2014/main" id="{BFDEBE9F-FBDF-09BB-15D5-10603F90DA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4182" y="3657601"/>
            <a:ext cx="54102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4882304"/>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18C4-D646-DE58-71D4-12FA1EA991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36CCBF-D4ED-E0ED-4D8D-D25AAE291720}"/>
              </a:ext>
            </a:extLst>
          </p:cNvPr>
          <p:cNvSpPr>
            <a:spLocks noGrp="1"/>
          </p:cNvSpPr>
          <p:nvPr>
            <p:ph idx="1"/>
          </p:nvPr>
        </p:nvSpPr>
        <p:spPr>
          <a:xfrm>
            <a:off x="812590" y="3556001"/>
            <a:ext cx="14122609" cy="8659814"/>
          </a:xfrm>
        </p:spPr>
        <p:txBody>
          <a:bodyPr>
            <a:normAutofit/>
          </a:bodyPr>
          <a:lstStyle/>
          <a:p>
            <a:r>
              <a:rPr lang="en-US" dirty="0"/>
              <a:t>Linear regression can be used to </a:t>
            </a:r>
          </a:p>
          <a:p>
            <a:pPr marL="685800" indent="-685800">
              <a:spcBef>
                <a:spcPts val="0"/>
              </a:spcBef>
              <a:buFont typeface="Arial" panose="020B0604020202020204" pitchFamily="34" charset="0"/>
              <a:buChar char="•"/>
              <a:defRPr/>
            </a:pPr>
            <a:r>
              <a:rPr lang="en-US" altLang="en-US" dirty="0">
                <a:solidFill>
                  <a:schemeClr val="accent5"/>
                </a:solidFill>
              </a:rPr>
              <a:t>Estimate</a:t>
            </a:r>
            <a:r>
              <a:rPr lang="en-US" altLang="en-US" dirty="0"/>
              <a:t> or </a:t>
            </a:r>
            <a:r>
              <a:rPr lang="en-US" altLang="en-US" dirty="0">
                <a:solidFill>
                  <a:schemeClr val="accent5"/>
                </a:solidFill>
              </a:rPr>
              <a:t>predict</a:t>
            </a:r>
            <a:r>
              <a:rPr lang="en-US" altLang="en-US" dirty="0"/>
              <a:t> the value of a continuous outcome measurement given a set of risk factors</a:t>
            </a:r>
          </a:p>
          <a:p>
            <a:pPr marL="685800" indent="-685800">
              <a:spcBef>
                <a:spcPts val="0"/>
              </a:spcBef>
              <a:buFont typeface="Arial" panose="020B0604020202020204" pitchFamily="34" charset="0"/>
              <a:buChar char="•"/>
              <a:defRPr/>
            </a:pPr>
            <a:r>
              <a:rPr lang="en-US" altLang="en-US" dirty="0"/>
              <a:t>Adjust for </a:t>
            </a:r>
            <a:r>
              <a:rPr lang="en-US" altLang="en-US" dirty="0">
                <a:solidFill>
                  <a:schemeClr val="accent5"/>
                </a:solidFill>
              </a:rPr>
              <a:t>confounders</a:t>
            </a:r>
            <a:r>
              <a:rPr lang="en-US" altLang="en-US" dirty="0"/>
              <a:t> when examining the relationship between an exposure and a continuous outcome </a:t>
            </a:r>
          </a:p>
          <a:p>
            <a:pPr marL="685800" indent="-685800">
              <a:spcBef>
                <a:spcPts val="0"/>
              </a:spcBef>
              <a:buFont typeface="Arial" panose="020B0604020202020204" pitchFamily="34" charset="0"/>
              <a:buChar char="•"/>
              <a:defRPr/>
            </a:pPr>
            <a:r>
              <a:rPr lang="en-US" altLang="en-US" dirty="0"/>
              <a:t>Test for </a:t>
            </a:r>
            <a:r>
              <a:rPr lang="en-US" altLang="en-US" dirty="0">
                <a:solidFill>
                  <a:schemeClr val="accent5"/>
                </a:solidFill>
              </a:rPr>
              <a:t>effect measure modification</a:t>
            </a:r>
            <a:endParaRPr lang="en-US" dirty="0"/>
          </a:p>
        </p:txBody>
      </p:sp>
      <p:sp>
        <p:nvSpPr>
          <p:cNvPr id="3" name="Title 2">
            <a:extLst>
              <a:ext uri="{FF2B5EF4-FFF2-40B4-BE49-F238E27FC236}">
                <a16:creationId xmlns:a16="http://schemas.microsoft.com/office/drawing/2014/main" id="{8FA9A04A-D6B9-C44E-CB6A-5466EE9AAA0B}"/>
              </a:ext>
            </a:extLst>
          </p:cNvPr>
          <p:cNvSpPr>
            <a:spLocks noGrp="1"/>
          </p:cNvSpPr>
          <p:nvPr>
            <p:ph type="title"/>
          </p:nvPr>
        </p:nvSpPr>
        <p:spPr/>
        <p:txBody>
          <a:bodyPr/>
          <a:lstStyle/>
          <a:p>
            <a:r>
              <a:rPr lang="en-US" dirty="0"/>
              <a:t>Linear regression</a:t>
            </a:r>
          </a:p>
        </p:txBody>
      </p:sp>
      <p:pic>
        <p:nvPicPr>
          <p:cNvPr id="4" name="Picture 4" descr="Correlation - Free marketing icons">
            <a:extLst>
              <a:ext uri="{FF2B5EF4-FFF2-40B4-BE49-F238E27FC236}">
                <a16:creationId xmlns:a16="http://schemas.microsoft.com/office/drawing/2014/main" id="{6F225670-71E2-0BF1-0B14-F6DA051CFF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74182" y="3657601"/>
            <a:ext cx="54102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89773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CFC50E-5E4D-D356-266B-3D3357B748FC}"/>
              </a:ext>
            </a:extLst>
          </p:cNvPr>
          <p:cNvSpPr>
            <a:spLocks noGrp="1"/>
          </p:cNvSpPr>
          <p:nvPr>
            <p:ph idx="1"/>
          </p:nvPr>
        </p:nvSpPr>
        <p:spPr>
          <a:xfrm>
            <a:off x="812591" y="3556001"/>
            <a:ext cx="12624010" cy="8659814"/>
          </a:xfrm>
        </p:spPr>
        <p:txBody>
          <a:bodyPr>
            <a:normAutofit fontScale="92500" lnSpcReduction="20000"/>
          </a:bodyPr>
          <a:lstStyle/>
          <a:p>
            <a:r>
              <a:rPr lang="en-US" dirty="0"/>
              <a:t>Simple linear regression can be used to explore the nature of the relationship between </a:t>
            </a:r>
            <a:r>
              <a:rPr lang="en-US" dirty="0">
                <a:solidFill>
                  <a:schemeClr val="accent5"/>
                </a:solidFill>
              </a:rPr>
              <a:t>two continuous variables</a:t>
            </a:r>
          </a:p>
          <a:p>
            <a:pPr marL="685800" indent="-685800">
              <a:buFont typeface="Arial" panose="020B0604020202020204" pitchFamily="34" charset="0"/>
              <a:buChar char="•"/>
            </a:pPr>
            <a:r>
              <a:rPr lang="en-US" dirty="0"/>
              <a:t>Regression looks at the change in one variable (</a:t>
            </a:r>
            <a:r>
              <a:rPr lang="en-US" dirty="0">
                <a:solidFill>
                  <a:schemeClr val="accent5"/>
                </a:solidFill>
              </a:rPr>
              <a:t>outcome</a:t>
            </a:r>
            <a:r>
              <a:rPr lang="en-US" dirty="0"/>
              <a:t> or </a:t>
            </a:r>
            <a:r>
              <a:rPr lang="en-US" dirty="0">
                <a:solidFill>
                  <a:schemeClr val="accent5"/>
                </a:solidFill>
              </a:rPr>
              <a:t>response</a:t>
            </a:r>
            <a:r>
              <a:rPr lang="en-US" dirty="0"/>
              <a:t> or </a:t>
            </a:r>
            <a:r>
              <a:rPr lang="en-US" dirty="0">
                <a:solidFill>
                  <a:schemeClr val="accent5"/>
                </a:solidFill>
              </a:rPr>
              <a:t>dependent variable</a:t>
            </a:r>
            <a:r>
              <a:rPr lang="en-US" dirty="0"/>
              <a:t>) that corresponds to a given change in the other variable (</a:t>
            </a:r>
            <a:r>
              <a:rPr lang="en-US" dirty="0">
                <a:solidFill>
                  <a:schemeClr val="accent5"/>
                </a:solidFill>
              </a:rPr>
              <a:t>explanatory variable</a:t>
            </a:r>
            <a:r>
              <a:rPr lang="en-US" dirty="0"/>
              <a:t> or </a:t>
            </a:r>
            <a:r>
              <a:rPr lang="en-US" dirty="0">
                <a:solidFill>
                  <a:schemeClr val="accent5"/>
                </a:solidFill>
              </a:rPr>
              <a:t>exposure</a:t>
            </a:r>
            <a:r>
              <a:rPr lang="en-US" dirty="0"/>
              <a:t> or </a:t>
            </a:r>
            <a:r>
              <a:rPr lang="en-US" dirty="0">
                <a:solidFill>
                  <a:schemeClr val="accent5"/>
                </a:solidFill>
              </a:rPr>
              <a:t>predictor</a:t>
            </a:r>
            <a:r>
              <a:rPr lang="en-US" dirty="0"/>
              <a:t> or </a:t>
            </a:r>
            <a:r>
              <a:rPr lang="en-US" dirty="0">
                <a:solidFill>
                  <a:schemeClr val="accent5"/>
                </a:solidFill>
              </a:rPr>
              <a:t>covariate</a:t>
            </a:r>
            <a:r>
              <a:rPr lang="en-US" dirty="0"/>
              <a:t> or </a:t>
            </a:r>
            <a:r>
              <a:rPr lang="en-US" dirty="0">
                <a:solidFill>
                  <a:schemeClr val="accent5"/>
                </a:solidFill>
              </a:rPr>
              <a:t>independent variable</a:t>
            </a:r>
            <a:r>
              <a:rPr lang="en-US" dirty="0"/>
              <a:t>)</a:t>
            </a:r>
          </a:p>
        </p:txBody>
      </p:sp>
      <p:sp>
        <p:nvSpPr>
          <p:cNvPr id="3" name="Title 2">
            <a:extLst>
              <a:ext uri="{FF2B5EF4-FFF2-40B4-BE49-F238E27FC236}">
                <a16:creationId xmlns:a16="http://schemas.microsoft.com/office/drawing/2014/main" id="{AD33D1B3-D4DC-CFD4-2251-37E743F0C762}"/>
              </a:ext>
            </a:extLst>
          </p:cNvPr>
          <p:cNvSpPr>
            <a:spLocks noGrp="1"/>
          </p:cNvSpPr>
          <p:nvPr>
            <p:ph type="title"/>
          </p:nvPr>
        </p:nvSpPr>
        <p:spPr/>
        <p:txBody>
          <a:bodyPr/>
          <a:lstStyle/>
          <a:p>
            <a:r>
              <a:rPr lang="en-US" dirty="0"/>
              <a:t>Simple linear regression</a:t>
            </a:r>
          </a:p>
        </p:txBody>
      </p:sp>
      <p:pic>
        <p:nvPicPr>
          <p:cNvPr id="4" name="Graphic 3">
            <a:extLst>
              <a:ext uri="{FF2B5EF4-FFF2-40B4-BE49-F238E27FC236}">
                <a16:creationId xmlns:a16="http://schemas.microsoft.com/office/drawing/2014/main" id="{BC95ED8C-DC38-B4B0-47B9-C086FA8CC06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211278" y="3556001"/>
            <a:ext cx="5353782" cy="7965383"/>
          </a:xfrm>
          <a:prstGeom prst="rect">
            <a:avLst/>
          </a:prstGeom>
        </p:spPr>
      </p:pic>
      <p:sp>
        <p:nvSpPr>
          <p:cNvPr id="5" name="Content Placeholder 1">
            <a:extLst>
              <a:ext uri="{FF2B5EF4-FFF2-40B4-BE49-F238E27FC236}">
                <a16:creationId xmlns:a16="http://schemas.microsoft.com/office/drawing/2014/main" id="{B6CDF8E6-7DD4-ED55-8A80-7381818B535C}"/>
              </a:ext>
            </a:extLst>
          </p:cNvPr>
          <p:cNvSpPr txBox="1">
            <a:spLocks/>
          </p:cNvSpPr>
          <p:nvPr/>
        </p:nvSpPr>
        <p:spPr>
          <a:xfrm>
            <a:off x="14452078" y="3556001"/>
            <a:ext cx="3759200" cy="8659814"/>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4800" dirty="0"/>
              <a:t>y = mx + b</a:t>
            </a:r>
          </a:p>
          <a:p>
            <a:r>
              <a:rPr lang="en-US" sz="4800" dirty="0"/>
              <a:t>m: slope</a:t>
            </a:r>
          </a:p>
          <a:p>
            <a:r>
              <a:rPr lang="en-US" sz="4800" dirty="0"/>
              <a:t>b: y intercept</a:t>
            </a:r>
          </a:p>
        </p:txBody>
      </p:sp>
    </p:spTree>
    <p:extLst>
      <p:ext uri="{BB962C8B-B14F-4D97-AF65-F5344CB8AC3E}">
        <p14:creationId xmlns:p14="http://schemas.microsoft.com/office/powerpoint/2010/main" val="404239311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B3FF85-0D0E-8553-C31A-2CC8303B070E}"/>
              </a:ext>
            </a:extLst>
          </p:cNvPr>
          <p:cNvSpPr>
            <a:spLocks noGrp="1"/>
          </p:cNvSpPr>
          <p:nvPr>
            <p:ph idx="1"/>
          </p:nvPr>
        </p:nvSpPr>
        <p:spPr>
          <a:xfrm>
            <a:off x="812590" y="3556001"/>
            <a:ext cx="22199810" cy="8659814"/>
          </a:xfrm>
        </p:spPr>
        <p:txBody>
          <a:bodyPr>
            <a:normAutofit lnSpcReduction="10000"/>
          </a:bodyPr>
          <a:lstStyle/>
          <a:p>
            <a:pPr marL="914400" indent="-914400">
              <a:spcBef>
                <a:spcPct val="0"/>
              </a:spcBef>
              <a:buFont typeface="+mj-lt"/>
              <a:buAutoNum type="arabicPeriod"/>
              <a:defRPr/>
            </a:pPr>
            <a:r>
              <a:rPr lang="en-US" altLang="en-US" sz="5400" dirty="0">
                <a:solidFill>
                  <a:schemeClr val="accent5"/>
                </a:solidFill>
              </a:rPr>
              <a:t>Linearity</a:t>
            </a:r>
            <a:r>
              <a:rPr lang="en-US" altLang="en-US" sz="5400" dirty="0"/>
              <a:t>: </a:t>
            </a:r>
          </a:p>
          <a:p>
            <a:pPr marL="1599971" lvl="1" indent="-685800">
              <a:spcBef>
                <a:spcPct val="0"/>
              </a:spcBef>
              <a:buFont typeface="Arial" panose="020B0604020202020204" pitchFamily="34" charset="0"/>
              <a:buChar char="•"/>
              <a:defRPr/>
            </a:pPr>
            <a:r>
              <a:rPr lang="en-US" altLang="en-US" sz="5400" dirty="0"/>
              <a:t>The relationship between </a:t>
            </a:r>
            <a:r>
              <a:rPr lang="el-GR" altLang="en-US" sz="5400" i="1" dirty="0"/>
              <a:t>μ</a:t>
            </a:r>
            <a:r>
              <a:rPr lang="en-US" altLang="en-US" sz="5400" i="1" baseline="-25000" dirty="0" err="1"/>
              <a:t>y</a:t>
            </a:r>
            <a:r>
              <a:rPr lang="en-US" altLang="en-US" sz="5400" baseline="-25000" dirty="0" err="1"/>
              <a:t>|x</a:t>
            </a:r>
            <a:r>
              <a:rPr lang="en-US" altLang="en-US" sz="5400" dirty="0"/>
              <a:t> (mean of </a:t>
            </a:r>
            <a:r>
              <a:rPr lang="en-US" altLang="en-US" sz="5400" i="1" dirty="0"/>
              <a:t>y</a:t>
            </a:r>
            <a:r>
              <a:rPr lang="en-US" altLang="en-US" sz="5400" dirty="0"/>
              <a:t> given </a:t>
            </a:r>
            <a:r>
              <a:rPr lang="en-US" altLang="en-US" sz="5400" i="1" dirty="0"/>
              <a:t>x</a:t>
            </a:r>
            <a:r>
              <a:rPr lang="en-US" altLang="en-US" sz="5400" dirty="0"/>
              <a:t>) and </a:t>
            </a:r>
            <a:r>
              <a:rPr lang="en-US" altLang="en-US" sz="5400" i="1" dirty="0"/>
              <a:t>x</a:t>
            </a:r>
            <a:r>
              <a:rPr lang="en-US" altLang="en-US" sz="5400" dirty="0"/>
              <a:t> is linear</a:t>
            </a:r>
          </a:p>
          <a:p>
            <a:pPr marL="914400" indent="-914400">
              <a:spcBef>
                <a:spcPct val="0"/>
              </a:spcBef>
              <a:buFont typeface="+mj-lt"/>
              <a:buAutoNum type="arabicPeriod"/>
              <a:defRPr/>
            </a:pPr>
            <a:r>
              <a:rPr lang="en-US" altLang="en-US" sz="5400" dirty="0">
                <a:solidFill>
                  <a:schemeClr val="accent5"/>
                </a:solidFill>
              </a:rPr>
              <a:t>Normality</a:t>
            </a:r>
            <a:r>
              <a:rPr lang="en-US" altLang="en-US" sz="5400" dirty="0"/>
              <a:t>: </a:t>
            </a:r>
          </a:p>
          <a:p>
            <a:pPr marL="1599971" lvl="1" indent="-685800">
              <a:spcBef>
                <a:spcPct val="0"/>
              </a:spcBef>
              <a:buFont typeface="Arial" panose="020B0604020202020204" pitchFamily="34" charset="0"/>
              <a:buChar char="•"/>
              <a:defRPr/>
            </a:pPr>
            <a:r>
              <a:rPr lang="en-US" altLang="en-US" sz="5400" dirty="0"/>
              <a:t>For a given value of </a:t>
            </a:r>
            <a:r>
              <a:rPr lang="en-US" altLang="en-US" sz="5400" i="1" dirty="0"/>
              <a:t>x, y</a:t>
            </a:r>
            <a:r>
              <a:rPr lang="en-US" altLang="en-US" sz="5400" dirty="0"/>
              <a:t> is normally distributed</a:t>
            </a:r>
          </a:p>
          <a:p>
            <a:pPr marL="914400" indent="-914400">
              <a:spcBef>
                <a:spcPct val="0"/>
              </a:spcBef>
              <a:buFont typeface="+mj-lt"/>
              <a:buAutoNum type="arabicPeriod"/>
              <a:defRPr/>
            </a:pPr>
            <a:r>
              <a:rPr lang="en-US" altLang="en-US" sz="5400" dirty="0">
                <a:solidFill>
                  <a:schemeClr val="accent5"/>
                </a:solidFill>
              </a:rPr>
              <a:t>Homoscedasticity</a:t>
            </a:r>
            <a:r>
              <a:rPr lang="en-US" altLang="en-US" sz="5400" dirty="0"/>
              <a:t>: </a:t>
            </a:r>
          </a:p>
          <a:p>
            <a:pPr marL="1599971" lvl="1" indent="-685800">
              <a:spcBef>
                <a:spcPct val="0"/>
              </a:spcBef>
              <a:buFont typeface="Arial" panose="020B0604020202020204" pitchFamily="34" charset="0"/>
              <a:buChar char="•"/>
              <a:defRPr/>
            </a:pPr>
            <a:r>
              <a:rPr lang="en-US" altLang="en-US" sz="5400" dirty="0"/>
              <a:t>The standard deviation </a:t>
            </a:r>
            <a:r>
              <a:rPr lang="el-GR" altLang="en-US" sz="5400" dirty="0"/>
              <a:t>σ</a:t>
            </a:r>
            <a:r>
              <a:rPr lang="en-US" altLang="en-US" sz="5400" baseline="-25000" dirty="0" err="1">
                <a:sym typeface="Euclid Symbol" pitchFamily="18" charset="2"/>
              </a:rPr>
              <a:t>y|x</a:t>
            </a:r>
            <a:r>
              <a:rPr lang="en-US" altLang="en-US" sz="5400" dirty="0"/>
              <a:t> is constant for all </a:t>
            </a:r>
            <a:r>
              <a:rPr lang="en-US" altLang="en-US" sz="5400" i="1" dirty="0"/>
              <a:t>x</a:t>
            </a:r>
          </a:p>
          <a:p>
            <a:pPr marL="914400" indent="-914400">
              <a:spcBef>
                <a:spcPct val="0"/>
              </a:spcBef>
              <a:buFont typeface="+mj-lt"/>
              <a:buAutoNum type="arabicPeriod"/>
              <a:defRPr/>
            </a:pPr>
            <a:r>
              <a:rPr lang="en-US" altLang="en-US" sz="5400" dirty="0">
                <a:solidFill>
                  <a:schemeClr val="accent5"/>
                </a:solidFill>
              </a:rPr>
              <a:t>Independence</a:t>
            </a:r>
            <a:r>
              <a:rPr lang="en-US" altLang="en-US" sz="5400" dirty="0"/>
              <a:t>: </a:t>
            </a:r>
          </a:p>
          <a:p>
            <a:pPr marL="1599971" lvl="1" indent="-685800">
              <a:spcBef>
                <a:spcPct val="0"/>
              </a:spcBef>
              <a:buFont typeface="Arial" panose="020B0604020202020204" pitchFamily="34" charset="0"/>
              <a:buChar char="•"/>
              <a:defRPr/>
            </a:pPr>
            <a:r>
              <a:rPr lang="en-US" altLang="en-US" sz="5400" dirty="0"/>
              <a:t>We have </a:t>
            </a:r>
            <a:r>
              <a:rPr lang="en-US" altLang="en-US" sz="5400" i="1" dirty="0"/>
              <a:t>n</a:t>
            </a:r>
            <a:r>
              <a:rPr lang="en-US" altLang="en-US" sz="5400" dirty="0"/>
              <a:t> independent pairs of observations</a:t>
            </a:r>
          </a:p>
          <a:p>
            <a:endParaRPr lang="en-US" dirty="0"/>
          </a:p>
        </p:txBody>
      </p:sp>
      <p:sp>
        <p:nvSpPr>
          <p:cNvPr id="3" name="Title 2">
            <a:extLst>
              <a:ext uri="{FF2B5EF4-FFF2-40B4-BE49-F238E27FC236}">
                <a16:creationId xmlns:a16="http://schemas.microsoft.com/office/drawing/2014/main" id="{846659F5-89AA-1229-0D31-1C2E3D1892E8}"/>
              </a:ext>
            </a:extLst>
          </p:cNvPr>
          <p:cNvSpPr>
            <a:spLocks noGrp="1"/>
          </p:cNvSpPr>
          <p:nvPr>
            <p:ph type="title"/>
          </p:nvPr>
        </p:nvSpPr>
        <p:spPr/>
        <p:txBody>
          <a:bodyPr/>
          <a:lstStyle/>
          <a:p>
            <a:r>
              <a:rPr lang="en-US" dirty="0"/>
              <a:t>Assumptions</a:t>
            </a:r>
          </a:p>
        </p:txBody>
      </p:sp>
    </p:spTree>
    <p:extLst>
      <p:ext uri="{BB962C8B-B14F-4D97-AF65-F5344CB8AC3E}">
        <p14:creationId xmlns:p14="http://schemas.microsoft.com/office/powerpoint/2010/main" val="138021500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EFD69B-3021-1DA0-BD38-01813B48DF82}"/>
              </a:ext>
            </a:extLst>
          </p:cNvPr>
          <p:cNvSpPr>
            <a:spLocks noGrp="1"/>
          </p:cNvSpPr>
          <p:nvPr>
            <p:ph type="title"/>
          </p:nvPr>
        </p:nvSpPr>
        <p:spPr/>
        <p:txBody>
          <a:bodyPr/>
          <a:lstStyle/>
          <a:p>
            <a:r>
              <a:rPr lang="en-US" dirty="0"/>
              <a:t>Example: Prenatal care</a:t>
            </a:r>
          </a:p>
        </p:txBody>
      </p:sp>
      <p:pic>
        <p:nvPicPr>
          <p:cNvPr id="4" name="Picture 3" descr="A screenshot of a computer&#10;&#10;AI-generated content may be incorrect.">
            <a:extLst>
              <a:ext uri="{FF2B5EF4-FFF2-40B4-BE49-F238E27FC236}">
                <a16:creationId xmlns:a16="http://schemas.microsoft.com/office/drawing/2014/main" id="{07EF57E3-3246-CC03-DC59-503C351AAE5F}"/>
              </a:ext>
            </a:extLst>
          </p:cNvPr>
          <p:cNvPicPr>
            <a:picLocks noChangeAspect="1"/>
          </p:cNvPicPr>
          <p:nvPr/>
        </p:nvPicPr>
        <p:blipFill>
          <a:blip r:embed="rId3"/>
          <a:stretch>
            <a:fillRect/>
          </a:stretch>
        </p:blipFill>
        <p:spPr>
          <a:xfrm>
            <a:off x="3401977" y="3110449"/>
            <a:ext cx="17573696" cy="8965763"/>
          </a:xfrm>
          <a:prstGeom prst="rect">
            <a:avLst/>
          </a:prstGeom>
        </p:spPr>
      </p:pic>
    </p:spTree>
    <p:extLst>
      <p:ext uri="{BB962C8B-B14F-4D97-AF65-F5344CB8AC3E}">
        <p14:creationId xmlns:p14="http://schemas.microsoft.com/office/powerpoint/2010/main" val="358781499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AE3D3F8-9742-48E8-D145-6BE372E59A91}"/>
              </a:ext>
            </a:extLst>
          </p:cNvPr>
          <p:cNvSpPr>
            <a:spLocks noGrp="1"/>
          </p:cNvSpPr>
          <p:nvPr>
            <p:ph idx="1"/>
          </p:nvPr>
        </p:nvSpPr>
        <p:spPr>
          <a:xfrm>
            <a:off x="812591" y="3556001"/>
            <a:ext cx="9449009" cy="8659814"/>
          </a:xfrm>
        </p:spPr>
        <p:txBody>
          <a:bodyPr/>
          <a:lstStyle/>
          <a:p>
            <a:r>
              <a:rPr lang="en-US" dirty="0"/>
              <a:t>Suppose the outcome is birthweight in grams and the exposure is gestational age in weeks.</a:t>
            </a:r>
          </a:p>
          <a:p>
            <a:pPr marL="685800" indent="-685800">
              <a:buFont typeface="Arial" panose="020B0604020202020204" pitchFamily="34" charset="0"/>
              <a:buChar char="•"/>
            </a:pPr>
            <a:r>
              <a:rPr lang="en-US" dirty="0"/>
              <a:t>A linear regression model will quantify how birthweight and gestational age are associated</a:t>
            </a:r>
          </a:p>
        </p:txBody>
      </p:sp>
      <p:sp>
        <p:nvSpPr>
          <p:cNvPr id="3" name="Title 2">
            <a:extLst>
              <a:ext uri="{FF2B5EF4-FFF2-40B4-BE49-F238E27FC236}">
                <a16:creationId xmlns:a16="http://schemas.microsoft.com/office/drawing/2014/main" id="{200CD23E-F29C-11B6-4D40-511EE5289B5B}"/>
              </a:ext>
            </a:extLst>
          </p:cNvPr>
          <p:cNvSpPr>
            <a:spLocks noGrp="1"/>
          </p:cNvSpPr>
          <p:nvPr>
            <p:ph type="title"/>
          </p:nvPr>
        </p:nvSpPr>
        <p:spPr/>
        <p:txBody>
          <a:bodyPr/>
          <a:lstStyle/>
          <a:p>
            <a:r>
              <a:rPr lang="en-US" dirty="0"/>
              <a:t>Example: Prenatal care</a:t>
            </a:r>
          </a:p>
        </p:txBody>
      </p:sp>
      <p:pic>
        <p:nvPicPr>
          <p:cNvPr id="5" name="Picture 4" descr="A graph of a number of red dots&#10;&#10;AI-generated content may be incorrect.">
            <a:extLst>
              <a:ext uri="{FF2B5EF4-FFF2-40B4-BE49-F238E27FC236}">
                <a16:creationId xmlns:a16="http://schemas.microsoft.com/office/drawing/2014/main" id="{D33F16FE-E31D-98A0-EEA8-FC808713D01B}"/>
              </a:ext>
            </a:extLst>
          </p:cNvPr>
          <p:cNvPicPr>
            <a:picLocks noChangeAspect="1"/>
          </p:cNvPicPr>
          <p:nvPr/>
        </p:nvPicPr>
        <p:blipFill>
          <a:blip r:embed="rId3"/>
          <a:stretch>
            <a:fillRect/>
          </a:stretch>
        </p:blipFill>
        <p:spPr>
          <a:xfrm>
            <a:off x="11007866" y="3110448"/>
            <a:ext cx="12811125" cy="9007434"/>
          </a:xfrm>
          <a:prstGeom prst="rect">
            <a:avLst/>
          </a:prstGeom>
        </p:spPr>
      </p:pic>
    </p:spTree>
    <p:extLst>
      <p:ext uri="{BB962C8B-B14F-4D97-AF65-F5344CB8AC3E}">
        <p14:creationId xmlns:p14="http://schemas.microsoft.com/office/powerpoint/2010/main" val="4090853729"/>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070A8-5370-A472-789D-7F8033DC689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D52509-0C15-3A0F-44EF-2FA083EACF56}"/>
              </a:ext>
            </a:extLst>
          </p:cNvPr>
          <p:cNvSpPr>
            <a:spLocks noGrp="1"/>
          </p:cNvSpPr>
          <p:nvPr>
            <p:ph idx="1"/>
          </p:nvPr>
        </p:nvSpPr>
        <p:spPr>
          <a:xfrm>
            <a:off x="812591" y="3556001"/>
            <a:ext cx="10896809" cy="8659814"/>
          </a:xfrm>
        </p:spPr>
        <p:txBody>
          <a:bodyPr>
            <a:normAutofit/>
          </a:bodyPr>
          <a:lstStyle/>
          <a:p>
            <a:r>
              <a:rPr lang="en-US" dirty="0"/>
              <a:t>The </a:t>
            </a:r>
            <a:r>
              <a:rPr lang="en-US" b="1" dirty="0" err="1">
                <a:solidFill>
                  <a:schemeClr val="accent5"/>
                </a:solidFill>
                <a:latin typeface="Courier New" panose="02070309020205020404" pitchFamily="49" charset="0"/>
                <a:cs typeface="Courier New" panose="02070309020205020404" pitchFamily="49" charset="0"/>
              </a:rPr>
              <a:t>lm</a:t>
            </a:r>
            <a:r>
              <a:rPr lang="en-US" dirty="0"/>
              <a:t> function stands for </a:t>
            </a:r>
            <a:r>
              <a:rPr lang="en-US" dirty="0">
                <a:solidFill>
                  <a:schemeClr val="accent5"/>
                </a:solidFill>
              </a:rPr>
              <a:t>linear model </a:t>
            </a:r>
            <a:r>
              <a:rPr lang="en-US" dirty="0"/>
              <a:t>and is used to fit a linear regression model</a:t>
            </a:r>
          </a:p>
          <a:p>
            <a:pPr marL="685800" indent="-685800">
              <a:buFont typeface="Arial" panose="020B0604020202020204" pitchFamily="34" charset="0"/>
              <a:buChar char="•"/>
            </a:pPr>
            <a:r>
              <a:rPr lang="en-US" dirty="0"/>
              <a:t>The primary inputs are formula and data</a:t>
            </a:r>
          </a:p>
          <a:p>
            <a:pPr marL="685800" indent="-685800">
              <a:buFont typeface="Arial" panose="020B0604020202020204" pitchFamily="34" charset="0"/>
              <a:buChar char="•"/>
            </a:pPr>
            <a:r>
              <a:rPr lang="en-US" dirty="0"/>
              <a:t>Simple linear regression formula: </a:t>
            </a:r>
            <a:r>
              <a:rPr lang="en-US" b="1" dirty="0">
                <a:solidFill>
                  <a:schemeClr val="accent5"/>
                </a:solidFill>
                <a:latin typeface="Courier New" panose="02070309020205020404" pitchFamily="49" charset="0"/>
                <a:cs typeface="Courier New" panose="02070309020205020404" pitchFamily="49" charset="0"/>
              </a:rPr>
              <a:t>outcome ~ predictor</a:t>
            </a:r>
          </a:p>
        </p:txBody>
      </p:sp>
      <p:sp>
        <p:nvSpPr>
          <p:cNvPr id="3" name="Title 2">
            <a:extLst>
              <a:ext uri="{FF2B5EF4-FFF2-40B4-BE49-F238E27FC236}">
                <a16:creationId xmlns:a16="http://schemas.microsoft.com/office/drawing/2014/main" id="{052DE6A9-3131-AC84-A4C1-F121DF7F6A23}"/>
              </a:ext>
            </a:extLst>
          </p:cNvPr>
          <p:cNvSpPr>
            <a:spLocks noGrp="1"/>
          </p:cNvSpPr>
          <p:nvPr>
            <p:ph type="title"/>
          </p:nvPr>
        </p:nvSpPr>
        <p:spPr/>
        <p:txBody>
          <a:bodyPr/>
          <a:lstStyle/>
          <a:p>
            <a:r>
              <a:rPr lang="en-US" dirty="0"/>
              <a:t>The </a:t>
            </a:r>
            <a:r>
              <a:rPr lang="en-US" dirty="0" err="1">
                <a:solidFill>
                  <a:schemeClr val="accent5"/>
                </a:solidFill>
                <a:latin typeface="Courier New" panose="02070309020205020404" pitchFamily="49" charset="0"/>
                <a:cs typeface="Courier New" panose="02070309020205020404" pitchFamily="49" charset="0"/>
              </a:rPr>
              <a:t>lm</a:t>
            </a:r>
            <a:r>
              <a:rPr lang="en-US" dirty="0"/>
              <a:t> function</a:t>
            </a:r>
          </a:p>
        </p:txBody>
      </p:sp>
      <p:pic>
        <p:nvPicPr>
          <p:cNvPr id="5" name="Picture 4" descr="A white rectangular sign with black text&#10;&#10;AI-generated content may be incorrect.">
            <a:extLst>
              <a:ext uri="{FF2B5EF4-FFF2-40B4-BE49-F238E27FC236}">
                <a16:creationId xmlns:a16="http://schemas.microsoft.com/office/drawing/2014/main" id="{4C1FFFD1-1E20-7423-BB23-E70717C80034}"/>
              </a:ext>
            </a:extLst>
          </p:cNvPr>
          <p:cNvPicPr>
            <a:picLocks noChangeAspect="1"/>
          </p:cNvPicPr>
          <p:nvPr/>
        </p:nvPicPr>
        <p:blipFill>
          <a:blip r:embed="rId3"/>
          <a:stretch>
            <a:fillRect/>
          </a:stretch>
        </p:blipFill>
        <p:spPr>
          <a:xfrm>
            <a:off x="12188825" y="3556001"/>
            <a:ext cx="11964410" cy="1752599"/>
          </a:xfrm>
          <a:prstGeom prst="rect">
            <a:avLst/>
          </a:prstGeom>
        </p:spPr>
      </p:pic>
      <p:sp>
        <p:nvSpPr>
          <p:cNvPr id="6" name="Content Placeholder 1">
            <a:extLst>
              <a:ext uri="{FF2B5EF4-FFF2-40B4-BE49-F238E27FC236}">
                <a16:creationId xmlns:a16="http://schemas.microsoft.com/office/drawing/2014/main" id="{6F266B6D-8DF0-C9BE-F7F3-813222D7DCC7}"/>
              </a:ext>
            </a:extLst>
          </p:cNvPr>
          <p:cNvSpPr txBox="1">
            <a:spLocks/>
          </p:cNvSpPr>
          <p:nvPr/>
        </p:nvSpPr>
        <p:spPr>
          <a:xfrm>
            <a:off x="12188825" y="5562599"/>
            <a:ext cx="11964410" cy="6653215"/>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4800" dirty="0"/>
              <a:t>Regression line equation:</a:t>
            </a:r>
          </a:p>
          <a:p>
            <a:pPr algn="ctr"/>
            <a:r>
              <a:rPr lang="el-GR" altLang="en-US" sz="4800" dirty="0"/>
              <a:t>μ</a:t>
            </a:r>
            <a:r>
              <a:rPr lang="en-US" altLang="en-US" sz="4800" baseline="-25000" dirty="0" err="1"/>
              <a:t>y|x</a:t>
            </a:r>
            <a:r>
              <a:rPr lang="en-US" sz="4800" dirty="0"/>
              <a:t> = β</a:t>
            </a:r>
            <a:r>
              <a:rPr lang="en-US" sz="4800" baseline="-25000" dirty="0"/>
              <a:t>1</a:t>
            </a:r>
            <a:r>
              <a:rPr lang="en-US" sz="4800" dirty="0"/>
              <a:t>x + β</a:t>
            </a:r>
            <a:r>
              <a:rPr lang="en-US" sz="4800" baseline="-25000" dirty="0"/>
              <a:t>0</a:t>
            </a:r>
            <a:endParaRPr lang="en-US" sz="4800" dirty="0"/>
          </a:p>
          <a:p>
            <a:pPr algn="ctr"/>
            <a:r>
              <a:rPr lang="el-GR" altLang="en-US" sz="4800" dirty="0"/>
              <a:t>μ</a:t>
            </a:r>
            <a:r>
              <a:rPr lang="en-US" altLang="en-US" sz="4800" baseline="-25000" dirty="0" err="1"/>
              <a:t>bwt|gestation</a:t>
            </a:r>
            <a:r>
              <a:rPr lang="en-US" sz="4800" dirty="0"/>
              <a:t> = β</a:t>
            </a:r>
            <a:r>
              <a:rPr lang="en-US" sz="4800" baseline="-25000" dirty="0"/>
              <a:t>1</a:t>
            </a:r>
            <a:r>
              <a:rPr lang="en-US" sz="4800" dirty="0"/>
              <a:t>(gestation) + β</a:t>
            </a:r>
            <a:r>
              <a:rPr lang="en-US" sz="4800" baseline="-25000" dirty="0"/>
              <a:t>0</a:t>
            </a:r>
            <a:endParaRPr lang="en-US" sz="4800" dirty="0"/>
          </a:p>
        </p:txBody>
      </p:sp>
    </p:spTree>
    <p:extLst>
      <p:ext uri="{BB962C8B-B14F-4D97-AF65-F5344CB8AC3E}">
        <p14:creationId xmlns:p14="http://schemas.microsoft.com/office/powerpoint/2010/main" val="12647107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EF374-D5B4-246A-147A-BF6A52F62C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326A83-1621-202D-4DC7-C45A37B2099F}"/>
              </a:ext>
            </a:extLst>
          </p:cNvPr>
          <p:cNvSpPr>
            <a:spLocks noGrp="1"/>
          </p:cNvSpPr>
          <p:nvPr>
            <p:ph idx="1"/>
          </p:nvPr>
        </p:nvSpPr>
        <p:spPr>
          <a:xfrm>
            <a:off x="812591" y="3556001"/>
            <a:ext cx="10896809" cy="8659814"/>
          </a:xfrm>
        </p:spPr>
        <p:txBody>
          <a:bodyPr>
            <a:normAutofit/>
          </a:bodyPr>
          <a:lstStyle/>
          <a:p>
            <a:r>
              <a:rPr lang="en-US" dirty="0"/>
              <a:t>The </a:t>
            </a:r>
            <a:r>
              <a:rPr lang="en-US" b="1" dirty="0" err="1">
                <a:solidFill>
                  <a:schemeClr val="accent5"/>
                </a:solidFill>
                <a:latin typeface="Courier New" panose="02070309020205020404" pitchFamily="49" charset="0"/>
                <a:cs typeface="Courier New" panose="02070309020205020404" pitchFamily="49" charset="0"/>
              </a:rPr>
              <a:t>lm</a:t>
            </a:r>
            <a:r>
              <a:rPr lang="en-US" dirty="0"/>
              <a:t> function stands for </a:t>
            </a:r>
            <a:r>
              <a:rPr lang="en-US" dirty="0">
                <a:solidFill>
                  <a:schemeClr val="accent5"/>
                </a:solidFill>
              </a:rPr>
              <a:t>linear model </a:t>
            </a:r>
            <a:r>
              <a:rPr lang="en-US" dirty="0"/>
              <a:t>and is used to fit a linear regression model</a:t>
            </a:r>
          </a:p>
          <a:p>
            <a:pPr marL="685800" indent="-685800">
              <a:buFont typeface="Arial" panose="020B0604020202020204" pitchFamily="34" charset="0"/>
              <a:buChar char="•"/>
            </a:pPr>
            <a:r>
              <a:rPr lang="en-US" dirty="0"/>
              <a:t>The summary function outputs details about the fit model</a:t>
            </a:r>
            <a:endParaRPr lang="en-US" b="1" dirty="0">
              <a:solidFill>
                <a:schemeClr val="accent5"/>
              </a:solidFill>
              <a:latin typeface="Courier New" panose="02070309020205020404" pitchFamily="49" charset="0"/>
              <a:cs typeface="Courier New" panose="02070309020205020404" pitchFamily="49" charset="0"/>
            </a:endParaRPr>
          </a:p>
        </p:txBody>
      </p:sp>
      <p:sp>
        <p:nvSpPr>
          <p:cNvPr id="3" name="Title 2">
            <a:extLst>
              <a:ext uri="{FF2B5EF4-FFF2-40B4-BE49-F238E27FC236}">
                <a16:creationId xmlns:a16="http://schemas.microsoft.com/office/drawing/2014/main" id="{69810C90-F939-DE45-6C86-96A357456E96}"/>
              </a:ext>
            </a:extLst>
          </p:cNvPr>
          <p:cNvSpPr>
            <a:spLocks noGrp="1"/>
          </p:cNvSpPr>
          <p:nvPr>
            <p:ph type="title"/>
          </p:nvPr>
        </p:nvSpPr>
        <p:spPr/>
        <p:txBody>
          <a:bodyPr/>
          <a:lstStyle/>
          <a:p>
            <a:r>
              <a:rPr lang="en-US" dirty="0"/>
              <a:t>The </a:t>
            </a:r>
            <a:r>
              <a:rPr lang="en-US" dirty="0" err="1">
                <a:solidFill>
                  <a:schemeClr val="accent5"/>
                </a:solidFill>
                <a:latin typeface="Courier New" panose="02070309020205020404" pitchFamily="49" charset="0"/>
                <a:cs typeface="Courier New" panose="02070309020205020404" pitchFamily="49" charset="0"/>
              </a:rPr>
              <a:t>lm</a:t>
            </a:r>
            <a:r>
              <a:rPr lang="en-US" dirty="0"/>
              <a:t> function</a:t>
            </a:r>
          </a:p>
        </p:txBody>
      </p:sp>
      <p:sp>
        <p:nvSpPr>
          <p:cNvPr id="6" name="Content Placeholder 1">
            <a:extLst>
              <a:ext uri="{FF2B5EF4-FFF2-40B4-BE49-F238E27FC236}">
                <a16:creationId xmlns:a16="http://schemas.microsoft.com/office/drawing/2014/main" id="{4FB972A5-3080-0257-6F5A-FA9F2428D017}"/>
              </a:ext>
            </a:extLst>
          </p:cNvPr>
          <p:cNvSpPr txBox="1">
            <a:spLocks/>
          </p:cNvSpPr>
          <p:nvPr/>
        </p:nvSpPr>
        <p:spPr>
          <a:xfrm>
            <a:off x="812591" y="9321799"/>
            <a:ext cx="11964410" cy="2651127"/>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5400" dirty="0"/>
              <a:t>Fitted regression line equation:</a:t>
            </a:r>
          </a:p>
          <a:p>
            <a:r>
              <a:rPr lang="en-US" sz="4000" dirty="0"/>
              <a:t>Mean birthweight = 124.1(gestation) – 1410.7</a:t>
            </a:r>
          </a:p>
        </p:txBody>
      </p:sp>
      <p:pic>
        <p:nvPicPr>
          <p:cNvPr id="7" name="Picture 6" descr="A screenshot of a computer&#10;&#10;AI-generated content may be incorrect.">
            <a:extLst>
              <a:ext uri="{FF2B5EF4-FFF2-40B4-BE49-F238E27FC236}">
                <a16:creationId xmlns:a16="http://schemas.microsoft.com/office/drawing/2014/main" id="{75E97101-339D-0C4A-5A04-804F9C0C486E}"/>
              </a:ext>
            </a:extLst>
          </p:cNvPr>
          <p:cNvPicPr>
            <a:picLocks noChangeAspect="1"/>
          </p:cNvPicPr>
          <p:nvPr/>
        </p:nvPicPr>
        <p:blipFill>
          <a:blip r:embed="rId3"/>
          <a:stretch>
            <a:fillRect/>
          </a:stretch>
        </p:blipFill>
        <p:spPr>
          <a:xfrm>
            <a:off x="11482421" y="3110449"/>
            <a:ext cx="12336570" cy="8862477"/>
          </a:xfrm>
          <a:prstGeom prst="rect">
            <a:avLst/>
          </a:prstGeom>
        </p:spPr>
      </p:pic>
      <p:sp>
        <p:nvSpPr>
          <p:cNvPr id="8" name="Rounded Rectangle 7">
            <a:extLst>
              <a:ext uri="{FF2B5EF4-FFF2-40B4-BE49-F238E27FC236}">
                <a16:creationId xmlns:a16="http://schemas.microsoft.com/office/drawing/2014/main" id="{C8B7EC48-62C8-D57F-0F93-BDA9C0207A70}"/>
              </a:ext>
            </a:extLst>
          </p:cNvPr>
          <p:cNvSpPr/>
          <p:nvPr/>
        </p:nvSpPr>
        <p:spPr>
          <a:xfrm>
            <a:off x="12214225" y="8509000"/>
            <a:ext cx="3736975" cy="787399"/>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05820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068BD-176F-C5C9-F1FD-B5C75F801D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170735B-640F-33BC-A377-04E867362D1D}"/>
              </a:ext>
            </a:extLst>
          </p:cNvPr>
          <p:cNvSpPr>
            <a:spLocks noGrp="1"/>
          </p:cNvSpPr>
          <p:nvPr>
            <p:ph type="title"/>
          </p:nvPr>
        </p:nvSpPr>
        <p:spPr/>
        <p:txBody>
          <a:bodyPr/>
          <a:lstStyle/>
          <a:p>
            <a:r>
              <a:rPr lang="en-US" dirty="0"/>
              <a:t>Coefficient interpretation</a:t>
            </a:r>
          </a:p>
        </p:txBody>
      </p:sp>
      <p:sp>
        <p:nvSpPr>
          <p:cNvPr id="6" name="Content Placeholder 1">
            <a:extLst>
              <a:ext uri="{FF2B5EF4-FFF2-40B4-BE49-F238E27FC236}">
                <a16:creationId xmlns:a16="http://schemas.microsoft.com/office/drawing/2014/main" id="{B86EE3CB-A69F-A846-0253-1852E8DFF760}"/>
              </a:ext>
            </a:extLst>
          </p:cNvPr>
          <p:cNvSpPr txBox="1">
            <a:spLocks/>
          </p:cNvSpPr>
          <p:nvPr/>
        </p:nvSpPr>
        <p:spPr>
          <a:xfrm>
            <a:off x="812591" y="3110449"/>
            <a:ext cx="10669830" cy="8862477"/>
          </a:xfrm>
          <a:prstGeom prst="rect">
            <a:avLst/>
          </a:prstGeom>
        </p:spPr>
        <p:txBody>
          <a:bodyPr vert="horz" lIns="91440" tIns="45720" rIns="91440" bIns="45720" rtlCol="0">
            <a:normAutofit fontScale="92500"/>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4800" dirty="0"/>
              <a:t>Fitted regression line equation:</a:t>
            </a:r>
          </a:p>
          <a:p>
            <a:r>
              <a:rPr lang="en-US" altLang="en-US" sz="4300" dirty="0"/>
              <a:t>Mean birthweight</a:t>
            </a:r>
            <a:r>
              <a:rPr lang="en-US" sz="4300" dirty="0"/>
              <a:t> = 124.1(gestation) – 1410.7</a:t>
            </a:r>
          </a:p>
          <a:p>
            <a:r>
              <a:rPr lang="en-US" sz="4800" dirty="0">
                <a:solidFill>
                  <a:schemeClr val="accent5"/>
                </a:solidFill>
              </a:rPr>
              <a:t>Slope interpretation</a:t>
            </a:r>
            <a:r>
              <a:rPr lang="en-US" sz="4800" dirty="0"/>
              <a:t>: for every 1 week increase in gestational age, birthweight increases by 124.1 grams on average. </a:t>
            </a:r>
          </a:p>
          <a:p>
            <a:r>
              <a:rPr lang="en-US" sz="4800" dirty="0">
                <a:solidFill>
                  <a:schemeClr val="accent5"/>
                </a:solidFill>
              </a:rPr>
              <a:t>Intercept interpretation</a:t>
            </a:r>
            <a:r>
              <a:rPr lang="en-US" sz="4800" dirty="0"/>
              <a:t>: the estimated mean birthweight when gestational age is 0 weeks is -1410.7 grams.</a:t>
            </a:r>
          </a:p>
        </p:txBody>
      </p:sp>
      <p:pic>
        <p:nvPicPr>
          <p:cNvPr id="7" name="Picture 6" descr="A screenshot of a computer&#10;&#10;AI-generated content may be incorrect.">
            <a:extLst>
              <a:ext uri="{FF2B5EF4-FFF2-40B4-BE49-F238E27FC236}">
                <a16:creationId xmlns:a16="http://schemas.microsoft.com/office/drawing/2014/main" id="{60369635-4EAD-A391-AA31-66859B6EA303}"/>
              </a:ext>
            </a:extLst>
          </p:cNvPr>
          <p:cNvPicPr>
            <a:picLocks noChangeAspect="1"/>
          </p:cNvPicPr>
          <p:nvPr/>
        </p:nvPicPr>
        <p:blipFill>
          <a:blip r:embed="rId3"/>
          <a:stretch>
            <a:fillRect/>
          </a:stretch>
        </p:blipFill>
        <p:spPr>
          <a:xfrm>
            <a:off x="11482421" y="3110449"/>
            <a:ext cx="12336570" cy="8862477"/>
          </a:xfrm>
          <a:prstGeom prst="rect">
            <a:avLst/>
          </a:prstGeom>
        </p:spPr>
      </p:pic>
      <p:sp>
        <p:nvSpPr>
          <p:cNvPr id="8" name="Rounded Rectangle 7">
            <a:extLst>
              <a:ext uri="{FF2B5EF4-FFF2-40B4-BE49-F238E27FC236}">
                <a16:creationId xmlns:a16="http://schemas.microsoft.com/office/drawing/2014/main" id="{674F1F24-E952-28E7-3A82-E91B4A4E0021}"/>
              </a:ext>
            </a:extLst>
          </p:cNvPr>
          <p:cNvSpPr/>
          <p:nvPr/>
        </p:nvSpPr>
        <p:spPr>
          <a:xfrm>
            <a:off x="12214225" y="8509000"/>
            <a:ext cx="3736975" cy="787399"/>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99489708"/>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3A4913-8BD2-2400-7BCB-44FC197A59AE}"/>
              </a:ext>
            </a:extLst>
          </p:cNvPr>
          <p:cNvSpPr>
            <a:spLocks noGrp="1"/>
          </p:cNvSpPr>
          <p:nvPr>
            <p:ph idx="1"/>
          </p:nvPr>
        </p:nvSpPr>
        <p:spPr>
          <a:xfrm>
            <a:off x="812591" y="3556001"/>
            <a:ext cx="10414210" cy="9093199"/>
          </a:xfrm>
        </p:spPr>
        <p:txBody>
          <a:bodyPr>
            <a:normAutofit lnSpcReduction="10000"/>
          </a:bodyPr>
          <a:lstStyle/>
          <a:p>
            <a:r>
              <a:rPr lang="en-US" sz="4500" dirty="0">
                <a:solidFill>
                  <a:schemeClr val="accent5"/>
                </a:solidFill>
              </a:rPr>
              <a:t>R</a:t>
            </a:r>
            <a:r>
              <a:rPr lang="en-US" sz="4500" baseline="30000" dirty="0">
                <a:solidFill>
                  <a:schemeClr val="accent5"/>
                </a:solidFill>
              </a:rPr>
              <a:t>2</a:t>
            </a:r>
            <a:r>
              <a:rPr lang="en-US" sz="4500" dirty="0"/>
              <a:t> is the </a:t>
            </a:r>
            <a:r>
              <a:rPr lang="en-US" sz="4500" dirty="0">
                <a:solidFill>
                  <a:schemeClr val="accent5"/>
                </a:solidFill>
              </a:rPr>
              <a:t>coefficient of determination</a:t>
            </a:r>
            <a:r>
              <a:rPr lang="en-US" sz="4500" dirty="0"/>
              <a:t>, which quantifies the proportion of the variance in the dependent variable that is explained by the independent variable.</a:t>
            </a:r>
          </a:p>
          <a:p>
            <a:pPr marL="685800" indent="-685800">
              <a:buFont typeface="Arial" panose="020B0604020202020204" pitchFamily="34" charset="0"/>
              <a:buChar char="•"/>
            </a:pPr>
            <a:r>
              <a:rPr lang="en-US" sz="4300" dirty="0"/>
              <a:t>Ranges from 0 to 1</a:t>
            </a:r>
          </a:p>
          <a:p>
            <a:pPr marL="685800" indent="-685800">
              <a:buFont typeface="Arial" panose="020B0604020202020204" pitchFamily="34" charset="0"/>
              <a:buChar char="•"/>
            </a:pPr>
            <a:r>
              <a:rPr lang="en-US" sz="4300" dirty="0"/>
              <a:t>A higher R</a:t>
            </a:r>
            <a:r>
              <a:rPr lang="en-US" sz="4300" baseline="30000" dirty="0"/>
              <a:t>2</a:t>
            </a:r>
            <a:r>
              <a:rPr lang="en-US" sz="4300" dirty="0"/>
              <a:t> value indicates a better fit model</a:t>
            </a:r>
          </a:p>
          <a:p>
            <a:pPr marL="685800" indent="-685800">
              <a:buFont typeface="Arial" panose="020B0604020202020204" pitchFamily="34" charset="0"/>
              <a:buChar char="•"/>
            </a:pPr>
            <a:r>
              <a:rPr lang="en-US" sz="4300" dirty="0"/>
              <a:t>In simple linear regression, R</a:t>
            </a:r>
            <a:r>
              <a:rPr lang="en-US" sz="4300" baseline="30000" dirty="0"/>
              <a:t>2</a:t>
            </a:r>
            <a:r>
              <a:rPr lang="en-US" sz="4300" dirty="0"/>
              <a:t> is the Pearson correlation coefficient squared</a:t>
            </a:r>
          </a:p>
        </p:txBody>
      </p:sp>
      <p:sp>
        <p:nvSpPr>
          <p:cNvPr id="3" name="Title 2">
            <a:extLst>
              <a:ext uri="{FF2B5EF4-FFF2-40B4-BE49-F238E27FC236}">
                <a16:creationId xmlns:a16="http://schemas.microsoft.com/office/drawing/2014/main" id="{5C5906DC-50F4-6E9E-C156-22C114C2D5CB}"/>
              </a:ext>
            </a:extLst>
          </p:cNvPr>
          <p:cNvSpPr>
            <a:spLocks noGrp="1"/>
          </p:cNvSpPr>
          <p:nvPr>
            <p:ph type="title"/>
          </p:nvPr>
        </p:nvSpPr>
        <p:spPr/>
        <p:txBody>
          <a:bodyPr/>
          <a:lstStyle/>
          <a:p>
            <a:r>
              <a:rPr lang="en-US" dirty="0"/>
              <a:t>Coefficient of determination</a:t>
            </a:r>
          </a:p>
        </p:txBody>
      </p:sp>
      <p:pic>
        <p:nvPicPr>
          <p:cNvPr id="4" name="Picture 3" descr="A screenshot of a computer&#10;&#10;AI-generated content may be incorrect.">
            <a:extLst>
              <a:ext uri="{FF2B5EF4-FFF2-40B4-BE49-F238E27FC236}">
                <a16:creationId xmlns:a16="http://schemas.microsoft.com/office/drawing/2014/main" id="{467C736A-76EE-9E73-15B4-0FB48C1E4049}"/>
              </a:ext>
            </a:extLst>
          </p:cNvPr>
          <p:cNvPicPr>
            <a:picLocks noChangeAspect="1"/>
          </p:cNvPicPr>
          <p:nvPr/>
        </p:nvPicPr>
        <p:blipFill>
          <a:blip r:embed="rId3"/>
          <a:stretch>
            <a:fillRect/>
          </a:stretch>
        </p:blipFill>
        <p:spPr>
          <a:xfrm>
            <a:off x="11482421" y="3110449"/>
            <a:ext cx="12336570" cy="8862477"/>
          </a:xfrm>
          <a:prstGeom prst="rect">
            <a:avLst/>
          </a:prstGeom>
        </p:spPr>
      </p:pic>
      <p:sp>
        <p:nvSpPr>
          <p:cNvPr id="5" name="Rounded Rectangle 4">
            <a:extLst>
              <a:ext uri="{FF2B5EF4-FFF2-40B4-BE49-F238E27FC236}">
                <a16:creationId xmlns:a16="http://schemas.microsoft.com/office/drawing/2014/main" id="{7B8DBFEA-8CE1-299C-4B40-0009BB3375F8}"/>
              </a:ext>
            </a:extLst>
          </p:cNvPr>
          <p:cNvSpPr/>
          <p:nvPr/>
        </p:nvSpPr>
        <p:spPr>
          <a:xfrm>
            <a:off x="12188825" y="10820400"/>
            <a:ext cx="4752975" cy="4064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678531"/>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E50BBC-D1C7-C353-6055-A9B0B7BAC225}"/>
              </a:ext>
            </a:extLst>
          </p:cNvPr>
          <p:cNvSpPr>
            <a:spLocks noGrp="1"/>
          </p:cNvSpPr>
          <p:nvPr>
            <p:ph idx="1"/>
          </p:nvPr>
        </p:nvSpPr>
        <p:spPr>
          <a:xfrm>
            <a:off x="812591" y="3556001"/>
            <a:ext cx="10160210" cy="8659814"/>
          </a:xfrm>
        </p:spPr>
        <p:txBody>
          <a:bodyPr/>
          <a:lstStyle/>
          <a:p>
            <a:r>
              <a:rPr lang="en-US" dirty="0"/>
              <a:t>The confidence interval for all of the coefficients of the model, including the intercept, can be calculated using the </a:t>
            </a:r>
            <a:r>
              <a:rPr lang="en-US" b="1" dirty="0" err="1">
                <a:solidFill>
                  <a:schemeClr val="accent5"/>
                </a:solidFill>
                <a:latin typeface="Courier New" panose="02070309020205020404" pitchFamily="49" charset="0"/>
                <a:cs typeface="Courier New" panose="02070309020205020404" pitchFamily="49" charset="0"/>
              </a:rPr>
              <a:t>confint</a:t>
            </a:r>
            <a:r>
              <a:rPr lang="en-US" dirty="0"/>
              <a:t> function</a:t>
            </a:r>
            <a:endParaRPr lang="en-US" sz="5400" dirty="0"/>
          </a:p>
        </p:txBody>
      </p:sp>
      <p:sp>
        <p:nvSpPr>
          <p:cNvPr id="3" name="Title 2">
            <a:extLst>
              <a:ext uri="{FF2B5EF4-FFF2-40B4-BE49-F238E27FC236}">
                <a16:creationId xmlns:a16="http://schemas.microsoft.com/office/drawing/2014/main" id="{9F05D743-6EFB-6656-BBBE-5367B0B33ECA}"/>
              </a:ext>
            </a:extLst>
          </p:cNvPr>
          <p:cNvSpPr>
            <a:spLocks noGrp="1"/>
          </p:cNvSpPr>
          <p:nvPr>
            <p:ph type="title"/>
          </p:nvPr>
        </p:nvSpPr>
        <p:spPr/>
        <p:txBody>
          <a:bodyPr/>
          <a:lstStyle/>
          <a:p>
            <a:r>
              <a:rPr lang="en-US" dirty="0"/>
              <a:t>Confidence interval for slope</a:t>
            </a:r>
          </a:p>
        </p:txBody>
      </p:sp>
      <p:pic>
        <p:nvPicPr>
          <p:cNvPr id="8" name="Picture 7" descr="A screenshot of a computer&#10;&#10;AI-generated content may be incorrect.">
            <a:extLst>
              <a:ext uri="{FF2B5EF4-FFF2-40B4-BE49-F238E27FC236}">
                <a16:creationId xmlns:a16="http://schemas.microsoft.com/office/drawing/2014/main" id="{37C7C707-A047-795F-0DF7-DFC84C31EE9E}"/>
              </a:ext>
            </a:extLst>
          </p:cNvPr>
          <p:cNvPicPr>
            <a:picLocks noChangeAspect="1"/>
          </p:cNvPicPr>
          <p:nvPr/>
        </p:nvPicPr>
        <p:blipFill>
          <a:blip r:embed="rId3"/>
          <a:stretch>
            <a:fillRect/>
          </a:stretch>
        </p:blipFill>
        <p:spPr>
          <a:xfrm>
            <a:off x="12026040" y="3556001"/>
            <a:ext cx="11539019" cy="4292600"/>
          </a:xfrm>
          <a:prstGeom prst="rect">
            <a:avLst/>
          </a:prstGeom>
        </p:spPr>
      </p:pic>
    </p:spTree>
    <p:extLst>
      <p:ext uri="{BB962C8B-B14F-4D97-AF65-F5344CB8AC3E}">
        <p14:creationId xmlns:p14="http://schemas.microsoft.com/office/powerpoint/2010/main" val="2634203570"/>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DA2E0E-A7D1-1FAB-75E9-99874D0182B9}"/>
              </a:ext>
            </a:extLst>
          </p:cNvPr>
          <p:cNvSpPr>
            <a:spLocks noGrp="1"/>
          </p:cNvSpPr>
          <p:nvPr>
            <p:ph idx="1"/>
          </p:nvPr>
        </p:nvSpPr>
        <p:spPr>
          <a:xfrm>
            <a:off x="812591" y="3556001"/>
            <a:ext cx="10439609" cy="8659814"/>
          </a:xfrm>
        </p:spPr>
        <p:txBody>
          <a:bodyPr>
            <a:normAutofit fontScale="92500" lnSpcReduction="10000"/>
          </a:bodyPr>
          <a:lstStyle/>
          <a:p>
            <a:r>
              <a:rPr lang="en-US" dirty="0"/>
              <a:t>The p-value of the slope coefficient is used to test if the relationship between the outcome and exposure is significant</a:t>
            </a:r>
          </a:p>
          <a:p>
            <a:pPr marL="685800" indent="-685800">
              <a:buFont typeface="Arial" panose="020B0604020202020204" pitchFamily="34" charset="0"/>
              <a:buChar char="•"/>
            </a:pPr>
            <a:r>
              <a:rPr lang="en-US" dirty="0"/>
              <a:t>If the p-value is &lt; 0.05, the slope is not equal to 0 and there is a statistically significant relationship between the outcome and exposure</a:t>
            </a:r>
          </a:p>
          <a:p>
            <a:endParaRPr lang="en-US" dirty="0"/>
          </a:p>
        </p:txBody>
      </p:sp>
      <p:sp>
        <p:nvSpPr>
          <p:cNvPr id="3" name="Title 2">
            <a:extLst>
              <a:ext uri="{FF2B5EF4-FFF2-40B4-BE49-F238E27FC236}">
                <a16:creationId xmlns:a16="http://schemas.microsoft.com/office/drawing/2014/main" id="{155061EF-0184-4397-FEC4-7B44A191077D}"/>
              </a:ext>
            </a:extLst>
          </p:cNvPr>
          <p:cNvSpPr>
            <a:spLocks noGrp="1"/>
          </p:cNvSpPr>
          <p:nvPr>
            <p:ph type="title"/>
          </p:nvPr>
        </p:nvSpPr>
        <p:spPr/>
        <p:txBody>
          <a:bodyPr/>
          <a:lstStyle/>
          <a:p>
            <a:r>
              <a:rPr lang="en-US" dirty="0"/>
              <a:t>Hypothesis tests</a:t>
            </a:r>
          </a:p>
        </p:txBody>
      </p:sp>
      <p:pic>
        <p:nvPicPr>
          <p:cNvPr id="4" name="Picture 3" descr="A screenshot of a computer&#10;&#10;AI-generated content may be incorrect.">
            <a:extLst>
              <a:ext uri="{FF2B5EF4-FFF2-40B4-BE49-F238E27FC236}">
                <a16:creationId xmlns:a16="http://schemas.microsoft.com/office/drawing/2014/main" id="{53228D8C-3A2E-3DEE-D8BB-C76093273305}"/>
              </a:ext>
            </a:extLst>
          </p:cNvPr>
          <p:cNvPicPr>
            <a:picLocks noChangeAspect="1"/>
          </p:cNvPicPr>
          <p:nvPr/>
        </p:nvPicPr>
        <p:blipFill>
          <a:blip r:embed="rId3"/>
          <a:stretch>
            <a:fillRect/>
          </a:stretch>
        </p:blipFill>
        <p:spPr>
          <a:xfrm>
            <a:off x="11482421" y="3110449"/>
            <a:ext cx="12336570" cy="8862477"/>
          </a:xfrm>
          <a:prstGeom prst="rect">
            <a:avLst/>
          </a:prstGeom>
        </p:spPr>
      </p:pic>
      <p:sp>
        <p:nvSpPr>
          <p:cNvPr id="5" name="Rounded Rectangle 4">
            <a:extLst>
              <a:ext uri="{FF2B5EF4-FFF2-40B4-BE49-F238E27FC236}">
                <a16:creationId xmlns:a16="http://schemas.microsoft.com/office/drawing/2014/main" id="{0F51D845-8AE2-D324-35E9-43ED308F6CC6}"/>
              </a:ext>
            </a:extLst>
          </p:cNvPr>
          <p:cNvSpPr/>
          <p:nvPr/>
        </p:nvSpPr>
        <p:spPr>
          <a:xfrm>
            <a:off x="19126200" y="8890000"/>
            <a:ext cx="2057400" cy="3810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345075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BC0A8C-745A-40AD-89B9-770DA2C80515}"/>
              </a:ext>
            </a:extLst>
          </p:cNvPr>
          <p:cNvSpPr>
            <a:spLocks noGrp="1"/>
          </p:cNvSpPr>
          <p:nvPr>
            <p:ph idx="1"/>
          </p:nvPr>
        </p:nvSpPr>
        <p:spPr>
          <a:xfrm>
            <a:off x="812591" y="3556001"/>
            <a:ext cx="10414210" cy="8659814"/>
          </a:xfrm>
        </p:spPr>
        <p:txBody>
          <a:bodyPr>
            <a:normAutofit/>
          </a:bodyPr>
          <a:lstStyle/>
          <a:p>
            <a:r>
              <a:rPr lang="en-US" altLang="en-US" sz="5400" dirty="0"/>
              <a:t>One important use of a linear regression model is prediction of a continuous outcome</a:t>
            </a:r>
          </a:p>
          <a:p>
            <a:pPr marL="685800" indent="-685800">
              <a:buFont typeface="Arial" panose="020B0604020202020204" pitchFamily="34" charset="0"/>
              <a:buChar char="•"/>
            </a:pPr>
            <a:r>
              <a:rPr lang="en-US" altLang="en-US" sz="5400" dirty="0"/>
              <a:t>Example: the predicted birthweight of a baby with gestational age equal to 40 weeks is 124.1(40) – 1410.7 = 3,553.3 grams.</a:t>
            </a:r>
          </a:p>
          <a:p>
            <a:endParaRPr lang="en-US" dirty="0"/>
          </a:p>
        </p:txBody>
      </p:sp>
      <p:sp>
        <p:nvSpPr>
          <p:cNvPr id="3" name="Title 2">
            <a:extLst>
              <a:ext uri="{FF2B5EF4-FFF2-40B4-BE49-F238E27FC236}">
                <a16:creationId xmlns:a16="http://schemas.microsoft.com/office/drawing/2014/main" id="{CA9DD760-A627-E541-EFDC-E59CE81E25C5}"/>
              </a:ext>
            </a:extLst>
          </p:cNvPr>
          <p:cNvSpPr>
            <a:spLocks noGrp="1"/>
          </p:cNvSpPr>
          <p:nvPr>
            <p:ph type="title"/>
          </p:nvPr>
        </p:nvSpPr>
        <p:spPr/>
        <p:txBody>
          <a:bodyPr/>
          <a:lstStyle/>
          <a:p>
            <a:r>
              <a:rPr lang="en-US" dirty="0"/>
              <a:t>Prediction</a:t>
            </a:r>
          </a:p>
        </p:txBody>
      </p:sp>
      <p:pic>
        <p:nvPicPr>
          <p:cNvPr id="4" name="Picture 3" descr="A screenshot of a computer&#10;&#10;AI-generated content may be incorrect.">
            <a:extLst>
              <a:ext uri="{FF2B5EF4-FFF2-40B4-BE49-F238E27FC236}">
                <a16:creationId xmlns:a16="http://schemas.microsoft.com/office/drawing/2014/main" id="{0D72D8A1-2A0C-3571-2281-45B125C4C429}"/>
              </a:ext>
            </a:extLst>
          </p:cNvPr>
          <p:cNvPicPr>
            <a:picLocks noChangeAspect="1"/>
          </p:cNvPicPr>
          <p:nvPr/>
        </p:nvPicPr>
        <p:blipFill>
          <a:blip r:embed="rId3"/>
          <a:stretch>
            <a:fillRect/>
          </a:stretch>
        </p:blipFill>
        <p:spPr>
          <a:xfrm>
            <a:off x="11482421" y="3110449"/>
            <a:ext cx="12336570" cy="8862477"/>
          </a:xfrm>
          <a:prstGeom prst="rect">
            <a:avLst/>
          </a:prstGeom>
        </p:spPr>
      </p:pic>
    </p:spTree>
    <p:extLst>
      <p:ext uri="{BB962C8B-B14F-4D97-AF65-F5344CB8AC3E}">
        <p14:creationId xmlns:p14="http://schemas.microsoft.com/office/powerpoint/2010/main" val="355735390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7CAB1-EA95-DD7B-82C5-8680597DEF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5322CD-EA8E-EE69-6631-1C1DED5258E9}"/>
              </a:ext>
            </a:extLst>
          </p:cNvPr>
          <p:cNvSpPr>
            <a:spLocks noGrp="1"/>
          </p:cNvSpPr>
          <p:nvPr>
            <p:ph idx="1"/>
          </p:nvPr>
        </p:nvSpPr>
        <p:spPr>
          <a:xfrm>
            <a:off x="812591" y="3556001"/>
            <a:ext cx="10363410" cy="8659814"/>
          </a:xfrm>
        </p:spPr>
        <p:txBody>
          <a:bodyPr>
            <a:normAutofit/>
          </a:bodyPr>
          <a:lstStyle/>
          <a:p>
            <a:r>
              <a:rPr lang="en-US" altLang="en-US" sz="5400" dirty="0"/>
              <a:t>One important use of a linear regression model is prediction of a continuous outcome</a:t>
            </a:r>
          </a:p>
          <a:p>
            <a:pPr marL="685800" indent="-685800">
              <a:buFont typeface="Arial" panose="020B0604020202020204" pitchFamily="34" charset="0"/>
              <a:buChar char="•"/>
            </a:pPr>
            <a:r>
              <a:rPr lang="en-US" altLang="en-US" sz="5400" dirty="0"/>
              <a:t>Example: the predicted birthweight of a baby with gestational age equal to 28 weeks is 124.1(28) – 1410.7 = 2,064.1 grams.</a:t>
            </a:r>
          </a:p>
          <a:p>
            <a:endParaRPr lang="en-US" dirty="0"/>
          </a:p>
        </p:txBody>
      </p:sp>
      <p:sp>
        <p:nvSpPr>
          <p:cNvPr id="3" name="Title 2">
            <a:extLst>
              <a:ext uri="{FF2B5EF4-FFF2-40B4-BE49-F238E27FC236}">
                <a16:creationId xmlns:a16="http://schemas.microsoft.com/office/drawing/2014/main" id="{43137551-2CEE-0B41-81D4-3FC2DBF3BDA8}"/>
              </a:ext>
            </a:extLst>
          </p:cNvPr>
          <p:cNvSpPr>
            <a:spLocks noGrp="1"/>
          </p:cNvSpPr>
          <p:nvPr>
            <p:ph type="title"/>
          </p:nvPr>
        </p:nvSpPr>
        <p:spPr/>
        <p:txBody>
          <a:bodyPr/>
          <a:lstStyle/>
          <a:p>
            <a:r>
              <a:rPr lang="en-US" dirty="0"/>
              <a:t>Prediction</a:t>
            </a:r>
          </a:p>
        </p:txBody>
      </p:sp>
      <p:pic>
        <p:nvPicPr>
          <p:cNvPr id="4" name="Picture 3" descr="A screenshot of a computer&#10;&#10;AI-generated content may be incorrect.">
            <a:extLst>
              <a:ext uri="{FF2B5EF4-FFF2-40B4-BE49-F238E27FC236}">
                <a16:creationId xmlns:a16="http://schemas.microsoft.com/office/drawing/2014/main" id="{764AF27C-A11B-667B-12B2-B24FF027FABE}"/>
              </a:ext>
            </a:extLst>
          </p:cNvPr>
          <p:cNvPicPr>
            <a:picLocks noChangeAspect="1"/>
          </p:cNvPicPr>
          <p:nvPr/>
        </p:nvPicPr>
        <p:blipFill>
          <a:blip r:embed="rId3"/>
          <a:stretch>
            <a:fillRect/>
          </a:stretch>
        </p:blipFill>
        <p:spPr>
          <a:xfrm>
            <a:off x="11482421" y="3110449"/>
            <a:ext cx="12336570" cy="8862477"/>
          </a:xfrm>
          <a:prstGeom prst="rect">
            <a:avLst/>
          </a:prstGeom>
        </p:spPr>
      </p:pic>
    </p:spTree>
    <p:extLst>
      <p:ext uri="{BB962C8B-B14F-4D97-AF65-F5344CB8AC3E}">
        <p14:creationId xmlns:p14="http://schemas.microsoft.com/office/powerpoint/2010/main" val="245534202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3160205-41B3-EA96-2DEC-F3D29400687F}"/>
              </a:ext>
            </a:extLst>
          </p:cNvPr>
          <p:cNvSpPr>
            <a:spLocks noGrp="1"/>
          </p:cNvSpPr>
          <p:nvPr>
            <p:ph type="title"/>
          </p:nvPr>
        </p:nvSpPr>
        <p:spPr/>
        <p:txBody>
          <a:bodyPr/>
          <a:lstStyle/>
          <a:p>
            <a:r>
              <a:rPr lang="en-US" dirty="0"/>
              <a:t>Regression line plot</a:t>
            </a:r>
          </a:p>
        </p:txBody>
      </p:sp>
      <p:pic>
        <p:nvPicPr>
          <p:cNvPr id="5" name="Picture 4" descr="A white card with red and black text&#10;&#10;AI-generated content may be incorrect.">
            <a:extLst>
              <a:ext uri="{FF2B5EF4-FFF2-40B4-BE49-F238E27FC236}">
                <a16:creationId xmlns:a16="http://schemas.microsoft.com/office/drawing/2014/main" id="{4611C741-38DF-644D-DB9A-86581F74B1CF}"/>
              </a:ext>
            </a:extLst>
          </p:cNvPr>
          <p:cNvPicPr>
            <a:picLocks noChangeAspect="1"/>
          </p:cNvPicPr>
          <p:nvPr/>
        </p:nvPicPr>
        <p:blipFill>
          <a:blip r:embed="rId3"/>
          <a:stretch>
            <a:fillRect/>
          </a:stretch>
        </p:blipFill>
        <p:spPr>
          <a:xfrm>
            <a:off x="337423" y="3121034"/>
            <a:ext cx="10734097" cy="2985551"/>
          </a:xfrm>
          <a:prstGeom prst="rect">
            <a:avLst/>
          </a:prstGeom>
        </p:spPr>
      </p:pic>
      <p:pic>
        <p:nvPicPr>
          <p:cNvPr id="7" name="Picture 6" descr="A graph showing a growth of gestational age&#10;&#10;AI-generated content may be incorrect.">
            <a:extLst>
              <a:ext uri="{FF2B5EF4-FFF2-40B4-BE49-F238E27FC236}">
                <a16:creationId xmlns:a16="http://schemas.microsoft.com/office/drawing/2014/main" id="{7B3C3AF9-CEEF-FCBB-B34B-21748C70E925}"/>
              </a:ext>
            </a:extLst>
          </p:cNvPr>
          <p:cNvPicPr>
            <a:picLocks noChangeAspect="1"/>
          </p:cNvPicPr>
          <p:nvPr/>
        </p:nvPicPr>
        <p:blipFill>
          <a:blip r:embed="rId4"/>
          <a:stretch>
            <a:fillRect/>
          </a:stretch>
        </p:blipFill>
        <p:spPr>
          <a:xfrm>
            <a:off x="11337163" y="3110449"/>
            <a:ext cx="12703064" cy="8977824"/>
          </a:xfrm>
          <a:prstGeom prst="rect">
            <a:avLst/>
          </a:prstGeom>
        </p:spPr>
      </p:pic>
    </p:spTree>
    <p:extLst>
      <p:ext uri="{BB962C8B-B14F-4D97-AF65-F5344CB8AC3E}">
        <p14:creationId xmlns:p14="http://schemas.microsoft.com/office/powerpoint/2010/main" val="70066003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74761B-8C43-ECC8-FDBD-B031AAD02E63}"/>
              </a:ext>
            </a:extLst>
          </p:cNvPr>
          <p:cNvSpPr>
            <a:spLocks noGrp="1"/>
          </p:cNvSpPr>
          <p:nvPr>
            <p:ph idx="1"/>
          </p:nvPr>
        </p:nvSpPr>
        <p:spPr>
          <a:xfrm>
            <a:off x="812590" y="3556001"/>
            <a:ext cx="21430190" cy="8582659"/>
          </a:xfrm>
        </p:spPr>
        <p:txBody>
          <a:bodyPr>
            <a:normAutofit fontScale="92500" lnSpcReduction="10000"/>
          </a:bodyPr>
          <a:lstStyle/>
          <a:p>
            <a:pPr marL="685800" indent="-685800">
              <a:buFont typeface="Arial" panose="020B0604020202020204" pitchFamily="34" charset="0"/>
              <a:buChar char="•"/>
            </a:pPr>
            <a:r>
              <a:rPr lang="en-US" sz="5400" dirty="0"/>
              <a:t>Simple linear regression quantifies the relationship between two continuous variables</a:t>
            </a:r>
          </a:p>
          <a:p>
            <a:pPr marL="685800" indent="-685800">
              <a:buFont typeface="Arial" panose="020B0604020202020204" pitchFamily="34" charset="0"/>
              <a:buChar char="•"/>
            </a:pPr>
            <a:r>
              <a:rPr lang="en-US" sz="5400" dirty="0"/>
              <a:t>The </a:t>
            </a:r>
            <a:r>
              <a:rPr lang="en-US" sz="5400" b="1" dirty="0" err="1">
                <a:solidFill>
                  <a:schemeClr val="accent5"/>
                </a:solidFill>
                <a:latin typeface="Courier New" panose="02070309020205020404" pitchFamily="49" charset="0"/>
                <a:cs typeface="Courier New" panose="02070309020205020404" pitchFamily="49" charset="0"/>
              </a:rPr>
              <a:t>lm</a:t>
            </a:r>
            <a:r>
              <a:rPr lang="en-US" sz="5400" dirty="0"/>
              <a:t> function can be used to fit a linear regression model</a:t>
            </a:r>
          </a:p>
          <a:p>
            <a:pPr marL="685800" indent="-685800">
              <a:buFont typeface="Arial" panose="020B0604020202020204" pitchFamily="34" charset="0"/>
              <a:buChar char="•"/>
            </a:pPr>
            <a:r>
              <a:rPr lang="en-US" sz="5400" dirty="0"/>
              <a:t>The </a:t>
            </a:r>
            <a:r>
              <a:rPr lang="en-US" sz="5400" b="1" dirty="0">
                <a:solidFill>
                  <a:schemeClr val="accent5"/>
                </a:solidFill>
                <a:latin typeface="Courier New" panose="02070309020205020404" pitchFamily="49" charset="0"/>
                <a:cs typeface="Courier New" panose="02070309020205020404" pitchFamily="49" charset="0"/>
              </a:rPr>
              <a:t>summary</a:t>
            </a:r>
            <a:r>
              <a:rPr lang="en-US" sz="5400" dirty="0"/>
              <a:t> function outputs details about the model, including coefficient values and R</a:t>
            </a:r>
            <a:r>
              <a:rPr lang="en-US" sz="5400" baseline="30000" dirty="0"/>
              <a:t>2</a:t>
            </a:r>
          </a:p>
          <a:p>
            <a:pPr marL="685800" indent="-685800">
              <a:buFont typeface="Arial" panose="020B0604020202020204" pitchFamily="34" charset="0"/>
              <a:buChar char="•"/>
            </a:pPr>
            <a:r>
              <a:rPr lang="en-US" sz="5400" dirty="0"/>
              <a:t>A linear regression model can be used for prediction</a:t>
            </a:r>
          </a:p>
          <a:p>
            <a:pPr marL="685800" indent="-685800">
              <a:buFont typeface="Arial" panose="020B0604020202020204" pitchFamily="34" charset="0"/>
              <a:buChar char="•"/>
            </a:pPr>
            <a:r>
              <a:rPr lang="en-US" sz="5400" dirty="0"/>
              <a:t>A plot of the fitted regression line can be created using the </a:t>
            </a:r>
            <a:r>
              <a:rPr lang="en-US" sz="5400" b="1" dirty="0" err="1">
                <a:solidFill>
                  <a:schemeClr val="accent5"/>
                </a:solidFill>
                <a:latin typeface="Courier New" panose="02070309020205020404" pitchFamily="49" charset="0"/>
                <a:cs typeface="Courier New" panose="02070309020205020404" pitchFamily="49" charset="0"/>
              </a:rPr>
              <a:t>geom_smooth</a:t>
            </a:r>
            <a:r>
              <a:rPr lang="en-US" sz="5400" b="1" dirty="0">
                <a:solidFill>
                  <a:schemeClr val="accent5"/>
                </a:solidFill>
                <a:latin typeface="Courier New" panose="02070309020205020404" pitchFamily="49" charset="0"/>
                <a:cs typeface="Courier New" panose="02070309020205020404" pitchFamily="49" charset="0"/>
              </a:rPr>
              <a:t> </a:t>
            </a:r>
            <a:r>
              <a:rPr lang="en-US" sz="5400" dirty="0"/>
              <a:t>geometry</a:t>
            </a:r>
            <a:endParaRPr lang="en-US" dirty="0"/>
          </a:p>
        </p:txBody>
      </p:sp>
      <p:sp>
        <p:nvSpPr>
          <p:cNvPr id="3" name="Title 2">
            <a:extLst>
              <a:ext uri="{FF2B5EF4-FFF2-40B4-BE49-F238E27FC236}">
                <a16:creationId xmlns:a16="http://schemas.microsoft.com/office/drawing/2014/main" id="{03272B9E-0E56-0F15-3E10-69E596DDA585}"/>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239937805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24232-1DB8-0FD1-3815-6A01E6940F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7E9EF-B2C6-C513-8FDB-99A5A1870A7B}"/>
              </a:ext>
            </a:extLst>
          </p:cNvPr>
          <p:cNvSpPr>
            <a:spLocks noGrp="1"/>
          </p:cNvSpPr>
          <p:nvPr>
            <p:ph type="title"/>
          </p:nvPr>
        </p:nvSpPr>
        <p:spPr>
          <a:xfrm>
            <a:off x="1784974" y="2290285"/>
            <a:ext cx="18697586" cy="2323279"/>
          </a:xfrm>
        </p:spPr>
        <p:txBody>
          <a:bodyPr>
            <a:normAutofit/>
          </a:bodyPr>
          <a:lstStyle/>
          <a:p>
            <a:r>
              <a:rPr lang="en-US" dirty="0"/>
              <a:t>Linear Regression </a:t>
            </a:r>
          </a:p>
        </p:txBody>
      </p:sp>
      <p:sp>
        <p:nvSpPr>
          <p:cNvPr id="3" name="Text Placeholder 2">
            <a:extLst>
              <a:ext uri="{FF2B5EF4-FFF2-40B4-BE49-F238E27FC236}">
                <a16:creationId xmlns:a16="http://schemas.microsoft.com/office/drawing/2014/main" id="{555E86C6-846D-B20B-51D6-80FFBC8B1834}"/>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4BD2A364-4535-F3EA-5EBA-3D8783C80E35}"/>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r>
              <a:rPr lang="en-US" sz="6600" dirty="0"/>
              <a:t>Evaluation of model assumptions</a:t>
            </a:r>
          </a:p>
        </p:txBody>
      </p:sp>
    </p:spTree>
    <p:extLst>
      <p:ext uri="{BB962C8B-B14F-4D97-AF65-F5344CB8AC3E}">
        <p14:creationId xmlns:p14="http://schemas.microsoft.com/office/powerpoint/2010/main" val="2876656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1AA9F3-500B-FB9B-76DD-3E53050570E3}"/>
              </a:ext>
            </a:extLst>
          </p:cNvPr>
          <p:cNvSpPr>
            <a:spLocks noGrp="1"/>
          </p:cNvSpPr>
          <p:nvPr>
            <p:ph type="title"/>
          </p:nvPr>
        </p:nvSpPr>
        <p:spPr/>
        <p:txBody>
          <a:bodyPr/>
          <a:lstStyle/>
          <a:p>
            <a:r>
              <a:rPr lang="en-US" dirty="0"/>
              <a:t>Linear regression assumptions</a:t>
            </a:r>
          </a:p>
        </p:txBody>
      </p:sp>
      <p:sp>
        <p:nvSpPr>
          <p:cNvPr id="11" name="Content Placeholder 1">
            <a:extLst>
              <a:ext uri="{FF2B5EF4-FFF2-40B4-BE49-F238E27FC236}">
                <a16:creationId xmlns:a16="http://schemas.microsoft.com/office/drawing/2014/main" id="{2914819A-214E-D6DD-4063-03B5DA73011F}"/>
              </a:ext>
            </a:extLst>
          </p:cNvPr>
          <p:cNvSpPr>
            <a:spLocks noGrp="1"/>
          </p:cNvSpPr>
          <p:nvPr>
            <p:ph idx="1"/>
          </p:nvPr>
        </p:nvSpPr>
        <p:spPr>
          <a:xfrm>
            <a:off x="812590" y="3556001"/>
            <a:ext cx="22199810" cy="8659814"/>
          </a:xfrm>
        </p:spPr>
        <p:txBody>
          <a:bodyPr>
            <a:normAutofit fontScale="92500"/>
          </a:bodyPr>
          <a:lstStyle/>
          <a:p>
            <a:pPr marL="914400" indent="-914400">
              <a:spcBef>
                <a:spcPct val="0"/>
              </a:spcBef>
              <a:buFont typeface="+mj-lt"/>
              <a:buAutoNum type="arabicPeriod"/>
              <a:defRPr/>
            </a:pPr>
            <a:r>
              <a:rPr lang="en-US" altLang="en-US" sz="5400" dirty="0">
                <a:solidFill>
                  <a:schemeClr val="accent5"/>
                </a:solidFill>
              </a:rPr>
              <a:t>Linearity</a:t>
            </a:r>
            <a:r>
              <a:rPr lang="en-US" altLang="en-US" sz="5400" dirty="0"/>
              <a:t>: </a:t>
            </a:r>
          </a:p>
          <a:p>
            <a:pPr marL="1599971" lvl="1" indent="-685800">
              <a:spcBef>
                <a:spcPct val="0"/>
              </a:spcBef>
              <a:buFont typeface="Arial" panose="020B0604020202020204" pitchFamily="34" charset="0"/>
              <a:buChar char="•"/>
              <a:defRPr/>
            </a:pPr>
            <a:r>
              <a:rPr lang="en-US" altLang="en-US" sz="5400" dirty="0"/>
              <a:t>The relationship between </a:t>
            </a:r>
            <a:r>
              <a:rPr lang="el-GR" altLang="en-US" sz="5400" i="1" dirty="0"/>
              <a:t>μ</a:t>
            </a:r>
            <a:r>
              <a:rPr lang="en-US" altLang="en-US" sz="5400" i="1" baseline="-25000" dirty="0" err="1"/>
              <a:t>y</a:t>
            </a:r>
            <a:r>
              <a:rPr lang="en-US" altLang="en-US" sz="5400" baseline="-25000" dirty="0" err="1"/>
              <a:t>|x</a:t>
            </a:r>
            <a:r>
              <a:rPr lang="en-US" altLang="en-US" sz="5400" dirty="0"/>
              <a:t> (mean of </a:t>
            </a:r>
            <a:r>
              <a:rPr lang="en-US" altLang="en-US" sz="5400" i="1" dirty="0"/>
              <a:t>y</a:t>
            </a:r>
            <a:r>
              <a:rPr lang="en-US" altLang="en-US" sz="5400" dirty="0"/>
              <a:t> given </a:t>
            </a:r>
            <a:r>
              <a:rPr lang="en-US" altLang="en-US" sz="5400" i="1" dirty="0"/>
              <a:t>x</a:t>
            </a:r>
            <a:r>
              <a:rPr lang="en-US" altLang="en-US" sz="5400" dirty="0"/>
              <a:t>) and </a:t>
            </a:r>
            <a:r>
              <a:rPr lang="en-US" altLang="en-US" sz="5400" i="1" dirty="0"/>
              <a:t>x</a:t>
            </a:r>
            <a:r>
              <a:rPr lang="en-US" altLang="en-US" sz="5400" dirty="0"/>
              <a:t> is a straight line</a:t>
            </a:r>
          </a:p>
          <a:p>
            <a:pPr marL="914400" indent="-914400">
              <a:spcBef>
                <a:spcPct val="0"/>
              </a:spcBef>
              <a:buFont typeface="+mj-lt"/>
              <a:buAutoNum type="arabicPeriod"/>
              <a:defRPr/>
            </a:pPr>
            <a:r>
              <a:rPr lang="en-US" altLang="en-US" sz="5400" dirty="0">
                <a:solidFill>
                  <a:schemeClr val="accent5"/>
                </a:solidFill>
              </a:rPr>
              <a:t>Normality</a:t>
            </a:r>
            <a:r>
              <a:rPr lang="en-US" altLang="en-US" sz="5400" dirty="0"/>
              <a:t>: </a:t>
            </a:r>
          </a:p>
          <a:p>
            <a:pPr marL="1599971" lvl="1" indent="-685800">
              <a:spcBef>
                <a:spcPct val="0"/>
              </a:spcBef>
              <a:buFont typeface="Arial" panose="020B0604020202020204" pitchFamily="34" charset="0"/>
              <a:buChar char="•"/>
              <a:defRPr/>
            </a:pPr>
            <a:r>
              <a:rPr lang="en-US" altLang="en-US" sz="5400" dirty="0"/>
              <a:t>For a given value of </a:t>
            </a:r>
            <a:r>
              <a:rPr lang="en-US" altLang="en-US" sz="5400" i="1" dirty="0"/>
              <a:t>x, y</a:t>
            </a:r>
            <a:r>
              <a:rPr lang="en-US" altLang="en-US" sz="5400" dirty="0"/>
              <a:t> is normally distributed</a:t>
            </a:r>
          </a:p>
          <a:p>
            <a:pPr marL="914400" indent="-914400">
              <a:spcBef>
                <a:spcPct val="0"/>
              </a:spcBef>
              <a:buFont typeface="+mj-lt"/>
              <a:buAutoNum type="arabicPeriod"/>
              <a:defRPr/>
            </a:pPr>
            <a:r>
              <a:rPr lang="en-US" altLang="en-US" sz="5400" dirty="0">
                <a:solidFill>
                  <a:schemeClr val="accent5"/>
                </a:solidFill>
              </a:rPr>
              <a:t>Homoscedasticity</a:t>
            </a:r>
            <a:r>
              <a:rPr lang="en-US" altLang="en-US" sz="5400" dirty="0"/>
              <a:t>: </a:t>
            </a:r>
          </a:p>
          <a:p>
            <a:pPr marL="1599971" lvl="1" indent="-685800">
              <a:spcBef>
                <a:spcPct val="0"/>
              </a:spcBef>
              <a:buFont typeface="Arial" panose="020B0604020202020204" pitchFamily="34" charset="0"/>
              <a:buChar char="•"/>
              <a:defRPr/>
            </a:pPr>
            <a:r>
              <a:rPr lang="en-US" altLang="en-US" sz="5400" dirty="0"/>
              <a:t>The standard deviation </a:t>
            </a:r>
            <a:r>
              <a:rPr lang="el-GR" altLang="en-US" sz="5400" dirty="0"/>
              <a:t>σ</a:t>
            </a:r>
            <a:r>
              <a:rPr lang="en-US" altLang="en-US" sz="5400" baseline="-25000" dirty="0" err="1">
                <a:sym typeface="Euclid Symbol" pitchFamily="18" charset="2"/>
              </a:rPr>
              <a:t>y|x</a:t>
            </a:r>
            <a:r>
              <a:rPr lang="en-US" altLang="en-US" sz="5400" dirty="0"/>
              <a:t> is constant for all </a:t>
            </a:r>
            <a:r>
              <a:rPr lang="en-US" altLang="en-US" sz="5400" i="1" dirty="0"/>
              <a:t>x</a:t>
            </a:r>
          </a:p>
          <a:p>
            <a:pPr marL="914400" indent="-914400">
              <a:spcBef>
                <a:spcPct val="0"/>
              </a:spcBef>
              <a:buFont typeface="+mj-lt"/>
              <a:buAutoNum type="arabicPeriod"/>
              <a:defRPr/>
            </a:pPr>
            <a:r>
              <a:rPr lang="en-US" altLang="en-US" sz="5400" dirty="0">
                <a:solidFill>
                  <a:schemeClr val="accent5"/>
                </a:solidFill>
              </a:rPr>
              <a:t>Independence</a:t>
            </a:r>
            <a:r>
              <a:rPr lang="en-US" altLang="en-US" sz="5400" dirty="0"/>
              <a:t>: </a:t>
            </a:r>
          </a:p>
          <a:p>
            <a:pPr marL="1599971" lvl="1" indent="-685800">
              <a:spcBef>
                <a:spcPct val="0"/>
              </a:spcBef>
              <a:buFont typeface="Arial" panose="020B0604020202020204" pitchFamily="34" charset="0"/>
              <a:buChar char="•"/>
              <a:defRPr/>
            </a:pPr>
            <a:r>
              <a:rPr lang="en-US" altLang="en-US" sz="5400" dirty="0"/>
              <a:t>We have </a:t>
            </a:r>
            <a:r>
              <a:rPr lang="en-US" altLang="en-US" sz="5400" i="1" dirty="0"/>
              <a:t>n</a:t>
            </a:r>
            <a:r>
              <a:rPr lang="en-US" altLang="en-US" sz="5400" dirty="0"/>
              <a:t> independent pairs of observations</a:t>
            </a:r>
          </a:p>
          <a:p>
            <a:endParaRPr lang="en-US" dirty="0"/>
          </a:p>
        </p:txBody>
      </p:sp>
    </p:spTree>
    <p:extLst>
      <p:ext uri="{BB962C8B-B14F-4D97-AF65-F5344CB8AC3E}">
        <p14:creationId xmlns:p14="http://schemas.microsoft.com/office/powerpoint/2010/main" val="69274596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A5E62-1971-6965-E8B8-D54F2EF21A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3F75819-3921-D509-5CE9-1BBDB8714E74}"/>
              </a:ext>
            </a:extLst>
          </p:cNvPr>
          <p:cNvSpPr>
            <a:spLocks noGrp="1"/>
          </p:cNvSpPr>
          <p:nvPr>
            <p:ph type="title"/>
          </p:nvPr>
        </p:nvSpPr>
        <p:spPr/>
        <p:txBody>
          <a:bodyPr/>
          <a:lstStyle/>
          <a:p>
            <a:r>
              <a:rPr lang="en-US" dirty="0"/>
              <a:t>Example: Prenatal care</a:t>
            </a:r>
          </a:p>
        </p:txBody>
      </p:sp>
      <p:pic>
        <p:nvPicPr>
          <p:cNvPr id="4" name="Picture 3" descr="A screenshot of a computer&#10;&#10;AI-generated content may be incorrect.">
            <a:extLst>
              <a:ext uri="{FF2B5EF4-FFF2-40B4-BE49-F238E27FC236}">
                <a16:creationId xmlns:a16="http://schemas.microsoft.com/office/drawing/2014/main" id="{6C3620ED-07BA-AF8C-0121-1AEE7B41217E}"/>
              </a:ext>
            </a:extLst>
          </p:cNvPr>
          <p:cNvPicPr>
            <a:picLocks noChangeAspect="1"/>
          </p:cNvPicPr>
          <p:nvPr/>
        </p:nvPicPr>
        <p:blipFill>
          <a:blip r:embed="rId3"/>
          <a:stretch>
            <a:fillRect/>
          </a:stretch>
        </p:blipFill>
        <p:spPr>
          <a:xfrm>
            <a:off x="3401977" y="3110449"/>
            <a:ext cx="17573696" cy="8965763"/>
          </a:xfrm>
          <a:prstGeom prst="rect">
            <a:avLst/>
          </a:prstGeom>
        </p:spPr>
      </p:pic>
    </p:spTree>
    <p:extLst>
      <p:ext uri="{BB962C8B-B14F-4D97-AF65-F5344CB8AC3E}">
        <p14:creationId xmlns:p14="http://schemas.microsoft.com/office/powerpoint/2010/main" val="206864200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3A8495-75DB-C865-27F0-31C4E266698B}"/>
              </a:ext>
            </a:extLst>
          </p:cNvPr>
          <p:cNvSpPr>
            <a:spLocks noGrp="1"/>
          </p:cNvSpPr>
          <p:nvPr>
            <p:ph idx="1"/>
          </p:nvPr>
        </p:nvSpPr>
        <p:spPr>
          <a:xfrm>
            <a:off x="812591" y="3556001"/>
            <a:ext cx="9322009" cy="8659814"/>
          </a:xfrm>
        </p:spPr>
        <p:txBody>
          <a:bodyPr/>
          <a:lstStyle/>
          <a:p>
            <a:r>
              <a:rPr lang="en-US" dirty="0"/>
              <a:t>The function </a:t>
            </a:r>
            <a:r>
              <a:rPr lang="en-US" b="1" dirty="0" err="1">
                <a:solidFill>
                  <a:schemeClr val="accent5"/>
                </a:solidFill>
                <a:latin typeface="Courier New" panose="02070309020205020404" pitchFamily="49" charset="0"/>
                <a:cs typeface="Courier New" panose="02070309020205020404" pitchFamily="49" charset="0"/>
              </a:rPr>
              <a:t>autoplot</a:t>
            </a:r>
            <a:r>
              <a:rPr lang="en-US" dirty="0"/>
              <a:t> from the </a:t>
            </a:r>
            <a:r>
              <a:rPr lang="en-US" b="1" dirty="0" err="1">
                <a:solidFill>
                  <a:schemeClr val="accent5"/>
                </a:solidFill>
                <a:latin typeface="Courier New" panose="02070309020205020404" pitchFamily="49" charset="0"/>
                <a:cs typeface="Courier New" panose="02070309020205020404" pitchFamily="49" charset="0"/>
              </a:rPr>
              <a:t>ggfortify</a:t>
            </a:r>
            <a:r>
              <a:rPr lang="en-US" dirty="0"/>
              <a:t> package can be used to create plots to check if the assumptions of linear regression are met</a:t>
            </a:r>
          </a:p>
        </p:txBody>
      </p:sp>
      <p:sp>
        <p:nvSpPr>
          <p:cNvPr id="3" name="Title 2">
            <a:extLst>
              <a:ext uri="{FF2B5EF4-FFF2-40B4-BE49-F238E27FC236}">
                <a16:creationId xmlns:a16="http://schemas.microsoft.com/office/drawing/2014/main" id="{7D1A9C85-3C11-3067-9144-AB84CB197AA5}"/>
              </a:ext>
            </a:extLst>
          </p:cNvPr>
          <p:cNvSpPr>
            <a:spLocks noGrp="1"/>
          </p:cNvSpPr>
          <p:nvPr>
            <p:ph type="title"/>
          </p:nvPr>
        </p:nvSpPr>
        <p:spPr/>
        <p:txBody>
          <a:bodyPr/>
          <a:lstStyle/>
          <a:p>
            <a:r>
              <a:rPr lang="en-US" dirty="0" err="1"/>
              <a:t>ggforitfy</a:t>
            </a:r>
            <a:r>
              <a:rPr lang="en-US" dirty="0"/>
              <a:t> and </a:t>
            </a:r>
            <a:r>
              <a:rPr lang="en-US" dirty="0" err="1"/>
              <a:t>autoplot</a:t>
            </a:r>
            <a:endParaRPr lang="en-US" dirty="0"/>
          </a:p>
        </p:txBody>
      </p:sp>
      <p:pic>
        <p:nvPicPr>
          <p:cNvPr id="7" name="Picture 6" descr="A close-up of a white sign&#10;&#10;AI-generated content may be incorrect.">
            <a:extLst>
              <a:ext uri="{FF2B5EF4-FFF2-40B4-BE49-F238E27FC236}">
                <a16:creationId xmlns:a16="http://schemas.microsoft.com/office/drawing/2014/main" id="{2314EFB7-346F-9E37-D55B-DA290B83FE0F}"/>
              </a:ext>
            </a:extLst>
          </p:cNvPr>
          <p:cNvPicPr>
            <a:picLocks noChangeAspect="1"/>
          </p:cNvPicPr>
          <p:nvPr/>
        </p:nvPicPr>
        <p:blipFill>
          <a:blip r:embed="rId3"/>
          <a:stretch>
            <a:fillRect/>
          </a:stretch>
        </p:blipFill>
        <p:spPr>
          <a:xfrm>
            <a:off x="12998451" y="3649082"/>
            <a:ext cx="8023225" cy="2767593"/>
          </a:xfrm>
          <a:prstGeom prst="rect">
            <a:avLst/>
          </a:prstGeom>
        </p:spPr>
      </p:pic>
    </p:spTree>
    <p:extLst>
      <p:ext uri="{BB962C8B-B14F-4D97-AF65-F5344CB8AC3E}">
        <p14:creationId xmlns:p14="http://schemas.microsoft.com/office/powerpoint/2010/main" val="66351014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9E01-9CB8-9C30-768D-63F3342D7B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08646B1-794B-087F-387E-E6733DCFAD13}"/>
              </a:ext>
            </a:extLst>
          </p:cNvPr>
          <p:cNvSpPr>
            <a:spLocks noGrp="1"/>
          </p:cNvSpPr>
          <p:nvPr>
            <p:ph idx="1"/>
          </p:nvPr>
        </p:nvSpPr>
        <p:spPr>
          <a:xfrm>
            <a:off x="812591" y="3556001"/>
            <a:ext cx="9017209" cy="8659814"/>
          </a:xfrm>
        </p:spPr>
        <p:txBody>
          <a:bodyPr/>
          <a:lstStyle/>
          <a:p>
            <a:r>
              <a:rPr lang="en-US" dirty="0"/>
              <a:t>The function </a:t>
            </a:r>
            <a:r>
              <a:rPr lang="en-US" b="1" dirty="0" err="1">
                <a:solidFill>
                  <a:schemeClr val="accent5"/>
                </a:solidFill>
                <a:latin typeface="Courier New" panose="02070309020205020404" pitchFamily="49" charset="0"/>
                <a:cs typeface="Courier New" panose="02070309020205020404" pitchFamily="49" charset="0"/>
              </a:rPr>
              <a:t>autoplot</a:t>
            </a:r>
            <a:r>
              <a:rPr lang="en-US" dirty="0"/>
              <a:t> from the </a:t>
            </a:r>
            <a:r>
              <a:rPr lang="en-US" b="1" dirty="0" err="1">
                <a:solidFill>
                  <a:schemeClr val="accent5"/>
                </a:solidFill>
                <a:latin typeface="Courier New" panose="02070309020205020404" pitchFamily="49" charset="0"/>
                <a:cs typeface="Courier New" panose="02070309020205020404" pitchFamily="49" charset="0"/>
              </a:rPr>
              <a:t>ggfortify</a:t>
            </a:r>
            <a:r>
              <a:rPr lang="en-US" dirty="0"/>
              <a:t> package can be used to create plots to check if the assumptions of linear regression are met</a:t>
            </a:r>
          </a:p>
          <a:p>
            <a:pPr marL="685800" indent="-685800">
              <a:buFont typeface="Arial" panose="020B0604020202020204" pitchFamily="34" charset="0"/>
              <a:buChar char="•"/>
            </a:pPr>
            <a:r>
              <a:rPr lang="en-US" dirty="0"/>
              <a:t>Four plots are created, we will use 3 of those plots</a:t>
            </a:r>
          </a:p>
        </p:txBody>
      </p:sp>
      <p:sp>
        <p:nvSpPr>
          <p:cNvPr id="3" name="Title 2">
            <a:extLst>
              <a:ext uri="{FF2B5EF4-FFF2-40B4-BE49-F238E27FC236}">
                <a16:creationId xmlns:a16="http://schemas.microsoft.com/office/drawing/2014/main" id="{C2AE5FB7-CF04-B1AA-D877-5643D1043A64}"/>
              </a:ext>
            </a:extLst>
          </p:cNvPr>
          <p:cNvSpPr>
            <a:spLocks noGrp="1"/>
          </p:cNvSpPr>
          <p:nvPr>
            <p:ph type="title"/>
          </p:nvPr>
        </p:nvSpPr>
        <p:spPr/>
        <p:txBody>
          <a:bodyPr/>
          <a:lstStyle/>
          <a:p>
            <a:r>
              <a:rPr lang="en-US" dirty="0" err="1"/>
              <a:t>ggforitfy</a:t>
            </a:r>
            <a:r>
              <a:rPr lang="en-US" dirty="0"/>
              <a:t> and </a:t>
            </a:r>
            <a:r>
              <a:rPr lang="en-US" dirty="0" err="1"/>
              <a:t>autoplot</a:t>
            </a:r>
            <a:endParaRPr lang="en-US" dirty="0"/>
          </a:p>
        </p:txBody>
      </p:sp>
      <p:pic>
        <p:nvPicPr>
          <p:cNvPr id="5" name="Picture 4" descr="A graph of different values&#10;&#10;AI-generated content may be incorrect.">
            <a:extLst>
              <a:ext uri="{FF2B5EF4-FFF2-40B4-BE49-F238E27FC236}">
                <a16:creationId xmlns:a16="http://schemas.microsoft.com/office/drawing/2014/main" id="{DF0FB844-01D6-F94E-A6D1-B9967FDFFBE1}"/>
              </a:ext>
            </a:extLst>
          </p:cNvPr>
          <p:cNvPicPr>
            <a:picLocks noChangeAspect="1"/>
          </p:cNvPicPr>
          <p:nvPr/>
        </p:nvPicPr>
        <p:blipFill>
          <a:blip r:embed="rId3"/>
          <a:stretch>
            <a:fillRect/>
          </a:stretch>
        </p:blipFill>
        <p:spPr>
          <a:xfrm>
            <a:off x="10712593" y="3110449"/>
            <a:ext cx="12805206" cy="9105366"/>
          </a:xfrm>
          <a:prstGeom prst="rect">
            <a:avLst/>
          </a:prstGeom>
        </p:spPr>
      </p:pic>
      <p:sp>
        <p:nvSpPr>
          <p:cNvPr id="4" name="Rounded Rectangle 3">
            <a:extLst>
              <a:ext uri="{FF2B5EF4-FFF2-40B4-BE49-F238E27FC236}">
                <a16:creationId xmlns:a16="http://schemas.microsoft.com/office/drawing/2014/main" id="{76E6EC4F-D4E5-FAC2-34B2-50FBFCD10C7E}"/>
              </a:ext>
            </a:extLst>
          </p:cNvPr>
          <p:cNvSpPr/>
          <p:nvPr/>
        </p:nvSpPr>
        <p:spPr>
          <a:xfrm>
            <a:off x="10712593" y="3110449"/>
            <a:ext cx="6553199" cy="4560351"/>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1B7D5271-7998-D0B3-D813-CE1A9BBC6DDA}"/>
              </a:ext>
            </a:extLst>
          </p:cNvPr>
          <p:cNvSpPr/>
          <p:nvPr/>
        </p:nvSpPr>
        <p:spPr>
          <a:xfrm>
            <a:off x="10712593" y="7647796"/>
            <a:ext cx="6553199" cy="4560351"/>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9C075FC2-0E56-EA39-F2EE-ED055D16EA11}"/>
              </a:ext>
            </a:extLst>
          </p:cNvPr>
          <p:cNvSpPr/>
          <p:nvPr/>
        </p:nvSpPr>
        <p:spPr>
          <a:xfrm>
            <a:off x="17265792" y="3110449"/>
            <a:ext cx="6553199" cy="4560351"/>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88537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74B05C-A3B1-F95B-6964-528A144BBD6F}"/>
              </a:ext>
            </a:extLst>
          </p:cNvPr>
          <p:cNvSpPr>
            <a:spLocks noGrp="1"/>
          </p:cNvSpPr>
          <p:nvPr>
            <p:ph idx="1"/>
          </p:nvPr>
        </p:nvSpPr>
        <p:spPr>
          <a:xfrm>
            <a:off x="812591" y="3556001"/>
            <a:ext cx="9906210" cy="8659814"/>
          </a:xfrm>
        </p:spPr>
        <p:txBody>
          <a:bodyPr>
            <a:normAutofit fontScale="92500"/>
          </a:bodyPr>
          <a:lstStyle/>
          <a:p>
            <a:r>
              <a:rPr lang="en-US" dirty="0"/>
              <a:t>A plot of the residuals (difference between the actual values and the values predicted with the regression line) versus the fitted values is used to check </a:t>
            </a:r>
            <a:r>
              <a:rPr lang="en-US" dirty="0">
                <a:solidFill>
                  <a:schemeClr val="accent5"/>
                </a:solidFill>
              </a:rPr>
              <a:t>linearity</a:t>
            </a:r>
            <a:r>
              <a:rPr lang="en-US" dirty="0"/>
              <a:t>.</a:t>
            </a:r>
          </a:p>
          <a:p>
            <a:pPr marL="685800" indent="-685800">
              <a:buFont typeface="Arial" panose="020B0604020202020204" pitchFamily="34" charset="0"/>
              <a:buChar char="•"/>
            </a:pPr>
            <a:r>
              <a:rPr lang="en-US" dirty="0"/>
              <a:t>A horizontal line, without distinct patterns is an indication for a linear relationship</a:t>
            </a:r>
          </a:p>
        </p:txBody>
      </p:sp>
      <p:sp>
        <p:nvSpPr>
          <p:cNvPr id="3" name="Title 2">
            <a:extLst>
              <a:ext uri="{FF2B5EF4-FFF2-40B4-BE49-F238E27FC236}">
                <a16:creationId xmlns:a16="http://schemas.microsoft.com/office/drawing/2014/main" id="{E70B4721-DB87-84B1-F9FF-C4DC0251AF78}"/>
              </a:ext>
            </a:extLst>
          </p:cNvPr>
          <p:cNvSpPr>
            <a:spLocks noGrp="1"/>
          </p:cNvSpPr>
          <p:nvPr>
            <p:ph type="title"/>
          </p:nvPr>
        </p:nvSpPr>
        <p:spPr/>
        <p:txBody>
          <a:bodyPr/>
          <a:lstStyle/>
          <a:p>
            <a:r>
              <a:rPr lang="en-US" dirty="0"/>
              <a:t>Linearity</a:t>
            </a:r>
          </a:p>
        </p:txBody>
      </p:sp>
      <p:pic>
        <p:nvPicPr>
          <p:cNvPr id="5" name="Picture 4" descr="A graph with a line and a line&#10;&#10;AI-generated content may be incorrect.">
            <a:extLst>
              <a:ext uri="{FF2B5EF4-FFF2-40B4-BE49-F238E27FC236}">
                <a16:creationId xmlns:a16="http://schemas.microsoft.com/office/drawing/2014/main" id="{E5559828-8CCA-0761-B034-1174D0515E90}"/>
              </a:ext>
            </a:extLst>
          </p:cNvPr>
          <p:cNvPicPr>
            <a:picLocks noChangeAspect="1"/>
          </p:cNvPicPr>
          <p:nvPr/>
        </p:nvPicPr>
        <p:blipFill>
          <a:blip r:embed="rId3"/>
          <a:stretch>
            <a:fillRect/>
          </a:stretch>
        </p:blipFill>
        <p:spPr>
          <a:xfrm>
            <a:off x="12188825" y="3556001"/>
            <a:ext cx="10975975" cy="7735038"/>
          </a:xfrm>
          <a:prstGeom prst="rect">
            <a:avLst/>
          </a:prstGeom>
        </p:spPr>
      </p:pic>
    </p:spTree>
    <p:extLst>
      <p:ext uri="{BB962C8B-B14F-4D97-AF65-F5344CB8AC3E}">
        <p14:creationId xmlns:p14="http://schemas.microsoft.com/office/powerpoint/2010/main" val="2764790029"/>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C747E-697A-78A5-5AC0-E550255995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CA02F1-38B0-BD0D-C17B-5EE17F03522F}"/>
              </a:ext>
            </a:extLst>
          </p:cNvPr>
          <p:cNvSpPr>
            <a:spLocks noGrp="1"/>
          </p:cNvSpPr>
          <p:nvPr>
            <p:ph idx="1"/>
          </p:nvPr>
        </p:nvSpPr>
        <p:spPr>
          <a:xfrm>
            <a:off x="812590" y="3556001"/>
            <a:ext cx="10617409" cy="8659814"/>
          </a:xfrm>
        </p:spPr>
        <p:txBody>
          <a:bodyPr>
            <a:normAutofit lnSpcReduction="10000"/>
          </a:bodyPr>
          <a:lstStyle/>
          <a:p>
            <a:r>
              <a:rPr lang="en-US" dirty="0"/>
              <a:t>The linearity assumption is violated in our dataset</a:t>
            </a:r>
          </a:p>
          <a:p>
            <a:pPr marL="685800" indent="-685800">
              <a:buFont typeface="Arial" panose="020B0604020202020204" pitchFamily="34" charset="0"/>
              <a:buChar char="•"/>
            </a:pPr>
            <a:r>
              <a:rPr lang="en-US" dirty="0"/>
              <a:t>Due to the relatively small amount of data with lower values of gestational age</a:t>
            </a:r>
          </a:p>
          <a:p>
            <a:pPr marL="685800" indent="-685800">
              <a:buFont typeface="Arial" panose="020B0604020202020204" pitchFamily="34" charset="0"/>
              <a:buChar char="•"/>
            </a:pPr>
            <a:r>
              <a:rPr lang="en-US" dirty="0"/>
              <a:t>A potential solution would be to transform the exposure variable (log, square root, etc.) </a:t>
            </a:r>
          </a:p>
        </p:txBody>
      </p:sp>
      <p:sp>
        <p:nvSpPr>
          <p:cNvPr id="3" name="Title 2">
            <a:extLst>
              <a:ext uri="{FF2B5EF4-FFF2-40B4-BE49-F238E27FC236}">
                <a16:creationId xmlns:a16="http://schemas.microsoft.com/office/drawing/2014/main" id="{4C48B619-26D5-8533-5CB5-90381A7438A0}"/>
              </a:ext>
            </a:extLst>
          </p:cNvPr>
          <p:cNvSpPr>
            <a:spLocks noGrp="1"/>
          </p:cNvSpPr>
          <p:nvPr>
            <p:ph type="title"/>
          </p:nvPr>
        </p:nvSpPr>
        <p:spPr/>
        <p:txBody>
          <a:bodyPr/>
          <a:lstStyle/>
          <a:p>
            <a:r>
              <a:rPr lang="en-US" dirty="0"/>
              <a:t>Linearity</a:t>
            </a:r>
          </a:p>
        </p:txBody>
      </p:sp>
      <p:pic>
        <p:nvPicPr>
          <p:cNvPr id="5" name="Picture 4" descr="A graph with a line and a line&#10;&#10;AI-generated content may be incorrect.">
            <a:extLst>
              <a:ext uri="{FF2B5EF4-FFF2-40B4-BE49-F238E27FC236}">
                <a16:creationId xmlns:a16="http://schemas.microsoft.com/office/drawing/2014/main" id="{706F1DE7-6BDE-407D-A375-57E91D15276E}"/>
              </a:ext>
            </a:extLst>
          </p:cNvPr>
          <p:cNvPicPr>
            <a:picLocks noChangeAspect="1"/>
          </p:cNvPicPr>
          <p:nvPr/>
        </p:nvPicPr>
        <p:blipFill>
          <a:blip r:embed="rId3"/>
          <a:stretch>
            <a:fillRect/>
          </a:stretch>
        </p:blipFill>
        <p:spPr>
          <a:xfrm>
            <a:off x="12188825" y="3556001"/>
            <a:ext cx="10975975" cy="7735038"/>
          </a:xfrm>
          <a:prstGeom prst="rect">
            <a:avLst/>
          </a:prstGeom>
        </p:spPr>
      </p:pic>
    </p:spTree>
    <p:extLst>
      <p:ext uri="{BB962C8B-B14F-4D97-AF65-F5344CB8AC3E}">
        <p14:creationId xmlns:p14="http://schemas.microsoft.com/office/powerpoint/2010/main" val="326697017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A54DFE-454E-505E-0078-05AC916574FB}"/>
              </a:ext>
            </a:extLst>
          </p:cNvPr>
          <p:cNvSpPr>
            <a:spLocks noGrp="1"/>
          </p:cNvSpPr>
          <p:nvPr>
            <p:ph idx="1"/>
          </p:nvPr>
        </p:nvSpPr>
        <p:spPr>
          <a:xfrm>
            <a:off x="812590" y="3556001"/>
            <a:ext cx="10541209" cy="8659814"/>
          </a:xfrm>
        </p:spPr>
        <p:txBody>
          <a:bodyPr/>
          <a:lstStyle/>
          <a:p>
            <a:r>
              <a:rPr lang="en-US" dirty="0"/>
              <a:t>A quantile-quantile plot (Normal Q-Q plot) is used to check the </a:t>
            </a:r>
            <a:r>
              <a:rPr lang="en-US" dirty="0">
                <a:solidFill>
                  <a:schemeClr val="accent5"/>
                </a:solidFill>
              </a:rPr>
              <a:t>normality</a:t>
            </a:r>
            <a:r>
              <a:rPr lang="en-US" dirty="0"/>
              <a:t> assumption.</a:t>
            </a:r>
          </a:p>
          <a:p>
            <a:pPr marL="685800" indent="-685800">
              <a:buFont typeface="Arial" panose="020B0604020202020204" pitchFamily="34" charset="0"/>
              <a:buChar char="•"/>
            </a:pPr>
            <a:r>
              <a:rPr lang="en-US" dirty="0"/>
              <a:t>The normality assumption is met if the standardized residuals follow the straight dashed line</a:t>
            </a:r>
          </a:p>
        </p:txBody>
      </p:sp>
      <p:sp>
        <p:nvSpPr>
          <p:cNvPr id="3" name="Title 2">
            <a:extLst>
              <a:ext uri="{FF2B5EF4-FFF2-40B4-BE49-F238E27FC236}">
                <a16:creationId xmlns:a16="http://schemas.microsoft.com/office/drawing/2014/main" id="{818B7FFB-5327-97C1-96A4-7041DEAD09F3}"/>
              </a:ext>
            </a:extLst>
          </p:cNvPr>
          <p:cNvSpPr>
            <a:spLocks noGrp="1"/>
          </p:cNvSpPr>
          <p:nvPr>
            <p:ph type="title"/>
          </p:nvPr>
        </p:nvSpPr>
        <p:spPr/>
        <p:txBody>
          <a:bodyPr/>
          <a:lstStyle/>
          <a:p>
            <a:r>
              <a:rPr lang="en-US" dirty="0"/>
              <a:t>Normality</a:t>
            </a:r>
          </a:p>
        </p:txBody>
      </p:sp>
      <p:pic>
        <p:nvPicPr>
          <p:cNvPr id="5" name="Picture 4" descr="A graph showing a line&#10;&#10;AI-generated content may be incorrect.">
            <a:extLst>
              <a:ext uri="{FF2B5EF4-FFF2-40B4-BE49-F238E27FC236}">
                <a16:creationId xmlns:a16="http://schemas.microsoft.com/office/drawing/2014/main" id="{B7AEE207-3AC9-090E-9C04-EC5D275AA25A}"/>
              </a:ext>
            </a:extLst>
          </p:cNvPr>
          <p:cNvPicPr>
            <a:picLocks noChangeAspect="1"/>
          </p:cNvPicPr>
          <p:nvPr/>
        </p:nvPicPr>
        <p:blipFill>
          <a:blip r:embed="rId3"/>
          <a:stretch>
            <a:fillRect/>
          </a:stretch>
        </p:blipFill>
        <p:spPr>
          <a:xfrm>
            <a:off x="12311113" y="3556001"/>
            <a:ext cx="10865851" cy="7721599"/>
          </a:xfrm>
          <a:prstGeom prst="rect">
            <a:avLst/>
          </a:prstGeom>
        </p:spPr>
      </p:pic>
    </p:spTree>
    <p:extLst>
      <p:ext uri="{BB962C8B-B14F-4D97-AF65-F5344CB8AC3E}">
        <p14:creationId xmlns:p14="http://schemas.microsoft.com/office/powerpoint/2010/main" val="148137004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726F1-EC0B-FF46-E54E-6EE9D58AC4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5E6600-151C-2162-4F42-5BD883C3210B}"/>
              </a:ext>
            </a:extLst>
          </p:cNvPr>
          <p:cNvSpPr>
            <a:spLocks noGrp="1"/>
          </p:cNvSpPr>
          <p:nvPr>
            <p:ph idx="1"/>
          </p:nvPr>
        </p:nvSpPr>
        <p:spPr>
          <a:xfrm>
            <a:off x="812590" y="3556000"/>
            <a:ext cx="11253948" cy="9423400"/>
          </a:xfrm>
        </p:spPr>
        <p:txBody>
          <a:bodyPr>
            <a:normAutofit/>
          </a:bodyPr>
          <a:lstStyle/>
          <a:p>
            <a:r>
              <a:rPr lang="en-US" sz="5400" dirty="0"/>
              <a:t>Looking at the plot, it’s difficult to be sure the normality assumption is met.</a:t>
            </a:r>
          </a:p>
          <a:p>
            <a:pPr marL="571500" indent="-571500">
              <a:buFont typeface="Arial" panose="020B0604020202020204" pitchFamily="34" charset="0"/>
              <a:buChar char="•"/>
            </a:pPr>
            <a:r>
              <a:rPr lang="en-US" sz="5400" dirty="0"/>
              <a:t>Can use the Shapiro-Wilk test to test the normality assumption</a:t>
            </a:r>
          </a:p>
        </p:txBody>
      </p:sp>
      <p:sp>
        <p:nvSpPr>
          <p:cNvPr id="3" name="Title 2">
            <a:extLst>
              <a:ext uri="{FF2B5EF4-FFF2-40B4-BE49-F238E27FC236}">
                <a16:creationId xmlns:a16="http://schemas.microsoft.com/office/drawing/2014/main" id="{969A10F4-7C04-8079-0CA4-81BB10031248}"/>
              </a:ext>
            </a:extLst>
          </p:cNvPr>
          <p:cNvSpPr>
            <a:spLocks noGrp="1"/>
          </p:cNvSpPr>
          <p:nvPr>
            <p:ph type="title"/>
          </p:nvPr>
        </p:nvSpPr>
        <p:spPr/>
        <p:txBody>
          <a:bodyPr/>
          <a:lstStyle/>
          <a:p>
            <a:r>
              <a:rPr lang="en-US" dirty="0"/>
              <a:t>Normality</a:t>
            </a:r>
          </a:p>
        </p:txBody>
      </p:sp>
      <p:pic>
        <p:nvPicPr>
          <p:cNvPr id="5" name="Picture 4" descr="A graph showing a line&#10;&#10;AI-generated content may be incorrect.">
            <a:extLst>
              <a:ext uri="{FF2B5EF4-FFF2-40B4-BE49-F238E27FC236}">
                <a16:creationId xmlns:a16="http://schemas.microsoft.com/office/drawing/2014/main" id="{B46DDCBB-A3CE-EA1E-9819-603F9E1C5231}"/>
              </a:ext>
            </a:extLst>
          </p:cNvPr>
          <p:cNvPicPr>
            <a:picLocks noChangeAspect="1"/>
          </p:cNvPicPr>
          <p:nvPr/>
        </p:nvPicPr>
        <p:blipFill>
          <a:blip r:embed="rId3"/>
          <a:stretch>
            <a:fillRect/>
          </a:stretch>
        </p:blipFill>
        <p:spPr>
          <a:xfrm>
            <a:off x="12311113" y="3556001"/>
            <a:ext cx="10865851" cy="7721599"/>
          </a:xfrm>
          <a:prstGeom prst="rect">
            <a:avLst/>
          </a:prstGeom>
        </p:spPr>
      </p:pic>
    </p:spTree>
    <p:extLst>
      <p:ext uri="{BB962C8B-B14F-4D97-AF65-F5344CB8AC3E}">
        <p14:creationId xmlns:p14="http://schemas.microsoft.com/office/powerpoint/2010/main" val="396343918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0806F-C191-F1CF-FEB8-C4CDA6D3AE6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A9C027-DA24-D563-9B88-0F77D6AEE278}"/>
              </a:ext>
            </a:extLst>
          </p:cNvPr>
          <p:cNvSpPr>
            <a:spLocks noGrp="1"/>
          </p:cNvSpPr>
          <p:nvPr>
            <p:ph idx="1"/>
          </p:nvPr>
        </p:nvSpPr>
        <p:spPr>
          <a:xfrm>
            <a:off x="812589" y="3302000"/>
            <a:ext cx="12851835" cy="9677400"/>
          </a:xfrm>
        </p:spPr>
        <p:txBody>
          <a:bodyPr>
            <a:normAutofit/>
          </a:bodyPr>
          <a:lstStyle/>
          <a:p>
            <a:r>
              <a:rPr lang="en-US" sz="4800" dirty="0"/>
              <a:t>The normality assumption is not met in the dataset since the p-value is &lt; 0.05. </a:t>
            </a:r>
          </a:p>
          <a:p>
            <a:r>
              <a:rPr lang="en-US" sz="4800" dirty="0"/>
              <a:t>A few potential solutions include</a:t>
            </a:r>
          </a:p>
          <a:p>
            <a:pPr marL="685800" indent="-685800">
              <a:buFont typeface="Arial" panose="020B0604020202020204" pitchFamily="34" charset="0"/>
              <a:buChar char="•"/>
            </a:pPr>
            <a:r>
              <a:rPr lang="en-US" sz="4800" dirty="0"/>
              <a:t>Applying data transformations to the exposure variable </a:t>
            </a:r>
          </a:p>
          <a:p>
            <a:pPr marL="685800" indent="-685800">
              <a:buFont typeface="Arial" panose="020B0604020202020204" pitchFamily="34" charset="0"/>
              <a:buChar char="•"/>
            </a:pPr>
            <a:r>
              <a:rPr lang="en-US" sz="4800" dirty="0"/>
              <a:t>Using robust regression methods that are less sensitive to non-normal data or outliers</a:t>
            </a:r>
          </a:p>
          <a:p>
            <a:pPr marL="685800" indent="-685800">
              <a:buFont typeface="Arial" panose="020B0604020202020204" pitchFamily="34" charset="0"/>
              <a:buChar char="•"/>
            </a:pPr>
            <a:r>
              <a:rPr lang="en-US" sz="4800" dirty="0"/>
              <a:t>Remove outliers</a:t>
            </a:r>
          </a:p>
        </p:txBody>
      </p:sp>
      <p:sp>
        <p:nvSpPr>
          <p:cNvPr id="3" name="Title 2">
            <a:extLst>
              <a:ext uri="{FF2B5EF4-FFF2-40B4-BE49-F238E27FC236}">
                <a16:creationId xmlns:a16="http://schemas.microsoft.com/office/drawing/2014/main" id="{FF86C1C5-242B-95C5-F729-FC01CF5DDAB2}"/>
              </a:ext>
            </a:extLst>
          </p:cNvPr>
          <p:cNvSpPr>
            <a:spLocks noGrp="1"/>
          </p:cNvSpPr>
          <p:nvPr>
            <p:ph type="title"/>
          </p:nvPr>
        </p:nvSpPr>
        <p:spPr/>
        <p:txBody>
          <a:bodyPr/>
          <a:lstStyle/>
          <a:p>
            <a:r>
              <a:rPr lang="en-US" dirty="0"/>
              <a:t>Normality</a:t>
            </a:r>
          </a:p>
        </p:txBody>
      </p:sp>
      <p:pic>
        <p:nvPicPr>
          <p:cNvPr id="6" name="Picture 5" descr="A screenshot of a test&#10;&#10;AI-generated content may be incorrect.">
            <a:extLst>
              <a:ext uri="{FF2B5EF4-FFF2-40B4-BE49-F238E27FC236}">
                <a16:creationId xmlns:a16="http://schemas.microsoft.com/office/drawing/2014/main" id="{CEB33DAF-FF14-AC20-8799-DCC109220D32}"/>
              </a:ext>
            </a:extLst>
          </p:cNvPr>
          <p:cNvPicPr>
            <a:picLocks noChangeAspect="1"/>
          </p:cNvPicPr>
          <p:nvPr/>
        </p:nvPicPr>
        <p:blipFill>
          <a:blip r:embed="rId3"/>
          <a:stretch>
            <a:fillRect/>
          </a:stretch>
        </p:blipFill>
        <p:spPr>
          <a:xfrm>
            <a:off x="14097000" y="3110449"/>
            <a:ext cx="9858377" cy="5170618"/>
          </a:xfrm>
          <a:prstGeom prst="rect">
            <a:avLst/>
          </a:prstGeom>
        </p:spPr>
      </p:pic>
    </p:spTree>
    <p:extLst>
      <p:ext uri="{BB962C8B-B14F-4D97-AF65-F5344CB8AC3E}">
        <p14:creationId xmlns:p14="http://schemas.microsoft.com/office/powerpoint/2010/main" val="128632756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852FE8-1BCA-E144-1605-7F0668BFEDAC}"/>
              </a:ext>
            </a:extLst>
          </p:cNvPr>
          <p:cNvSpPr>
            <a:spLocks noGrp="1"/>
          </p:cNvSpPr>
          <p:nvPr>
            <p:ph idx="1"/>
          </p:nvPr>
        </p:nvSpPr>
        <p:spPr>
          <a:xfrm>
            <a:off x="812591" y="3556001"/>
            <a:ext cx="10566610" cy="8659814"/>
          </a:xfrm>
        </p:spPr>
        <p:txBody>
          <a:bodyPr>
            <a:normAutofit fontScale="92500" lnSpcReduction="10000"/>
          </a:bodyPr>
          <a:lstStyle/>
          <a:p>
            <a:r>
              <a:rPr lang="en-US" dirty="0"/>
              <a:t>A plot of the square root of the standardized residuals versus the fitted values is used to check the </a:t>
            </a:r>
            <a:r>
              <a:rPr lang="en-US" dirty="0">
                <a:solidFill>
                  <a:schemeClr val="accent5"/>
                </a:solidFill>
              </a:rPr>
              <a:t>homoscedasticity</a:t>
            </a:r>
            <a:r>
              <a:rPr lang="en-US" dirty="0"/>
              <a:t> assumption. </a:t>
            </a:r>
          </a:p>
          <a:p>
            <a:pPr marL="685800" indent="-685800">
              <a:buFont typeface="Arial" panose="020B0604020202020204" pitchFamily="34" charset="0"/>
              <a:buChar char="•"/>
            </a:pPr>
            <a:r>
              <a:rPr lang="en-US" dirty="0"/>
              <a:t>Called a scale-location or spread-location plot</a:t>
            </a:r>
          </a:p>
          <a:p>
            <a:pPr marL="685800" indent="-685800">
              <a:buFont typeface="Arial" panose="020B0604020202020204" pitchFamily="34" charset="0"/>
              <a:buChar char="•"/>
            </a:pPr>
            <a:r>
              <a:rPr lang="en-US" dirty="0"/>
              <a:t>A horizontal line with equally spread points is a good indication of homoscedasticity.</a:t>
            </a:r>
          </a:p>
        </p:txBody>
      </p:sp>
      <p:sp>
        <p:nvSpPr>
          <p:cNvPr id="3" name="Title 2">
            <a:extLst>
              <a:ext uri="{FF2B5EF4-FFF2-40B4-BE49-F238E27FC236}">
                <a16:creationId xmlns:a16="http://schemas.microsoft.com/office/drawing/2014/main" id="{40C2015F-670E-F164-43E0-85CAADB8EA8C}"/>
              </a:ext>
            </a:extLst>
          </p:cNvPr>
          <p:cNvSpPr>
            <a:spLocks noGrp="1"/>
          </p:cNvSpPr>
          <p:nvPr>
            <p:ph type="title"/>
          </p:nvPr>
        </p:nvSpPr>
        <p:spPr/>
        <p:txBody>
          <a:bodyPr/>
          <a:lstStyle/>
          <a:p>
            <a:r>
              <a:rPr lang="en-US" dirty="0"/>
              <a:t>Homoscedasticity</a:t>
            </a:r>
          </a:p>
        </p:txBody>
      </p:sp>
      <p:pic>
        <p:nvPicPr>
          <p:cNvPr id="5" name="Picture 4" descr="A graph with a line going up&#10;&#10;AI-generated content may be incorrect.">
            <a:extLst>
              <a:ext uri="{FF2B5EF4-FFF2-40B4-BE49-F238E27FC236}">
                <a16:creationId xmlns:a16="http://schemas.microsoft.com/office/drawing/2014/main" id="{DEC1ADC7-3CC7-B072-E761-62448147EBC1}"/>
              </a:ext>
            </a:extLst>
          </p:cNvPr>
          <p:cNvPicPr>
            <a:picLocks noChangeAspect="1"/>
          </p:cNvPicPr>
          <p:nvPr/>
        </p:nvPicPr>
        <p:blipFill>
          <a:blip r:embed="rId3"/>
          <a:stretch>
            <a:fillRect/>
          </a:stretch>
        </p:blipFill>
        <p:spPr>
          <a:xfrm>
            <a:off x="12297932" y="3556001"/>
            <a:ext cx="10962327" cy="7746999"/>
          </a:xfrm>
          <a:prstGeom prst="rect">
            <a:avLst/>
          </a:prstGeom>
        </p:spPr>
      </p:pic>
    </p:spTree>
    <p:extLst>
      <p:ext uri="{BB962C8B-B14F-4D97-AF65-F5344CB8AC3E}">
        <p14:creationId xmlns:p14="http://schemas.microsoft.com/office/powerpoint/2010/main" val="64845486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BCBEC-E234-6ABD-B0FD-66254B7DCD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2AD89-49E2-16B3-A63A-997BFA61A261}"/>
              </a:ext>
            </a:extLst>
          </p:cNvPr>
          <p:cNvSpPr>
            <a:spLocks noGrp="1"/>
          </p:cNvSpPr>
          <p:nvPr>
            <p:ph idx="1"/>
          </p:nvPr>
        </p:nvSpPr>
        <p:spPr>
          <a:xfrm>
            <a:off x="812591" y="3556001"/>
            <a:ext cx="10566610" cy="8659814"/>
          </a:xfrm>
        </p:spPr>
        <p:txBody>
          <a:bodyPr>
            <a:normAutofit lnSpcReduction="10000"/>
          </a:bodyPr>
          <a:lstStyle/>
          <a:p>
            <a:r>
              <a:rPr lang="en-US" dirty="0"/>
              <a:t>The homoscedasticity assumption is violated in our dataset.</a:t>
            </a:r>
          </a:p>
          <a:p>
            <a:pPr marL="685800" indent="-685800">
              <a:buFont typeface="Arial" panose="020B0604020202020204" pitchFamily="34" charset="0"/>
              <a:buChar char="•"/>
            </a:pPr>
            <a:r>
              <a:rPr lang="en-US" dirty="0"/>
              <a:t>Due to the relatively small amount of data with lower values of gestational age</a:t>
            </a:r>
          </a:p>
          <a:p>
            <a:pPr marL="685800" indent="-685800">
              <a:buFont typeface="Arial" panose="020B0604020202020204" pitchFamily="34" charset="0"/>
              <a:buChar char="•"/>
            </a:pPr>
            <a:r>
              <a:rPr lang="en-US" dirty="0"/>
              <a:t>A potential solution would be to transform the outcome variable (log, square root, etc.)</a:t>
            </a:r>
          </a:p>
          <a:p>
            <a:pPr marL="685800" indent="-6858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ECEFF149-D688-F620-35E4-77C2AEEFEA88}"/>
              </a:ext>
            </a:extLst>
          </p:cNvPr>
          <p:cNvSpPr>
            <a:spLocks noGrp="1"/>
          </p:cNvSpPr>
          <p:nvPr>
            <p:ph type="title"/>
          </p:nvPr>
        </p:nvSpPr>
        <p:spPr/>
        <p:txBody>
          <a:bodyPr/>
          <a:lstStyle/>
          <a:p>
            <a:r>
              <a:rPr lang="en-US" dirty="0"/>
              <a:t>Homoscedasticity</a:t>
            </a:r>
          </a:p>
        </p:txBody>
      </p:sp>
      <p:pic>
        <p:nvPicPr>
          <p:cNvPr id="5" name="Picture 4" descr="A graph with a line going up&#10;&#10;AI-generated content may be incorrect.">
            <a:extLst>
              <a:ext uri="{FF2B5EF4-FFF2-40B4-BE49-F238E27FC236}">
                <a16:creationId xmlns:a16="http://schemas.microsoft.com/office/drawing/2014/main" id="{CFD6C529-BBA0-2382-AB9B-87EBB5AC049F}"/>
              </a:ext>
            </a:extLst>
          </p:cNvPr>
          <p:cNvPicPr>
            <a:picLocks noChangeAspect="1"/>
          </p:cNvPicPr>
          <p:nvPr/>
        </p:nvPicPr>
        <p:blipFill>
          <a:blip r:embed="rId3"/>
          <a:stretch>
            <a:fillRect/>
          </a:stretch>
        </p:blipFill>
        <p:spPr>
          <a:xfrm>
            <a:off x="12297932" y="3556001"/>
            <a:ext cx="10962327" cy="7746999"/>
          </a:xfrm>
          <a:prstGeom prst="rect">
            <a:avLst/>
          </a:prstGeom>
        </p:spPr>
      </p:pic>
    </p:spTree>
    <p:extLst>
      <p:ext uri="{BB962C8B-B14F-4D97-AF65-F5344CB8AC3E}">
        <p14:creationId xmlns:p14="http://schemas.microsoft.com/office/powerpoint/2010/main" val="854895668"/>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FFD669-3E19-47F6-D7E9-EABC377B145B}"/>
              </a:ext>
            </a:extLst>
          </p:cNvPr>
          <p:cNvSpPr>
            <a:spLocks noGrp="1"/>
          </p:cNvSpPr>
          <p:nvPr>
            <p:ph idx="1"/>
          </p:nvPr>
        </p:nvSpPr>
        <p:spPr/>
        <p:txBody>
          <a:bodyPr/>
          <a:lstStyle/>
          <a:p>
            <a:r>
              <a:rPr lang="en-US" dirty="0"/>
              <a:t>The only way to check the </a:t>
            </a:r>
            <a:r>
              <a:rPr lang="en-US" dirty="0">
                <a:solidFill>
                  <a:schemeClr val="accent5"/>
                </a:solidFill>
              </a:rPr>
              <a:t>independence</a:t>
            </a:r>
            <a:r>
              <a:rPr lang="en-US" dirty="0"/>
              <a:t> assumption is having knowledge of the study / sampling design.</a:t>
            </a:r>
          </a:p>
          <a:p>
            <a:pPr marL="685800" indent="-685800">
              <a:buFont typeface="Arial" panose="020B0604020202020204" pitchFamily="34" charset="0"/>
              <a:buChar char="•"/>
            </a:pPr>
            <a:r>
              <a:rPr lang="en-US" dirty="0"/>
              <a:t>Contact those responsible for data collection</a:t>
            </a:r>
          </a:p>
          <a:p>
            <a:pPr marL="685800" indent="-685800">
              <a:buFont typeface="Arial" panose="020B0604020202020204" pitchFamily="34" charset="0"/>
              <a:buChar char="•"/>
            </a:pPr>
            <a:r>
              <a:rPr lang="en-US" dirty="0"/>
              <a:t>Read study documentation</a:t>
            </a:r>
          </a:p>
          <a:p>
            <a:pPr marL="685800" indent="-685800">
              <a:buFont typeface="Arial" panose="020B0604020202020204" pitchFamily="34" charset="0"/>
              <a:buChar char="•"/>
            </a:pPr>
            <a:r>
              <a:rPr lang="en-US" dirty="0"/>
              <a:t>Create a subset of the original dataset that only includes independent pairs of observations</a:t>
            </a:r>
          </a:p>
          <a:p>
            <a:r>
              <a:rPr lang="en-US" dirty="0"/>
              <a:t>The independence assumption holds for this dataset.</a:t>
            </a:r>
          </a:p>
        </p:txBody>
      </p:sp>
      <p:sp>
        <p:nvSpPr>
          <p:cNvPr id="3" name="Title 2">
            <a:extLst>
              <a:ext uri="{FF2B5EF4-FFF2-40B4-BE49-F238E27FC236}">
                <a16:creationId xmlns:a16="http://schemas.microsoft.com/office/drawing/2014/main" id="{99DEAF0C-94CE-C369-B385-FCFE2479CAE9}"/>
              </a:ext>
            </a:extLst>
          </p:cNvPr>
          <p:cNvSpPr>
            <a:spLocks noGrp="1"/>
          </p:cNvSpPr>
          <p:nvPr>
            <p:ph type="title"/>
          </p:nvPr>
        </p:nvSpPr>
        <p:spPr/>
        <p:txBody>
          <a:bodyPr/>
          <a:lstStyle/>
          <a:p>
            <a:r>
              <a:rPr lang="en-US" dirty="0"/>
              <a:t>Independence</a:t>
            </a:r>
          </a:p>
        </p:txBody>
      </p:sp>
    </p:spTree>
    <p:extLst>
      <p:ext uri="{BB962C8B-B14F-4D97-AF65-F5344CB8AC3E}">
        <p14:creationId xmlns:p14="http://schemas.microsoft.com/office/powerpoint/2010/main" val="406926668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AEFF02-0FB2-860B-9DF7-AF2747C1B535}"/>
              </a:ext>
            </a:extLst>
          </p:cNvPr>
          <p:cNvSpPr>
            <a:spLocks noGrp="1"/>
          </p:cNvSpPr>
          <p:nvPr>
            <p:ph idx="1"/>
          </p:nvPr>
        </p:nvSpPr>
        <p:spPr>
          <a:xfrm>
            <a:off x="812590" y="3110449"/>
            <a:ext cx="21910250" cy="9105366"/>
          </a:xfrm>
        </p:spPr>
        <p:txBody>
          <a:bodyPr>
            <a:normAutofit fontScale="85000" lnSpcReduction="20000"/>
          </a:bodyPr>
          <a:lstStyle/>
          <a:p>
            <a:pPr marL="685800" indent="-685800">
              <a:buFont typeface="Arial" panose="020B0604020202020204" pitchFamily="34" charset="0"/>
              <a:buChar char="•"/>
            </a:pPr>
            <a:r>
              <a:rPr lang="en-US" sz="5400" dirty="0"/>
              <a:t>The assumptions of linear regression should be checked before choosing and interpreting a final model </a:t>
            </a:r>
          </a:p>
          <a:p>
            <a:pPr marL="685800" indent="-685800">
              <a:buFont typeface="Arial" panose="020B0604020202020204" pitchFamily="34" charset="0"/>
              <a:buChar char="•"/>
            </a:pPr>
            <a:r>
              <a:rPr lang="en-US" sz="5400" dirty="0"/>
              <a:t>The linearity assumption can be checked with a plot of the residuals versus the fitted values</a:t>
            </a:r>
          </a:p>
          <a:p>
            <a:pPr marL="685800" indent="-685800">
              <a:buFont typeface="Arial" panose="020B0604020202020204" pitchFamily="34" charset="0"/>
              <a:buChar char="•"/>
            </a:pPr>
            <a:r>
              <a:rPr lang="en-US" sz="5400" dirty="0"/>
              <a:t>The normality assumption can be checked with a Normal Q-Q plot or Shapiro-Wilk test</a:t>
            </a:r>
          </a:p>
          <a:p>
            <a:pPr marL="685800" indent="-685800">
              <a:buFont typeface="Arial" panose="020B0604020202020204" pitchFamily="34" charset="0"/>
              <a:buChar char="•"/>
            </a:pPr>
            <a:r>
              <a:rPr lang="en-US" sz="5400" dirty="0"/>
              <a:t>The homoscedasticity assumption can be checked with a plot of the square root of the standardized residuals versus the fitted values</a:t>
            </a:r>
          </a:p>
          <a:p>
            <a:pPr marL="685800" indent="-685800">
              <a:buFont typeface="Arial" panose="020B0604020202020204" pitchFamily="34" charset="0"/>
              <a:buChar char="•"/>
            </a:pPr>
            <a:r>
              <a:rPr lang="en-US" sz="5400" dirty="0"/>
              <a:t>The independence assumption can only be checked by verifying the study / sampling design for data collection</a:t>
            </a:r>
          </a:p>
          <a:p>
            <a:pPr marL="685800" indent="-685800">
              <a:buFont typeface="Arial" panose="020B0604020202020204" pitchFamily="34" charset="0"/>
              <a:buChar char="•"/>
            </a:pPr>
            <a:endParaRPr lang="en-US" sz="5400" dirty="0"/>
          </a:p>
          <a:p>
            <a:pPr marL="685800" indent="-6858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DD426896-0677-AC4C-8596-7AACA98DFE7A}"/>
              </a:ext>
            </a:extLst>
          </p:cNvPr>
          <p:cNvSpPr>
            <a:spLocks noGrp="1"/>
          </p:cNvSpPr>
          <p:nvPr>
            <p:ph type="title"/>
          </p:nvPr>
        </p:nvSpPr>
        <p:spPr/>
        <p:txBody>
          <a:bodyPr/>
          <a:lstStyle/>
          <a:p>
            <a:r>
              <a:rPr lang="en-US"/>
              <a:t>Summary</a:t>
            </a:r>
          </a:p>
        </p:txBody>
      </p:sp>
    </p:spTree>
    <p:extLst>
      <p:ext uri="{BB962C8B-B14F-4D97-AF65-F5344CB8AC3E}">
        <p14:creationId xmlns:p14="http://schemas.microsoft.com/office/powerpoint/2010/main" val="221558973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26F54-A27C-9C01-42B0-DD98B6FEF6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D395D-C968-50AB-111C-856A5F936431}"/>
              </a:ext>
            </a:extLst>
          </p:cNvPr>
          <p:cNvSpPr>
            <a:spLocks noGrp="1"/>
          </p:cNvSpPr>
          <p:nvPr>
            <p:ph type="title"/>
          </p:nvPr>
        </p:nvSpPr>
        <p:spPr>
          <a:xfrm>
            <a:off x="1784974" y="2290285"/>
            <a:ext cx="18697586" cy="2323279"/>
          </a:xfrm>
        </p:spPr>
        <p:txBody>
          <a:bodyPr>
            <a:normAutofit/>
          </a:bodyPr>
          <a:lstStyle/>
          <a:p>
            <a:r>
              <a:rPr lang="en-US" dirty="0"/>
              <a:t>Linear Regression II</a:t>
            </a:r>
          </a:p>
        </p:txBody>
      </p:sp>
      <p:sp>
        <p:nvSpPr>
          <p:cNvPr id="3" name="Text Placeholder 2">
            <a:extLst>
              <a:ext uri="{FF2B5EF4-FFF2-40B4-BE49-F238E27FC236}">
                <a16:creationId xmlns:a16="http://schemas.microsoft.com/office/drawing/2014/main" id="{AC9E7937-53A1-9E4A-ED96-CEF7B41A9F83}"/>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029C5EFB-560E-5799-4E70-C69A787203D4}"/>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r>
              <a:rPr lang="en-US" sz="6600" b="0" dirty="0">
                <a:latin typeface="+mn-lt"/>
                <a:cs typeface="Courier New" panose="02070309020205020404" pitchFamily="49" charset="0"/>
              </a:rPr>
              <a:t>Multivariate linear regression</a:t>
            </a:r>
            <a:endParaRPr lang="en-US" sz="6600" dirty="0"/>
          </a:p>
        </p:txBody>
      </p:sp>
    </p:spTree>
    <p:extLst>
      <p:ext uri="{BB962C8B-B14F-4D97-AF65-F5344CB8AC3E}">
        <p14:creationId xmlns:p14="http://schemas.microsoft.com/office/powerpoint/2010/main" val="927754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9E0D591-8403-3800-C655-B828CCE8FFBE}"/>
              </a:ext>
            </a:extLst>
          </p:cNvPr>
          <p:cNvSpPr>
            <a:spLocks noGrp="1"/>
          </p:cNvSpPr>
          <p:nvPr>
            <p:ph type="title"/>
          </p:nvPr>
        </p:nvSpPr>
        <p:spPr/>
        <p:txBody>
          <a:bodyPr/>
          <a:lstStyle/>
          <a:p>
            <a:r>
              <a:rPr lang="en-US" dirty="0"/>
              <a:t>Multivariate linear regression</a:t>
            </a:r>
          </a:p>
        </p:txBody>
      </p:sp>
      <p:sp>
        <p:nvSpPr>
          <p:cNvPr id="2" name="Content Placeholder 1">
            <a:extLst>
              <a:ext uri="{FF2B5EF4-FFF2-40B4-BE49-F238E27FC236}">
                <a16:creationId xmlns:a16="http://schemas.microsoft.com/office/drawing/2014/main" id="{497CBAAA-430C-9267-CAA2-A4822B32AF65}"/>
              </a:ext>
            </a:extLst>
          </p:cNvPr>
          <p:cNvSpPr>
            <a:spLocks noGrp="1"/>
          </p:cNvSpPr>
          <p:nvPr>
            <p:ph idx="1"/>
          </p:nvPr>
        </p:nvSpPr>
        <p:spPr>
          <a:xfrm>
            <a:off x="812592" y="3556001"/>
            <a:ext cx="13690808" cy="8991599"/>
          </a:xfrm>
        </p:spPr>
        <p:txBody>
          <a:bodyPr>
            <a:normAutofit/>
          </a:bodyPr>
          <a:lstStyle/>
          <a:p>
            <a:r>
              <a:rPr lang="en-US" sz="5800" dirty="0">
                <a:solidFill>
                  <a:schemeClr val="accent5"/>
                </a:solidFill>
              </a:rPr>
              <a:t>Multivariate linear regression </a:t>
            </a:r>
            <a:r>
              <a:rPr lang="en-US" sz="5800" dirty="0"/>
              <a:t>can be used to explore more complex relationships involving a </a:t>
            </a:r>
            <a:r>
              <a:rPr lang="en-US" sz="5800" dirty="0">
                <a:solidFill>
                  <a:schemeClr val="accent5"/>
                </a:solidFill>
              </a:rPr>
              <a:t>continuous outcome</a:t>
            </a:r>
            <a:r>
              <a:rPr lang="en-US" sz="5800" dirty="0"/>
              <a:t> and </a:t>
            </a:r>
            <a:r>
              <a:rPr lang="en-US" sz="5800" dirty="0">
                <a:solidFill>
                  <a:schemeClr val="accent5"/>
                </a:solidFill>
              </a:rPr>
              <a:t>two or more explanatory variables</a:t>
            </a:r>
            <a:r>
              <a:rPr lang="en-US" sz="5800" dirty="0"/>
              <a:t>.</a:t>
            </a:r>
          </a:p>
          <a:p>
            <a:r>
              <a:rPr lang="en-US" sz="5400" dirty="0"/>
              <a:t>Regression line equation:</a:t>
            </a:r>
          </a:p>
          <a:p>
            <a:pPr algn="ctr"/>
            <a:r>
              <a:rPr lang="el-GR" altLang="en-US" sz="5400" dirty="0"/>
              <a:t>μ</a:t>
            </a:r>
            <a:r>
              <a:rPr lang="en-US" altLang="en-US" sz="5400" baseline="-25000" dirty="0" err="1"/>
              <a:t>y|</a:t>
            </a:r>
            <a:r>
              <a:rPr lang="en-US" altLang="en-US" sz="5400" b="1" baseline="-25000" dirty="0" err="1"/>
              <a:t>x</a:t>
            </a:r>
            <a:r>
              <a:rPr lang="en-US" sz="5400" dirty="0"/>
              <a:t> = β</a:t>
            </a:r>
            <a:r>
              <a:rPr lang="en-US" sz="5400" baseline="-25000" dirty="0"/>
              <a:t>0</a:t>
            </a:r>
            <a:r>
              <a:rPr lang="en-US" sz="5400" dirty="0"/>
              <a:t>+ β</a:t>
            </a:r>
            <a:r>
              <a:rPr lang="en-US" sz="5400" baseline="-25000" dirty="0"/>
              <a:t>1</a:t>
            </a:r>
            <a:r>
              <a:rPr lang="en-US" sz="5400" dirty="0"/>
              <a:t>x</a:t>
            </a:r>
            <a:r>
              <a:rPr lang="en-US" sz="5400" baseline="-25000" dirty="0"/>
              <a:t>1</a:t>
            </a:r>
            <a:r>
              <a:rPr lang="en-US" sz="5400" dirty="0"/>
              <a:t> + β</a:t>
            </a:r>
            <a:r>
              <a:rPr lang="en-US" sz="5400" baseline="-25000" dirty="0"/>
              <a:t>2</a:t>
            </a:r>
            <a:r>
              <a:rPr lang="en-US" sz="5400" dirty="0"/>
              <a:t>x</a:t>
            </a:r>
            <a:r>
              <a:rPr lang="en-US" sz="5400" baseline="-25000" dirty="0"/>
              <a:t>2 </a:t>
            </a:r>
            <a:r>
              <a:rPr lang="en-US" sz="5400" dirty="0"/>
              <a:t>+</a:t>
            </a:r>
            <a:r>
              <a:rPr lang="en-US" sz="5400" baseline="-25000" dirty="0"/>
              <a:t> </a:t>
            </a:r>
            <a:r>
              <a:rPr lang="en-US" sz="5400" dirty="0"/>
              <a:t>… + β</a:t>
            </a:r>
            <a:r>
              <a:rPr lang="en-US" sz="5400" baseline="-25000" dirty="0" err="1"/>
              <a:t>q</a:t>
            </a:r>
            <a:r>
              <a:rPr lang="en-US" sz="5400" dirty="0" err="1"/>
              <a:t>x</a:t>
            </a:r>
            <a:r>
              <a:rPr lang="en-US" sz="5400" baseline="-25000" dirty="0" err="1"/>
              <a:t>q</a:t>
            </a:r>
            <a:endParaRPr lang="en-US" sz="5400" dirty="0"/>
          </a:p>
          <a:p>
            <a:endParaRPr lang="en-US" dirty="0"/>
          </a:p>
        </p:txBody>
      </p:sp>
      <p:pic>
        <p:nvPicPr>
          <p:cNvPr id="4" name="Picture 4" descr="Correlation - Free marketing icons">
            <a:extLst>
              <a:ext uri="{FF2B5EF4-FFF2-40B4-BE49-F238E27FC236}">
                <a16:creationId xmlns:a16="http://schemas.microsoft.com/office/drawing/2014/main" id="{AA735B52-B41E-DD9A-D485-11F1C512A0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06825" y="3863974"/>
            <a:ext cx="5410200"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2707663"/>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0B3FF85-0D0E-8553-C31A-2CC8303B070E}"/>
              </a:ext>
            </a:extLst>
          </p:cNvPr>
          <p:cNvSpPr>
            <a:spLocks noGrp="1"/>
          </p:cNvSpPr>
          <p:nvPr>
            <p:ph idx="1"/>
          </p:nvPr>
        </p:nvSpPr>
        <p:spPr>
          <a:xfrm>
            <a:off x="812590" y="3556001"/>
            <a:ext cx="22199810" cy="8659814"/>
          </a:xfrm>
        </p:spPr>
        <p:txBody>
          <a:bodyPr>
            <a:normAutofit fontScale="92500" lnSpcReduction="20000"/>
          </a:bodyPr>
          <a:lstStyle/>
          <a:p>
            <a:pPr marL="914400" indent="-914400">
              <a:spcBef>
                <a:spcPct val="0"/>
              </a:spcBef>
              <a:buFont typeface="+mj-lt"/>
              <a:buAutoNum type="arabicPeriod"/>
              <a:defRPr/>
            </a:pPr>
            <a:r>
              <a:rPr lang="en-US" altLang="en-US" sz="5400" dirty="0">
                <a:solidFill>
                  <a:schemeClr val="accent5"/>
                </a:solidFill>
              </a:rPr>
              <a:t>Linearity</a:t>
            </a:r>
            <a:r>
              <a:rPr lang="en-US" altLang="en-US" sz="5400" dirty="0"/>
              <a:t>: </a:t>
            </a:r>
          </a:p>
          <a:p>
            <a:pPr marL="1599971" lvl="1" indent="-685800">
              <a:spcBef>
                <a:spcPct val="0"/>
              </a:spcBef>
              <a:buFont typeface="Arial" panose="020B0604020202020204" pitchFamily="34" charset="0"/>
              <a:buChar char="•"/>
              <a:defRPr/>
            </a:pPr>
            <a:r>
              <a:rPr lang="en-US" altLang="en-US" sz="5400" dirty="0"/>
              <a:t>The relationship between </a:t>
            </a:r>
            <a:r>
              <a:rPr lang="el-GR" altLang="en-US" sz="5400" i="1" dirty="0"/>
              <a:t>μ</a:t>
            </a:r>
            <a:r>
              <a:rPr lang="en-US" altLang="en-US" sz="5400" i="1" baseline="-25000" dirty="0" err="1"/>
              <a:t>y</a:t>
            </a:r>
            <a:r>
              <a:rPr lang="en-US" altLang="en-US" sz="5400" baseline="-25000" dirty="0" err="1"/>
              <a:t>|</a:t>
            </a:r>
            <a:r>
              <a:rPr lang="en-US" altLang="en-US" sz="5400" b="1" baseline="-25000" dirty="0" err="1"/>
              <a:t>x</a:t>
            </a:r>
            <a:r>
              <a:rPr lang="en-US" altLang="en-US" sz="5400" dirty="0"/>
              <a:t> (mean of </a:t>
            </a:r>
            <a:r>
              <a:rPr lang="en-US" altLang="en-US" sz="5400" i="1" dirty="0"/>
              <a:t>y</a:t>
            </a:r>
            <a:r>
              <a:rPr lang="en-US" altLang="en-US" sz="5400" dirty="0"/>
              <a:t> given </a:t>
            </a:r>
            <a:r>
              <a:rPr lang="en-US" altLang="en-US" sz="5400" i="1" dirty="0"/>
              <a:t>x</a:t>
            </a:r>
            <a:r>
              <a:rPr lang="en-US" altLang="en-US" sz="5400" i="1" baseline="-25000" dirty="0"/>
              <a:t>1</a:t>
            </a:r>
            <a:r>
              <a:rPr lang="en-US" altLang="en-US" sz="5400" i="1" dirty="0"/>
              <a:t>, x</a:t>
            </a:r>
            <a:r>
              <a:rPr lang="en-US" altLang="en-US" sz="5400" i="1" baseline="-25000" dirty="0"/>
              <a:t>2, …, </a:t>
            </a:r>
            <a:r>
              <a:rPr lang="en-US" altLang="en-US" sz="5400" i="1" dirty="0" err="1"/>
              <a:t>x</a:t>
            </a:r>
            <a:r>
              <a:rPr lang="en-US" altLang="en-US" sz="5400" i="1" baseline="-25000" dirty="0" err="1"/>
              <a:t>q</a:t>
            </a:r>
            <a:r>
              <a:rPr lang="en-US" altLang="en-US" sz="5400" dirty="0"/>
              <a:t>) and </a:t>
            </a:r>
            <a:r>
              <a:rPr lang="en-US" altLang="en-US" sz="5400" b="1" i="1" dirty="0"/>
              <a:t>x</a:t>
            </a:r>
            <a:r>
              <a:rPr lang="en-US" altLang="en-US" sz="5400" dirty="0"/>
              <a:t> is linear</a:t>
            </a:r>
          </a:p>
          <a:p>
            <a:pPr marL="914400" indent="-914400">
              <a:spcBef>
                <a:spcPct val="0"/>
              </a:spcBef>
              <a:buFont typeface="+mj-lt"/>
              <a:buAutoNum type="arabicPeriod"/>
              <a:defRPr/>
            </a:pPr>
            <a:r>
              <a:rPr lang="en-US" altLang="en-US" sz="5400" dirty="0">
                <a:solidFill>
                  <a:schemeClr val="accent5"/>
                </a:solidFill>
              </a:rPr>
              <a:t>Normality</a:t>
            </a:r>
            <a:r>
              <a:rPr lang="en-US" altLang="en-US" sz="5400" dirty="0"/>
              <a:t>: </a:t>
            </a:r>
          </a:p>
          <a:p>
            <a:pPr marL="1599971" lvl="1" indent="-685800">
              <a:spcBef>
                <a:spcPct val="0"/>
              </a:spcBef>
              <a:buFont typeface="Arial" panose="020B0604020202020204" pitchFamily="34" charset="0"/>
              <a:buChar char="•"/>
              <a:defRPr/>
            </a:pPr>
            <a:r>
              <a:rPr lang="en-US" altLang="en-US" sz="5400" dirty="0"/>
              <a:t>For a fixed set of values for </a:t>
            </a:r>
            <a:r>
              <a:rPr lang="en-US" altLang="en-US" sz="5400" i="1" dirty="0"/>
              <a:t>x</a:t>
            </a:r>
            <a:r>
              <a:rPr lang="en-US" altLang="en-US" sz="5400" i="1" baseline="-25000" dirty="0"/>
              <a:t>1</a:t>
            </a:r>
            <a:r>
              <a:rPr lang="en-US" altLang="en-US" sz="5400" i="1" dirty="0"/>
              <a:t>, x</a:t>
            </a:r>
            <a:r>
              <a:rPr lang="en-US" altLang="en-US" sz="5400" i="1" baseline="-25000" dirty="0"/>
              <a:t>2, …, </a:t>
            </a:r>
            <a:r>
              <a:rPr lang="en-US" altLang="en-US" sz="5400" i="1" dirty="0" err="1"/>
              <a:t>x</a:t>
            </a:r>
            <a:r>
              <a:rPr lang="en-US" altLang="en-US" sz="5400" i="1" baseline="-25000" dirty="0" err="1"/>
              <a:t>q</a:t>
            </a:r>
            <a:r>
              <a:rPr lang="en-US" altLang="en-US" sz="5400" i="1" baseline="-25000" dirty="0"/>
              <a:t>, </a:t>
            </a:r>
            <a:r>
              <a:rPr lang="en-US" altLang="en-US" sz="5400" i="1" dirty="0"/>
              <a:t>y</a:t>
            </a:r>
            <a:r>
              <a:rPr lang="en-US" altLang="en-US" sz="5400" dirty="0"/>
              <a:t> is normally distributed</a:t>
            </a:r>
          </a:p>
          <a:p>
            <a:pPr marL="914400" indent="-914400">
              <a:spcBef>
                <a:spcPct val="0"/>
              </a:spcBef>
              <a:buFont typeface="+mj-lt"/>
              <a:buAutoNum type="arabicPeriod"/>
              <a:defRPr/>
            </a:pPr>
            <a:r>
              <a:rPr lang="en-US" altLang="en-US" sz="5400" dirty="0">
                <a:solidFill>
                  <a:schemeClr val="accent5"/>
                </a:solidFill>
              </a:rPr>
              <a:t>Homoscedasticity</a:t>
            </a:r>
            <a:r>
              <a:rPr lang="en-US" altLang="en-US" sz="5400" dirty="0"/>
              <a:t>: </a:t>
            </a:r>
          </a:p>
          <a:p>
            <a:pPr marL="1599971" lvl="1" indent="-685800">
              <a:spcBef>
                <a:spcPct val="0"/>
              </a:spcBef>
              <a:buFont typeface="Arial" panose="020B0604020202020204" pitchFamily="34" charset="0"/>
              <a:buChar char="•"/>
              <a:defRPr/>
            </a:pPr>
            <a:r>
              <a:rPr lang="en-US" altLang="en-US" sz="5400" dirty="0"/>
              <a:t>The standard deviation </a:t>
            </a:r>
            <a:r>
              <a:rPr lang="el-GR" altLang="en-US" sz="5400" dirty="0"/>
              <a:t>σ</a:t>
            </a:r>
            <a:r>
              <a:rPr lang="en-US" altLang="en-US" sz="5400" baseline="-25000" dirty="0" err="1">
                <a:sym typeface="Euclid Symbol" pitchFamily="18" charset="2"/>
              </a:rPr>
              <a:t>y|</a:t>
            </a:r>
            <a:r>
              <a:rPr lang="en-US" altLang="en-US" sz="5400" b="1" baseline="-25000" dirty="0" err="1">
                <a:sym typeface="Euclid Symbol" pitchFamily="18" charset="2"/>
              </a:rPr>
              <a:t>x</a:t>
            </a:r>
            <a:r>
              <a:rPr lang="en-US" altLang="en-US" sz="5400" dirty="0"/>
              <a:t> is constant across all values of the explanatory variables</a:t>
            </a:r>
            <a:endParaRPr lang="en-US" altLang="en-US" sz="5400" i="1" dirty="0"/>
          </a:p>
          <a:p>
            <a:pPr marL="914400" indent="-914400">
              <a:spcBef>
                <a:spcPct val="0"/>
              </a:spcBef>
              <a:buFont typeface="+mj-lt"/>
              <a:buAutoNum type="arabicPeriod"/>
              <a:defRPr/>
            </a:pPr>
            <a:r>
              <a:rPr lang="en-US" altLang="en-US" sz="5400" dirty="0">
                <a:solidFill>
                  <a:schemeClr val="accent5"/>
                </a:solidFill>
              </a:rPr>
              <a:t>Independence</a:t>
            </a:r>
            <a:r>
              <a:rPr lang="en-US" altLang="en-US" sz="5400" dirty="0"/>
              <a:t>: </a:t>
            </a:r>
          </a:p>
          <a:p>
            <a:pPr marL="1599971" lvl="1" indent="-685800">
              <a:spcBef>
                <a:spcPct val="0"/>
              </a:spcBef>
              <a:buFont typeface="Arial" panose="020B0604020202020204" pitchFamily="34" charset="0"/>
              <a:buChar char="•"/>
              <a:defRPr/>
            </a:pPr>
            <a:r>
              <a:rPr lang="en-US" altLang="en-US" sz="5400" dirty="0"/>
              <a:t>The observations are independent</a:t>
            </a:r>
            <a:endParaRPr lang="en-US" dirty="0"/>
          </a:p>
        </p:txBody>
      </p:sp>
      <p:sp>
        <p:nvSpPr>
          <p:cNvPr id="3" name="Title 2">
            <a:extLst>
              <a:ext uri="{FF2B5EF4-FFF2-40B4-BE49-F238E27FC236}">
                <a16:creationId xmlns:a16="http://schemas.microsoft.com/office/drawing/2014/main" id="{846659F5-89AA-1229-0D31-1C2E3D1892E8}"/>
              </a:ext>
            </a:extLst>
          </p:cNvPr>
          <p:cNvSpPr>
            <a:spLocks noGrp="1"/>
          </p:cNvSpPr>
          <p:nvPr>
            <p:ph type="title"/>
          </p:nvPr>
        </p:nvSpPr>
        <p:spPr/>
        <p:txBody>
          <a:bodyPr/>
          <a:lstStyle/>
          <a:p>
            <a:r>
              <a:rPr lang="en-US" dirty="0"/>
              <a:t>Assumptions</a:t>
            </a:r>
          </a:p>
        </p:txBody>
      </p:sp>
    </p:spTree>
    <p:extLst>
      <p:ext uri="{BB962C8B-B14F-4D97-AF65-F5344CB8AC3E}">
        <p14:creationId xmlns:p14="http://schemas.microsoft.com/office/powerpoint/2010/main" val="418892552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EFD69B-3021-1DA0-BD38-01813B48DF82}"/>
              </a:ext>
            </a:extLst>
          </p:cNvPr>
          <p:cNvSpPr>
            <a:spLocks noGrp="1"/>
          </p:cNvSpPr>
          <p:nvPr>
            <p:ph type="title"/>
          </p:nvPr>
        </p:nvSpPr>
        <p:spPr/>
        <p:txBody>
          <a:bodyPr/>
          <a:lstStyle/>
          <a:p>
            <a:r>
              <a:rPr lang="en-US" dirty="0"/>
              <a:t>Example: Prenatal care</a:t>
            </a:r>
          </a:p>
        </p:txBody>
      </p:sp>
      <p:pic>
        <p:nvPicPr>
          <p:cNvPr id="4" name="Picture 3" descr="A screenshot of a computer&#10;&#10;AI-generated content may be incorrect.">
            <a:extLst>
              <a:ext uri="{FF2B5EF4-FFF2-40B4-BE49-F238E27FC236}">
                <a16:creationId xmlns:a16="http://schemas.microsoft.com/office/drawing/2014/main" id="{07EF57E3-3246-CC03-DC59-503C351AAE5F}"/>
              </a:ext>
            </a:extLst>
          </p:cNvPr>
          <p:cNvPicPr>
            <a:picLocks noChangeAspect="1"/>
          </p:cNvPicPr>
          <p:nvPr/>
        </p:nvPicPr>
        <p:blipFill>
          <a:blip r:embed="rId3"/>
          <a:stretch>
            <a:fillRect/>
          </a:stretch>
        </p:blipFill>
        <p:spPr>
          <a:xfrm>
            <a:off x="3401977" y="3110449"/>
            <a:ext cx="17573696" cy="8965763"/>
          </a:xfrm>
          <a:prstGeom prst="rect">
            <a:avLst/>
          </a:prstGeom>
        </p:spPr>
      </p:pic>
    </p:spTree>
    <p:extLst>
      <p:ext uri="{BB962C8B-B14F-4D97-AF65-F5344CB8AC3E}">
        <p14:creationId xmlns:p14="http://schemas.microsoft.com/office/powerpoint/2010/main" val="3514394944"/>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631374-28CB-A4A5-B8DE-E057A0947BF6}"/>
              </a:ext>
            </a:extLst>
          </p:cNvPr>
          <p:cNvSpPr>
            <a:spLocks noGrp="1"/>
          </p:cNvSpPr>
          <p:nvPr>
            <p:ph idx="1"/>
          </p:nvPr>
        </p:nvSpPr>
        <p:spPr>
          <a:xfrm>
            <a:off x="812591" y="3556001"/>
            <a:ext cx="9271210" cy="8659814"/>
          </a:xfrm>
        </p:spPr>
        <p:txBody>
          <a:bodyPr/>
          <a:lstStyle/>
          <a:p>
            <a:r>
              <a:rPr lang="en-US" dirty="0"/>
              <a:t>Suppose the outcome is birthweight in grams and the exposure is participation in the First Steps program.</a:t>
            </a:r>
          </a:p>
          <a:p>
            <a:endParaRPr lang="en-US" dirty="0"/>
          </a:p>
        </p:txBody>
      </p:sp>
      <p:sp>
        <p:nvSpPr>
          <p:cNvPr id="3" name="Title 2">
            <a:extLst>
              <a:ext uri="{FF2B5EF4-FFF2-40B4-BE49-F238E27FC236}">
                <a16:creationId xmlns:a16="http://schemas.microsoft.com/office/drawing/2014/main" id="{89547FE3-9979-AC02-C54F-3F7D0743986A}"/>
              </a:ext>
            </a:extLst>
          </p:cNvPr>
          <p:cNvSpPr>
            <a:spLocks noGrp="1"/>
          </p:cNvSpPr>
          <p:nvPr>
            <p:ph type="title"/>
          </p:nvPr>
        </p:nvSpPr>
        <p:spPr/>
        <p:txBody>
          <a:bodyPr/>
          <a:lstStyle/>
          <a:p>
            <a:r>
              <a:rPr lang="en-US" dirty="0"/>
              <a:t>Example: Prenatal care</a:t>
            </a:r>
          </a:p>
        </p:txBody>
      </p:sp>
      <p:pic>
        <p:nvPicPr>
          <p:cNvPr id="5" name="Picture 4" descr="A white rectangular object with red text&#10;&#10;AI-generated content may be incorrect.">
            <a:extLst>
              <a:ext uri="{FF2B5EF4-FFF2-40B4-BE49-F238E27FC236}">
                <a16:creationId xmlns:a16="http://schemas.microsoft.com/office/drawing/2014/main" id="{695BA3F7-2DF2-AE5C-6C74-141F7C1E507A}"/>
              </a:ext>
            </a:extLst>
          </p:cNvPr>
          <p:cNvPicPr>
            <a:picLocks noChangeAspect="1"/>
          </p:cNvPicPr>
          <p:nvPr/>
        </p:nvPicPr>
        <p:blipFill>
          <a:blip r:embed="rId3"/>
          <a:stretch>
            <a:fillRect/>
          </a:stretch>
        </p:blipFill>
        <p:spPr>
          <a:xfrm>
            <a:off x="558659" y="7871408"/>
            <a:ext cx="10636066" cy="2651126"/>
          </a:xfrm>
          <a:prstGeom prst="rect">
            <a:avLst/>
          </a:prstGeom>
        </p:spPr>
      </p:pic>
      <p:pic>
        <p:nvPicPr>
          <p:cNvPr id="7" name="Picture 6" descr="A graph with red lines and black dots&#10;&#10;AI-generated content may be incorrect.">
            <a:extLst>
              <a:ext uri="{FF2B5EF4-FFF2-40B4-BE49-F238E27FC236}">
                <a16:creationId xmlns:a16="http://schemas.microsoft.com/office/drawing/2014/main" id="{D090C35C-D37A-3335-6BC0-4B146EB229DE}"/>
              </a:ext>
            </a:extLst>
          </p:cNvPr>
          <p:cNvPicPr>
            <a:picLocks noChangeAspect="1"/>
          </p:cNvPicPr>
          <p:nvPr/>
        </p:nvPicPr>
        <p:blipFill>
          <a:blip r:embed="rId4"/>
          <a:stretch>
            <a:fillRect/>
          </a:stretch>
        </p:blipFill>
        <p:spPr>
          <a:xfrm>
            <a:off x="11448657" y="3110449"/>
            <a:ext cx="12554343" cy="8995827"/>
          </a:xfrm>
          <a:prstGeom prst="rect">
            <a:avLst/>
          </a:prstGeom>
        </p:spPr>
      </p:pic>
    </p:spTree>
    <p:extLst>
      <p:ext uri="{BB962C8B-B14F-4D97-AF65-F5344CB8AC3E}">
        <p14:creationId xmlns:p14="http://schemas.microsoft.com/office/powerpoint/2010/main" val="34853649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2BC9AB-8D17-8AA6-0446-D045D91680B1}"/>
              </a:ext>
            </a:extLst>
          </p:cNvPr>
          <p:cNvSpPr>
            <a:spLocks noGrp="1"/>
          </p:cNvSpPr>
          <p:nvPr>
            <p:ph idx="1"/>
          </p:nvPr>
        </p:nvSpPr>
        <p:spPr>
          <a:xfrm>
            <a:off x="812591" y="3556001"/>
            <a:ext cx="9728410" cy="8659814"/>
          </a:xfrm>
        </p:spPr>
        <p:txBody>
          <a:bodyPr/>
          <a:lstStyle/>
          <a:p>
            <a:r>
              <a:rPr lang="en-US" dirty="0"/>
              <a:t>A linear regression model with one explanatory variable (exposure) of interest is called a </a:t>
            </a:r>
            <a:r>
              <a:rPr lang="en-US" dirty="0">
                <a:solidFill>
                  <a:schemeClr val="accent5"/>
                </a:solidFill>
              </a:rPr>
              <a:t>crude model.</a:t>
            </a:r>
          </a:p>
          <a:p>
            <a:pPr marL="685800" indent="-685800">
              <a:buFont typeface="Arial" panose="020B0604020202020204" pitchFamily="34" charset="0"/>
              <a:buChar char="•"/>
            </a:pPr>
            <a:r>
              <a:rPr lang="en-US" dirty="0"/>
              <a:t>No other covariates have been “adjusted” for, meaning no other covariates have been added to the model yet</a:t>
            </a:r>
          </a:p>
        </p:txBody>
      </p:sp>
      <p:sp>
        <p:nvSpPr>
          <p:cNvPr id="3" name="Title 2">
            <a:extLst>
              <a:ext uri="{FF2B5EF4-FFF2-40B4-BE49-F238E27FC236}">
                <a16:creationId xmlns:a16="http://schemas.microsoft.com/office/drawing/2014/main" id="{A3E11A37-5913-099A-3A98-6FC95C8B0F0B}"/>
              </a:ext>
            </a:extLst>
          </p:cNvPr>
          <p:cNvSpPr>
            <a:spLocks noGrp="1"/>
          </p:cNvSpPr>
          <p:nvPr>
            <p:ph type="title"/>
          </p:nvPr>
        </p:nvSpPr>
        <p:spPr/>
        <p:txBody>
          <a:bodyPr/>
          <a:lstStyle/>
          <a:p>
            <a:r>
              <a:rPr lang="en-US" dirty="0"/>
              <a:t>Crude model</a:t>
            </a:r>
          </a:p>
        </p:txBody>
      </p:sp>
      <p:pic>
        <p:nvPicPr>
          <p:cNvPr id="5" name="Picture 4" descr="A screenshot of a computer&#10;&#10;AI-generated content may be incorrect.">
            <a:extLst>
              <a:ext uri="{FF2B5EF4-FFF2-40B4-BE49-F238E27FC236}">
                <a16:creationId xmlns:a16="http://schemas.microsoft.com/office/drawing/2014/main" id="{F1E7EDC6-D0B2-6FF8-D40F-070778E78803}"/>
              </a:ext>
            </a:extLst>
          </p:cNvPr>
          <p:cNvPicPr>
            <a:picLocks noChangeAspect="1"/>
          </p:cNvPicPr>
          <p:nvPr/>
        </p:nvPicPr>
        <p:blipFill>
          <a:blip r:embed="rId3"/>
          <a:stretch>
            <a:fillRect/>
          </a:stretch>
        </p:blipFill>
        <p:spPr>
          <a:xfrm>
            <a:off x="11624179" y="3043430"/>
            <a:ext cx="11940880" cy="9172385"/>
          </a:xfrm>
          <a:prstGeom prst="rect">
            <a:avLst/>
          </a:prstGeom>
        </p:spPr>
      </p:pic>
    </p:spTree>
    <p:extLst>
      <p:ext uri="{BB962C8B-B14F-4D97-AF65-F5344CB8AC3E}">
        <p14:creationId xmlns:p14="http://schemas.microsoft.com/office/powerpoint/2010/main" val="1254436407"/>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F6E44-0950-957C-FABD-A683800B02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780C1C-0EB6-CC82-DF2A-07001E2C9275}"/>
              </a:ext>
            </a:extLst>
          </p:cNvPr>
          <p:cNvSpPr>
            <a:spLocks noGrp="1"/>
          </p:cNvSpPr>
          <p:nvPr>
            <p:ph idx="1"/>
          </p:nvPr>
        </p:nvSpPr>
        <p:spPr>
          <a:xfrm>
            <a:off x="250909" y="3556001"/>
            <a:ext cx="11937916" cy="8659814"/>
          </a:xfrm>
        </p:spPr>
        <p:txBody>
          <a:bodyPr>
            <a:normAutofit lnSpcReduction="10000"/>
          </a:bodyPr>
          <a:lstStyle/>
          <a:p>
            <a:r>
              <a:rPr lang="en-US" sz="4600" dirty="0"/>
              <a:t>Mean </a:t>
            </a:r>
            <a:r>
              <a:rPr lang="en-US" sz="4600" b="1" dirty="0" err="1">
                <a:solidFill>
                  <a:schemeClr val="accent5"/>
                </a:solidFill>
                <a:latin typeface="Courier New" panose="02070309020205020404" pitchFamily="49" charset="0"/>
                <a:cs typeface="Courier New" panose="02070309020205020404" pitchFamily="49" charset="0"/>
              </a:rPr>
              <a:t>bwt</a:t>
            </a:r>
            <a:r>
              <a:rPr lang="en-US" sz="4600" dirty="0"/>
              <a:t> = -66.18(</a:t>
            </a:r>
            <a:r>
              <a:rPr lang="en-US" sz="4600" b="1" dirty="0" err="1">
                <a:solidFill>
                  <a:schemeClr val="accent5"/>
                </a:solidFill>
                <a:latin typeface="Courier New" panose="02070309020205020404" pitchFamily="49" charset="0"/>
                <a:cs typeface="Courier New" panose="02070309020205020404" pitchFamily="49" charset="0"/>
              </a:rPr>
              <a:t>firstep</a:t>
            </a:r>
            <a:r>
              <a:rPr lang="en-US" sz="4600" dirty="0"/>
              <a:t> = 1) + 3424.69</a:t>
            </a:r>
          </a:p>
          <a:p>
            <a:pPr marL="571500" indent="-571500">
              <a:buFont typeface="Arial" panose="020B0604020202020204" pitchFamily="34" charset="0"/>
              <a:buChar char="•"/>
            </a:pPr>
            <a:r>
              <a:rPr lang="en-US" sz="4600" b="1" dirty="0" err="1">
                <a:solidFill>
                  <a:schemeClr val="accent5"/>
                </a:solidFill>
                <a:latin typeface="Courier New" panose="02070309020205020404" pitchFamily="49" charset="0"/>
                <a:cs typeface="Courier New" panose="02070309020205020404" pitchFamily="49" charset="0"/>
              </a:rPr>
              <a:t>firstep</a:t>
            </a:r>
            <a:r>
              <a:rPr lang="en-US" sz="4600" dirty="0"/>
              <a:t> is called an indicator variable</a:t>
            </a:r>
          </a:p>
          <a:p>
            <a:r>
              <a:rPr lang="en-US" sz="4600" dirty="0"/>
              <a:t>Interpretation: </a:t>
            </a:r>
          </a:p>
          <a:p>
            <a:pPr marL="685800" indent="-685800">
              <a:buFont typeface="Arial" panose="020B0604020202020204" pitchFamily="34" charset="0"/>
              <a:buChar char="•"/>
            </a:pPr>
            <a:r>
              <a:rPr lang="en-US" sz="4600" dirty="0"/>
              <a:t>Infants of participants in the First Steps program weighed, on average, 66.18 grams less at birth.</a:t>
            </a:r>
          </a:p>
          <a:p>
            <a:r>
              <a:rPr lang="en-US" sz="4600" dirty="0"/>
              <a:t>Mean </a:t>
            </a:r>
            <a:r>
              <a:rPr lang="en-US" sz="4600" dirty="0" err="1"/>
              <a:t>bwt</a:t>
            </a:r>
            <a:r>
              <a:rPr lang="en-US" sz="4600" dirty="0"/>
              <a:t> for program participants: 3358.51</a:t>
            </a:r>
          </a:p>
          <a:p>
            <a:r>
              <a:rPr lang="en-US" sz="4600" dirty="0"/>
              <a:t>Mean </a:t>
            </a:r>
            <a:r>
              <a:rPr lang="en-US" sz="4600" dirty="0" err="1"/>
              <a:t>bwt</a:t>
            </a:r>
            <a:r>
              <a:rPr lang="en-US" sz="4600" dirty="0"/>
              <a:t> for non-participants: 3424.69</a:t>
            </a:r>
          </a:p>
        </p:txBody>
      </p:sp>
      <p:sp>
        <p:nvSpPr>
          <p:cNvPr id="3" name="Title 2">
            <a:extLst>
              <a:ext uri="{FF2B5EF4-FFF2-40B4-BE49-F238E27FC236}">
                <a16:creationId xmlns:a16="http://schemas.microsoft.com/office/drawing/2014/main" id="{87D7FE8E-7DA9-6F10-BF72-36D7A155920B}"/>
              </a:ext>
            </a:extLst>
          </p:cNvPr>
          <p:cNvSpPr>
            <a:spLocks noGrp="1"/>
          </p:cNvSpPr>
          <p:nvPr>
            <p:ph type="title"/>
          </p:nvPr>
        </p:nvSpPr>
        <p:spPr/>
        <p:txBody>
          <a:bodyPr/>
          <a:lstStyle/>
          <a:p>
            <a:r>
              <a:rPr lang="en-US" dirty="0"/>
              <a:t>Crude model</a:t>
            </a:r>
          </a:p>
        </p:txBody>
      </p:sp>
      <p:pic>
        <p:nvPicPr>
          <p:cNvPr id="5" name="Picture 4" descr="A screenshot of a computer&#10;&#10;AI-generated content may be incorrect.">
            <a:extLst>
              <a:ext uri="{FF2B5EF4-FFF2-40B4-BE49-F238E27FC236}">
                <a16:creationId xmlns:a16="http://schemas.microsoft.com/office/drawing/2014/main" id="{A2F031E0-91C8-CE8F-AC43-752FAADD425C}"/>
              </a:ext>
            </a:extLst>
          </p:cNvPr>
          <p:cNvPicPr>
            <a:picLocks noChangeAspect="1"/>
          </p:cNvPicPr>
          <p:nvPr/>
        </p:nvPicPr>
        <p:blipFill>
          <a:blip r:embed="rId3"/>
          <a:stretch>
            <a:fillRect/>
          </a:stretch>
        </p:blipFill>
        <p:spPr>
          <a:xfrm>
            <a:off x="12188825" y="3043430"/>
            <a:ext cx="11940880" cy="9172385"/>
          </a:xfrm>
          <a:prstGeom prst="rect">
            <a:avLst/>
          </a:prstGeom>
        </p:spPr>
      </p:pic>
    </p:spTree>
    <p:extLst>
      <p:ext uri="{BB962C8B-B14F-4D97-AF65-F5344CB8AC3E}">
        <p14:creationId xmlns:p14="http://schemas.microsoft.com/office/powerpoint/2010/main" val="3138750362"/>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AD9509-6AAD-D2E1-A818-62DA85661F37}"/>
              </a:ext>
            </a:extLst>
          </p:cNvPr>
          <p:cNvSpPr>
            <a:spLocks noGrp="1"/>
          </p:cNvSpPr>
          <p:nvPr>
            <p:ph idx="1"/>
          </p:nvPr>
        </p:nvSpPr>
        <p:spPr>
          <a:xfrm>
            <a:off x="812591" y="3556001"/>
            <a:ext cx="10261810" cy="8659814"/>
          </a:xfrm>
        </p:spPr>
        <p:txBody>
          <a:bodyPr/>
          <a:lstStyle/>
          <a:p>
            <a:r>
              <a:rPr lang="en-US" dirty="0"/>
              <a:t>When other covariates are added to the crude model, the model becomes an “</a:t>
            </a:r>
            <a:r>
              <a:rPr lang="en-US" dirty="0">
                <a:solidFill>
                  <a:schemeClr val="accent5"/>
                </a:solidFill>
              </a:rPr>
              <a:t>adjusted model</a:t>
            </a:r>
            <a:r>
              <a:rPr lang="en-US" dirty="0"/>
              <a:t>”.</a:t>
            </a:r>
          </a:p>
          <a:p>
            <a:pPr marL="685800" indent="-685800">
              <a:buFont typeface="Arial" panose="020B0604020202020204" pitchFamily="34" charset="0"/>
              <a:buChar char="•"/>
            </a:pPr>
            <a:r>
              <a:rPr lang="en-US" dirty="0"/>
              <a:t>Interpretations of coefficients change slightly</a:t>
            </a:r>
          </a:p>
          <a:p>
            <a:endParaRPr lang="en-US" dirty="0"/>
          </a:p>
        </p:txBody>
      </p:sp>
      <p:sp>
        <p:nvSpPr>
          <p:cNvPr id="3" name="Title 2">
            <a:extLst>
              <a:ext uri="{FF2B5EF4-FFF2-40B4-BE49-F238E27FC236}">
                <a16:creationId xmlns:a16="http://schemas.microsoft.com/office/drawing/2014/main" id="{5F83AF0D-15FC-91FE-8646-376593080FDF}"/>
              </a:ext>
            </a:extLst>
          </p:cNvPr>
          <p:cNvSpPr>
            <a:spLocks noGrp="1"/>
          </p:cNvSpPr>
          <p:nvPr>
            <p:ph type="title"/>
          </p:nvPr>
        </p:nvSpPr>
        <p:spPr/>
        <p:txBody>
          <a:bodyPr/>
          <a:lstStyle/>
          <a:p>
            <a:r>
              <a:rPr lang="en-US" dirty="0"/>
              <a:t>Adjusted model</a:t>
            </a:r>
          </a:p>
        </p:txBody>
      </p:sp>
      <p:pic>
        <p:nvPicPr>
          <p:cNvPr id="5" name="Picture 4" descr="A screenshot of a computer&#10;&#10;AI-generated content may be incorrect.">
            <a:extLst>
              <a:ext uri="{FF2B5EF4-FFF2-40B4-BE49-F238E27FC236}">
                <a16:creationId xmlns:a16="http://schemas.microsoft.com/office/drawing/2014/main" id="{955D2778-4526-1720-057D-C287B4F83242}"/>
              </a:ext>
            </a:extLst>
          </p:cNvPr>
          <p:cNvPicPr>
            <a:picLocks noChangeAspect="1"/>
          </p:cNvPicPr>
          <p:nvPr/>
        </p:nvPicPr>
        <p:blipFill>
          <a:blip r:embed="rId3"/>
          <a:stretch>
            <a:fillRect/>
          </a:stretch>
        </p:blipFill>
        <p:spPr>
          <a:xfrm>
            <a:off x="12119184" y="3061797"/>
            <a:ext cx="11445875" cy="9154018"/>
          </a:xfrm>
          <a:prstGeom prst="rect">
            <a:avLst/>
          </a:prstGeom>
        </p:spPr>
      </p:pic>
    </p:spTree>
    <p:extLst>
      <p:ext uri="{BB962C8B-B14F-4D97-AF65-F5344CB8AC3E}">
        <p14:creationId xmlns:p14="http://schemas.microsoft.com/office/powerpoint/2010/main" val="184706983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DE68D-E867-98C0-D3D1-9CAE72DE408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FA1AA8-C2E2-E231-7F78-A4E7EE802396}"/>
              </a:ext>
            </a:extLst>
          </p:cNvPr>
          <p:cNvSpPr>
            <a:spLocks noGrp="1"/>
          </p:cNvSpPr>
          <p:nvPr>
            <p:ph idx="1"/>
          </p:nvPr>
        </p:nvSpPr>
        <p:spPr>
          <a:xfrm>
            <a:off x="812591" y="3556000"/>
            <a:ext cx="10261810" cy="9423400"/>
          </a:xfrm>
        </p:spPr>
        <p:txBody>
          <a:bodyPr>
            <a:normAutofit fontScale="92500"/>
          </a:bodyPr>
          <a:lstStyle/>
          <a:p>
            <a:r>
              <a:rPr lang="en-US" sz="5200" dirty="0"/>
              <a:t>Interpretations:</a:t>
            </a:r>
          </a:p>
          <a:p>
            <a:pPr marL="685800" indent="-685800">
              <a:buFont typeface="Arial" panose="020B0604020202020204" pitchFamily="34" charset="0"/>
              <a:buChar char="•"/>
            </a:pPr>
            <a:r>
              <a:rPr lang="en-US" sz="5200" dirty="0"/>
              <a:t>Infants of participants in the First Steps program weighed, on average, 42.037 grams less at birth, adjusting for gestational age.</a:t>
            </a:r>
          </a:p>
          <a:p>
            <a:pPr marL="685800" indent="-685800">
              <a:buFont typeface="Arial" panose="020B0604020202020204" pitchFamily="34" charset="0"/>
              <a:buChar char="•"/>
            </a:pPr>
            <a:r>
              <a:rPr lang="en-US" sz="5200" dirty="0"/>
              <a:t>For every 1 week increase in gestation, birthweight increases by 123.91 grams on average, holding all other covariates constant.</a:t>
            </a:r>
          </a:p>
          <a:p>
            <a:pPr marL="685800" indent="-685800">
              <a:buFont typeface="Arial" panose="020B0604020202020204" pitchFamily="34" charset="0"/>
              <a:buChar char="•"/>
            </a:pPr>
            <a:endParaRPr lang="en-US" sz="5400" dirty="0"/>
          </a:p>
          <a:p>
            <a:pPr marL="685800" indent="-6858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93610B45-13F4-77C9-491C-AAC0F7C66FD7}"/>
              </a:ext>
            </a:extLst>
          </p:cNvPr>
          <p:cNvSpPr>
            <a:spLocks noGrp="1"/>
          </p:cNvSpPr>
          <p:nvPr>
            <p:ph type="title"/>
          </p:nvPr>
        </p:nvSpPr>
        <p:spPr/>
        <p:txBody>
          <a:bodyPr/>
          <a:lstStyle/>
          <a:p>
            <a:r>
              <a:rPr lang="en-US" dirty="0"/>
              <a:t>Adjusted model</a:t>
            </a:r>
          </a:p>
        </p:txBody>
      </p:sp>
      <p:pic>
        <p:nvPicPr>
          <p:cNvPr id="5" name="Picture 4" descr="A screenshot of a computer&#10;&#10;AI-generated content may be incorrect.">
            <a:extLst>
              <a:ext uri="{FF2B5EF4-FFF2-40B4-BE49-F238E27FC236}">
                <a16:creationId xmlns:a16="http://schemas.microsoft.com/office/drawing/2014/main" id="{ECF8B2E5-582E-4B2C-C9CE-0E870CE698A7}"/>
              </a:ext>
            </a:extLst>
          </p:cNvPr>
          <p:cNvPicPr>
            <a:picLocks noChangeAspect="1"/>
          </p:cNvPicPr>
          <p:nvPr/>
        </p:nvPicPr>
        <p:blipFill>
          <a:blip r:embed="rId3"/>
          <a:stretch>
            <a:fillRect/>
          </a:stretch>
        </p:blipFill>
        <p:spPr>
          <a:xfrm>
            <a:off x="12119184" y="3061797"/>
            <a:ext cx="11445875" cy="9154018"/>
          </a:xfrm>
          <a:prstGeom prst="rect">
            <a:avLst/>
          </a:prstGeom>
        </p:spPr>
      </p:pic>
    </p:spTree>
    <p:extLst>
      <p:ext uri="{BB962C8B-B14F-4D97-AF65-F5344CB8AC3E}">
        <p14:creationId xmlns:p14="http://schemas.microsoft.com/office/powerpoint/2010/main" val="1145970723"/>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9EF704-255C-7D45-F85C-93FA7F22EAFD}"/>
              </a:ext>
            </a:extLst>
          </p:cNvPr>
          <p:cNvSpPr>
            <a:spLocks noGrp="1"/>
          </p:cNvSpPr>
          <p:nvPr>
            <p:ph idx="1"/>
          </p:nvPr>
        </p:nvSpPr>
        <p:spPr>
          <a:xfrm>
            <a:off x="812590" y="3556001"/>
            <a:ext cx="13513009" cy="8659814"/>
          </a:xfrm>
        </p:spPr>
        <p:txBody>
          <a:bodyPr>
            <a:normAutofit fontScale="92500"/>
          </a:bodyPr>
          <a:lstStyle/>
          <a:p>
            <a:r>
              <a:rPr lang="en-US" dirty="0"/>
              <a:t>Suppose we wanted to test if the relationship between birthweight and gestational age is different for infants whose mothers participated in the First Steps program and those whose mothers did not participate</a:t>
            </a:r>
          </a:p>
          <a:p>
            <a:pPr marL="685800" indent="-685800">
              <a:buFont typeface="Arial" panose="020B0604020202020204" pitchFamily="34" charset="0"/>
              <a:buChar char="•"/>
            </a:pPr>
            <a:r>
              <a:rPr lang="en-US" dirty="0"/>
              <a:t>This is testing effect measure modification</a:t>
            </a:r>
          </a:p>
          <a:p>
            <a:pPr marL="685800" indent="-685800">
              <a:buFont typeface="Arial" panose="020B0604020202020204" pitchFamily="34" charset="0"/>
              <a:buChar char="•"/>
            </a:pPr>
            <a:r>
              <a:rPr lang="en-US" dirty="0"/>
              <a:t>Create an </a:t>
            </a:r>
            <a:r>
              <a:rPr lang="en-US" dirty="0">
                <a:solidFill>
                  <a:schemeClr val="accent5"/>
                </a:solidFill>
              </a:rPr>
              <a:t>interaction term </a:t>
            </a:r>
            <a:r>
              <a:rPr lang="en-US" dirty="0"/>
              <a:t>to test this </a:t>
            </a:r>
          </a:p>
        </p:txBody>
      </p:sp>
      <p:sp>
        <p:nvSpPr>
          <p:cNvPr id="3" name="Title 2">
            <a:extLst>
              <a:ext uri="{FF2B5EF4-FFF2-40B4-BE49-F238E27FC236}">
                <a16:creationId xmlns:a16="http://schemas.microsoft.com/office/drawing/2014/main" id="{CB981B11-FD3B-9863-9E48-8E8C26348772}"/>
              </a:ext>
            </a:extLst>
          </p:cNvPr>
          <p:cNvSpPr>
            <a:spLocks noGrp="1"/>
          </p:cNvSpPr>
          <p:nvPr>
            <p:ph type="title"/>
          </p:nvPr>
        </p:nvSpPr>
        <p:spPr/>
        <p:txBody>
          <a:bodyPr/>
          <a:lstStyle/>
          <a:p>
            <a:r>
              <a:rPr lang="en-US" dirty="0"/>
              <a:t>Interaction term</a:t>
            </a:r>
          </a:p>
        </p:txBody>
      </p:sp>
      <p:pic>
        <p:nvPicPr>
          <p:cNvPr id="1026" name="Picture 2" descr="Linear regression in R - a step-by-step guide (part 2) - Nicola Romanò">
            <a:extLst>
              <a:ext uri="{FF2B5EF4-FFF2-40B4-BE49-F238E27FC236}">
                <a16:creationId xmlns:a16="http://schemas.microsoft.com/office/drawing/2014/main" id="{3BD38E82-3739-CC4C-AE9F-610937BA40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886728" y="3556001"/>
            <a:ext cx="8678332" cy="5206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021819"/>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0300-8852-66B8-A26A-162FF03FA1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63081F-F9CE-D9B7-D2EF-8ED67C6D60FD}"/>
              </a:ext>
            </a:extLst>
          </p:cNvPr>
          <p:cNvSpPr>
            <a:spLocks noGrp="1"/>
          </p:cNvSpPr>
          <p:nvPr>
            <p:ph idx="1"/>
          </p:nvPr>
        </p:nvSpPr>
        <p:spPr>
          <a:xfrm>
            <a:off x="812591" y="3556001"/>
            <a:ext cx="10541209" cy="8659814"/>
          </a:xfrm>
        </p:spPr>
        <p:txBody>
          <a:bodyPr>
            <a:normAutofit/>
          </a:bodyPr>
          <a:lstStyle/>
          <a:p>
            <a:r>
              <a:rPr lang="en-US" dirty="0"/>
              <a:t>In R, the syntax </a:t>
            </a:r>
          </a:p>
          <a:p>
            <a:pPr algn="ctr"/>
            <a:r>
              <a:rPr lang="en-US" dirty="0">
                <a:solidFill>
                  <a:schemeClr val="accent5"/>
                </a:solidFill>
              </a:rPr>
              <a:t>covariate</a:t>
            </a:r>
            <a:r>
              <a:rPr lang="en-US" baseline="-25000" dirty="0">
                <a:solidFill>
                  <a:schemeClr val="accent5"/>
                </a:solidFill>
              </a:rPr>
              <a:t>1</a:t>
            </a:r>
            <a:r>
              <a:rPr lang="en-US" dirty="0">
                <a:solidFill>
                  <a:schemeClr val="accent5"/>
                </a:solidFill>
              </a:rPr>
              <a:t> * covariate</a:t>
            </a:r>
            <a:r>
              <a:rPr lang="en-US" baseline="-25000" dirty="0">
                <a:solidFill>
                  <a:schemeClr val="accent5"/>
                </a:solidFill>
              </a:rPr>
              <a:t>2</a:t>
            </a:r>
            <a:r>
              <a:rPr lang="en-US" dirty="0">
                <a:solidFill>
                  <a:schemeClr val="accent5"/>
                </a:solidFill>
              </a:rPr>
              <a:t> </a:t>
            </a:r>
          </a:p>
          <a:p>
            <a:r>
              <a:rPr lang="en-US" dirty="0"/>
              <a:t>fits a model with terms covariate</a:t>
            </a:r>
            <a:r>
              <a:rPr lang="en-US" baseline="-25000" dirty="0"/>
              <a:t>1</a:t>
            </a:r>
            <a:r>
              <a:rPr lang="en-US" dirty="0"/>
              <a:t>,</a:t>
            </a:r>
            <a:r>
              <a:rPr lang="en-US" baseline="-25000" dirty="0"/>
              <a:t> </a:t>
            </a:r>
            <a:r>
              <a:rPr lang="en-US" dirty="0"/>
              <a:t>covariate</a:t>
            </a:r>
            <a:r>
              <a:rPr lang="en-US" baseline="-25000" dirty="0"/>
              <a:t>2</a:t>
            </a:r>
            <a:r>
              <a:rPr lang="en-US" dirty="0"/>
              <a:t>, and covariate</a:t>
            </a:r>
            <a:r>
              <a:rPr lang="en-US" baseline="-25000" dirty="0"/>
              <a:t>1</a:t>
            </a:r>
            <a:r>
              <a:rPr lang="en-US" dirty="0"/>
              <a:t> * covariate</a:t>
            </a:r>
            <a:r>
              <a:rPr lang="en-US" baseline="-25000" dirty="0"/>
              <a:t>2</a:t>
            </a:r>
            <a:r>
              <a:rPr lang="en-US" dirty="0"/>
              <a:t> in it.</a:t>
            </a:r>
          </a:p>
        </p:txBody>
      </p:sp>
      <p:sp>
        <p:nvSpPr>
          <p:cNvPr id="3" name="Title 2">
            <a:extLst>
              <a:ext uri="{FF2B5EF4-FFF2-40B4-BE49-F238E27FC236}">
                <a16:creationId xmlns:a16="http://schemas.microsoft.com/office/drawing/2014/main" id="{D9FF6B3A-EFC8-C86C-37E3-F547B02E8CCB}"/>
              </a:ext>
            </a:extLst>
          </p:cNvPr>
          <p:cNvSpPr>
            <a:spLocks noGrp="1"/>
          </p:cNvSpPr>
          <p:nvPr>
            <p:ph type="title"/>
          </p:nvPr>
        </p:nvSpPr>
        <p:spPr/>
        <p:txBody>
          <a:bodyPr/>
          <a:lstStyle/>
          <a:p>
            <a:r>
              <a:rPr lang="en-US" dirty="0"/>
              <a:t>Interaction term</a:t>
            </a:r>
          </a:p>
        </p:txBody>
      </p:sp>
      <p:pic>
        <p:nvPicPr>
          <p:cNvPr id="5" name="Picture 4" descr="A white paper with black text&#10;&#10;AI-generated content may be incorrect.">
            <a:extLst>
              <a:ext uri="{FF2B5EF4-FFF2-40B4-BE49-F238E27FC236}">
                <a16:creationId xmlns:a16="http://schemas.microsoft.com/office/drawing/2014/main" id="{99A51655-F9AC-F264-C1A1-328AACDD64F9}"/>
              </a:ext>
            </a:extLst>
          </p:cNvPr>
          <p:cNvPicPr>
            <a:picLocks noChangeAspect="1"/>
          </p:cNvPicPr>
          <p:nvPr/>
        </p:nvPicPr>
        <p:blipFill>
          <a:blip r:embed="rId3"/>
          <a:stretch>
            <a:fillRect/>
          </a:stretch>
        </p:blipFill>
        <p:spPr>
          <a:xfrm>
            <a:off x="12266298" y="3273095"/>
            <a:ext cx="11862592" cy="8659814"/>
          </a:xfrm>
          <a:prstGeom prst="rect">
            <a:avLst/>
          </a:prstGeom>
        </p:spPr>
      </p:pic>
      <p:pic>
        <p:nvPicPr>
          <p:cNvPr id="7" name="Picture 6" descr="A close-up of a sign&#10;&#10;AI-generated content may be incorrect.">
            <a:extLst>
              <a:ext uri="{FF2B5EF4-FFF2-40B4-BE49-F238E27FC236}">
                <a16:creationId xmlns:a16="http://schemas.microsoft.com/office/drawing/2014/main" id="{7DE15CB5-E2CE-5E46-AF88-4EF4C37ED42B}"/>
              </a:ext>
            </a:extLst>
          </p:cNvPr>
          <p:cNvPicPr>
            <a:picLocks noChangeAspect="1"/>
          </p:cNvPicPr>
          <p:nvPr/>
        </p:nvPicPr>
        <p:blipFill>
          <a:blip r:embed="rId4"/>
          <a:stretch>
            <a:fillRect/>
          </a:stretch>
        </p:blipFill>
        <p:spPr>
          <a:xfrm>
            <a:off x="558659" y="10002509"/>
            <a:ext cx="11453707" cy="1930400"/>
          </a:xfrm>
          <a:prstGeom prst="rect">
            <a:avLst/>
          </a:prstGeom>
        </p:spPr>
      </p:pic>
    </p:spTree>
    <p:extLst>
      <p:ext uri="{BB962C8B-B14F-4D97-AF65-F5344CB8AC3E}">
        <p14:creationId xmlns:p14="http://schemas.microsoft.com/office/powerpoint/2010/main" val="3957523546"/>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341E2-E9FA-203C-AE25-5FE628F2EA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01587E-F2F3-7B95-0460-C73552F639A6}"/>
              </a:ext>
            </a:extLst>
          </p:cNvPr>
          <p:cNvSpPr>
            <a:spLocks noGrp="1"/>
          </p:cNvSpPr>
          <p:nvPr>
            <p:ph idx="1"/>
          </p:nvPr>
        </p:nvSpPr>
        <p:spPr>
          <a:xfrm>
            <a:off x="812591" y="3556001"/>
            <a:ext cx="10541209" cy="8659814"/>
          </a:xfrm>
        </p:spPr>
        <p:txBody>
          <a:bodyPr>
            <a:normAutofit/>
          </a:bodyPr>
          <a:lstStyle/>
          <a:p>
            <a:r>
              <a:rPr lang="en-US" dirty="0"/>
              <a:t>The p-value for the interaction term is not &lt;0.05, so it should not be kept in the model.</a:t>
            </a:r>
          </a:p>
          <a:p>
            <a:pPr marL="685800" indent="-685800">
              <a:buFont typeface="Arial" panose="020B0604020202020204" pitchFamily="34" charset="0"/>
              <a:buChar char="•"/>
            </a:pPr>
            <a:r>
              <a:rPr lang="en-US" dirty="0"/>
              <a:t>No evidence of effect measure modification</a:t>
            </a:r>
          </a:p>
        </p:txBody>
      </p:sp>
      <p:sp>
        <p:nvSpPr>
          <p:cNvPr id="3" name="Title 2">
            <a:extLst>
              <a:ext uri="{FF2B5EF4-FFF2-40B4-BE49-F238E27FC236}">
                <a16:creationId xmlns:a16="http://schemas.microsoft.com/office/drawing/2014/main" id="{D9CAC27A-460D-C3A7-9734-5EF90E2828D7}"/>
              </a:ext>
            </a:extLst>
          </p:cNvPr>
          <p:cNvSpPr>
            <a:spLocks noGrp="1"/>
          </p:cNvSpPr>
          <p:nvPr>
            <p:ph type="title"/>
          </p:nvPr>
        </p:nvSpPr>
        <p:spPr/>
        <p:txBody>
          <a:bodyPr/>
          <a:lstStyle/>
          <a:p>
            <a:r>
              <a:rPr lang="en-US" dirty="0"/>
              <a:t>Interaction term</a:t>
            </a:r>
          </a:p>
        </p:txBody>
      </p:sp>
      <p:pic>
        <p:nvPicPr>
          <p:cNvPr id="5" name="Picture 4" descr="A white paper with black text&#10;&#10;AI-generated content may be incorrect.">
            <a:extLst>
              <a:ext uri="{FF2B5EF4-FFF2-40B4-BE49-F238E27FC236}">
                <a16:creationId xmlns:a16="http://schemas.microsoft.com/office/drawing/2014/main" id="{4D2E7220-AEDA-10BB-DB37-99D5D5D2C1B6}"/>
              </a:ext>
            </a:extLst>
          </p:cNvPr>
          <p:cNvPicPr>
            <a:picLocks noChangeAspect="1"/>
          </p:cNvPicPr>
          <p:nvPr/>
        </p:nvPicPr>
        <p:blipFill>
          <a:blip r:embed="rId3"/>
          <a:stretch>
            <a:fillRect/>
          </a:stretch>
        </p:blipFill>
        <p:spPr>
          <a:xfrm>
            <a:off x="12266298" y="3273095"/>
            <a:ext cx="11862592" cy="8659814"/>
          </a:xfrm>
          <a:prstGeom prst="rect">
            <a:avLst/>
          </a:prstGeom>
        </p:spPr>
      </p:pic>
      <p:pic>
        <p:nvPicPr>
          <p:cNvPr id="7" name="Picture 6" descr="A close-up of a sign&#10;&#10;AI-generated content may be incorrect.">
            <a:extLst>
              <a:ext uri="{FF2B5EF4-FFF2-40B4-BE49-F238E27FC236}">
                <a16:creationId xmlns:a16="http://schemas.microsoft.com/office/drawing/2014/main" id="{B4CFA1A4-F00F-5B11-14A8-FED67A6938F6}"/>
              </a:ext>
            </a:extLst>
          </p:cNvPr>
          <p:cNvPicPr>
            <a:picLocks noChangeAspect="1"/>
          </p:cNvPicPr>
          <p:nvPr/>
        </p:nvPicPr>
        <p:blipFill>
          <a:blip r:embed="rId4"/>
          <a:stretch>
            <a:fillRect/>
          </a:stretch>
        </p:blipFill>
        <p:spPr>
          <a:xfrm>
            <a:off x="558659" y="10002509"/>
            <a:ext cx="11453707" cy="1930400"/>
          </a:xfrm>
          <a:prstGeom prst="rect">
            <a:avLst/>
          </a:prstGeom>
        </p:spPr>
      </p:pic>
      <p:sp>
        <p:nvSpPr>
          <p:cNvPr id="8" name="Rounded Rectangle 7">
            <a:extLst>
              <a:ext uri="{FF2B5EF4-FFF2-40B4-BE49-F238E27FC236}">
                <a16:creationId xmlns:a16="http://schemas.microsoft.com/office/drawing/2014/main" id="{74952761-E0C4-ABB4-BFAF-89AB59513EC6}"/>
              </a:ext>
            </a:extLst>
          </p:cNvPr>
          <p:cNvSpPr/>
          <p:nvPr/>
        </p:nvSpPr>
        <p:spPr>
          <a:xfrm>
            <a:off x="21361400" y="8737600"/>
            <a:ext cx="1219200" cy="4826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65354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111BD3-D484-34BA-8075-CD4850D74103}"/>
              </a:ext>
            </a:extLst>
          </p:cNvPr>
          <p:cNvSpPr>
            <a:spLocks noGrp="1"/>
          </p:cNvSpPr>
          <p:nvPr>
            <p:ph idx="1"/>
          </p:nvPr>
        </p:nvSpPr>
        <p:spPr/>
        <p:txBody>
          <a:bodyPr>
            <a:normAutofit/>
          </a:bodyPr>
          <a:lstStyle/>
          <a:p>
            <a:pPr marL="685800" indent="-685800">
              <a:spcBef>
                <a:spcPct val="0"/>
              </a:spcBef>
              <a:buFont typeface="Arial" panose="020B0604020202020204" pitchFamily="34" charset="0"/>
              <a:buChar char="•"/>
              <a:defRPr/>
            </a:pPr>
            <a:r>
              <a:rPr lang="en-US" altLang="en-US" sz="5400" dirty="0"/>
              <a:t>A linear regression model with two or more explanatory variables is multivariate linear regression. </a:t>
            </a:r>
          </a:p>
          <a:p>
            <a:pPr marL="685800" indent="-685800">
              <a:spcBef>
                <a:spcPct val="0"/>
              </a:spcBef>
              <a:buFont typeface="Arial" panose="020B0604020202020204" pitchFamily="34" charset="0"/>
              <a:buChar char="•"/>
              <a:defRPr/>
            </a:pPr>
            <a:r>
              <a:rPr lang="en-US" altLang="en-US" sz="5400" dirty="0"/>
              <a:t>Multivariate linear regression can be used to evaluate more complex relationships involving an outcome and explanatory variables.</a:t>
            </a:r>
          </a:p>
          <a:p>
            <a:pPr marL="685800" indent="-685800">
              <a:spcBef>
                <a:spcPct val="0"/>
              </a:spcBef>
              <a:buFont typeface="Arial" panose="020B0604020202020204" pitchFamily="34" charset="0"/>
              <a:buChar char="•"/>
              <a:defRPr/>
            </a:pPr>
            <a:r>
              <a:rPr lang="en-US" altLang="en-US" sz="5400" dirty="0"/>
              <a:t>An interaction term is used to test if a covariate is an effect measure modifier.</a:t>
            </a:r>
          </a:p>
          <a:p>
            <a:pPr marL="685800" indent="-685800">
              <a:buFont typeface="Arial" panose="020B0604020202020204" pitchFamily="34" charset="0"/>
              <a:buChar char="•"/>
            </a:pPr>
            <a:endParaRPr lang="en-US" sz="5400" dirty="0"/>
          </a:p>
          <a:p>
            <a:pPr marL="685800" indent="-6858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37DA7AAD-2AE7-66EE-5361-4859E700958E}"/>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295523262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6C940-5A1F-DB4C-20F8-E35E372BBF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D6FC39-975D-7E1B-4DA0-DF313917E8D0}"/>
              </a:ext>
            </a:extLst>
          </p:cNvPr>
          <p:cNvSpPr>
            <a:spLocks noGrp="1"/>
          </p:cNvSpPr>
          <p:nvPr>
            <p:ph type="title"/>
          </p:nvPr>
        </p:nvSpPr>
        <p:spPr>
          <a:xfrm>
            <a:off x="1784974" y="2290285"/>
            <a:ext cx="18697586" cy="2323279"/>
          </a:xfrm>
        </p:spPr>
        <p:txBody>
          <a:bodyPr>
            <a:normAutofit/>
          </a:bodyPr>
          <a:lstStyle/>
          <a:p>
            <a:r>
              <a:rPr lang="en-US" dirty="0"/>
              <a:t>Linear Regression II</a:t>
            </a:r>
          </a:p>
        </p:txBody>
      </p:sp>
      <p:sp>
        <p:nvSpPr>
          <p:cNvPr id="3" name="Text Placeholder 2">
            <a:extLst>
              <a:ext uri="{FF2B5EF4-FFF2-40B4-BE49-F238E27FC236}">
                <a16:creationId xmlns:a16="http://schemas.microsoft.com/office/drawing/2014/main" id="{23651688-BCFC-4651-EF9C-358F4C8F5D65}"/>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9F94F24D-C929-CDC0-0421-CC81EDE97593}"/>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r>
              <a:rPr lang="en-US" sz="6600" dirty="0"/>
              <a:t>Collinearity</a:t>
            </a:r>
          </a:p>
        </p:txBody>
      </p:sp>
    </p:spTree>
    <p:extLst>
      <p:ext uri="{BB962C8B-B14F-4D97-AF65-F5344CB8AC3E}">
        <p14:creationId xmlns:p14="http://schemas.microsoft.com/office/powerpoint/2010/main" val="216962178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6F0729-6319-B290-9229-B8A178414452}"/>
              </a:ext>
            </a:extLst>
          </p:cNvPr>
          <p:cNvSpPr>
            <a:spLocks noGrp="1"/>
          </p:cNvSpPr>
          <p:nvPr>
            <p:ph idx="1"/>
          </p:nvPr>
        </p:nvSpPr>
        <p:spPr>
          <a:xfrm>
            <a:off x="812590" y="3556001"/>
            <a:ext cx="14122609" cy="8659814"/>
          </a:xfrm>
        </p:spPr>
        <p:txBody>
          <a:bodyPr>
            <a:normAutofit fontScale="92500"/>
          </a:bodyPr>
          <a:lstStyle/>
          <a:p>
            <a:r>
              <a:rPr lang="en-US" dirty="0">
                <a:solidFill>
                  <a:schemeClr val="accent5"/>
                </a:solidFill>
              </a:rPr>
              <a:t>Collinearity</a:t>
            </a:r>
            <a:r>
              <a:rPr lang="en-US" dirty="0"/>
              <a:t> occurs when independent variables are highly correlated.</a:t>
            </a:r>
          </a:p>
          <a:p>
            <a:pPr marL="685800" indent="-685800">
              <a:buFont typeface="Arial" panose="020B0604020202020204" pitchFamily="34" charset="0"/>
              <a:buChar char="•"/>
            </a:pPr>
            <a:r>
              <a:rPr lang="en-US" dirty="0"/>
              <a:t>Difficult for the model to estimate individual effects on the outcome variable</a:t>
            </a:r>
          </a:p>
          <a:p>
            <a:pPr marL="685800" indent="-685800">
              <a:buFont typeface="Arial" panose="020B0604020202020204" pitchFamily="34" charset="0"/>
              <a:buChar char="•"/>
            </a:pPr>
            <a:r>
              <a:rPr lang="en-US" dirty="0"/>
              <a:t>Inflates variance of the regression coefficients leading to unstable estimates and wider CIs</a:t>
            </a:r>
          </a:p>
          <a:p>
            <a:pPr marL="685800" indent="-685800">
              <a:buFont typeface="Arial" panose="020B0604020202020204" pitchFamily="34" charset="0"/>
              <a:buChar char="•"/>
            </a:pPr>
            <a:r>
              <a:rPr lang="en-US" dirty="0"/>
              <a:t>Often, a decision about which to include in the final model is needed</a:t>
            </a:r>
          </a:p>
        </p:txBody>
      </p:sp>
      <p:sp>
        <p:nvSpPr>
          <p:cNvPr id="3" name="Title 2">
            <a:extLst>
              <a:ext uri="{FF2B5EF4-FFF2-40B4-BE49-F238E27FC236}">
                <a16:creationId xmlns:a16="http://schemas.microsoft.com/office/drawing/2014/main" id="{092C997C-523D-CAC4-757B-E93D9316A694}"/>
              </a:ext>
            </a:extLst>
          </p:cNvPr>
          <p:cNvSpPr>
            <a:spLocks noGrp="1"/>
          </p:cNvSpPr>
          <p:nvPr>
            <p:ph type="title"/>
          </p:nvPr>
        </p:nvSpPr>
        <p:spPr/>
        <p:txBody>
          <a:bodyPr/>
          <a:lstStyle/>
          <a:p>
            <a:r>
              <a:rPr lang="en-US" dirty="0"/>
              <a:t>Collinearity</a:t>
            </a:r>
          </a:p>
        </p:txBody>
      </p:sp>
      <p:pic>
        <p:nvPicPr>
          <p:cNvPr id="5" name="Picture 4" descr="Correlation - Free marketing icons">
            <a:extLst>
              <a:ext uri="{FF2B5EF4-FFF2-40B4-BE49-F238E27FC236}">
                <a16:creationId xmlns:a16="http://schemas.microsoft.com/office/drawing/2014/main" id="{B81DF7A8-D1D8-7665-1C20-EA50A6FE1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3225" y="3556000"/>
            <a:ext cx="3301999" cy="33019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Correlation - Free marketing icons">
            <a:extLst>
              <a:ext uri="{FF2B5EF4-FFF2-40B4-BE49-F238E27FC236}">
                <a16:creationId xmlns:a16="http://schemas.microsoft.com/office/drawing/2014/main" id="{8E73F648-2034-B7B9-A828-2CCE887630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3382" y="3556000"/>
            <a:ext cx="3301999" cy="330199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orrelation - Free marketing icons">
            <a:extLst>
              <a:ext uri="{FF2B5EF4-FFF2-40B4-BE49-F238E27FC236}">
                <a16:creationId xmlns:a16="http://schemas.microsoft.com/office/drawing/2014/main" id="{945FD9E8-2F07-600F-30A9-0859ACC3C5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43225" y="7303550"/>
            <a:ext cx="3301999" cy="330199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orrelation - Free marketing icons">
            <a:extLst>
              <a:ext uri="{FF2B5EF4-FFF2-40B4-BE49-F238E27FC236}">
                <a16:creationId xmlns:a16="http://schemas.microsoft.com/office/drawing/2014/main" id="{375E0A13-4187-ED07-E8BC-7606D1618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3382" y="7303550"/>
            <a:ext cx="3301999" cy="330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448799"/>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A0650-8FEF-24DC-5010-AB311C9EDA5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5E1FB2-A8F3-18AE-8978-6EA0A3F6D1CC}"/>
              </a:ext>
            </a:extLst>
          </p:cNvPr>
          <p:cNvSpPr>
            <a:spLocks noGrp="1"/>
          </p:cNvSpPr>
          <p:nvPr>
            <p:ph type="title"/>
          </p:nvPr>
        </p:nvSpPr>
        <p:spPr/>
        <p:txBody>
          <a:bodyPr/>
          <a:lstStyle/>
          <a:p>
            <a:r>
              <a:rPr lang="en-US" dirty="0"/>
              <a:t>Example: Prenatal care</a:t>
            </a:r>
          </a:p>
        </p:txBody>
      </p:sp>
      <p:pic>
        <p:nvPicPr>
          <p:cNvPr id="4" name="Picture 3" descr="A screenshot of a computer&#10;&#10;AI-generated content may be incorrect.">
            <a:extLst>
              <a:ext uri="{FF2B5EF4-FFF2-40B4-BE49-F238E27FC236}">
                <a16:creationId xmlns:a16="http://schemas.microsoft.com/office/drawing/2014/main" id="{7A249CA5-E976-727C-EE9B-E798CE501867}"/>
              </a:ext>
            </a:extLst>
          </p:cNvPr>
          <p:cNvPicPr>
            <a:picLocks noChangeAspect="1"/>
          </p:cNvPicPr>
          <p:nvPr/>
        </p:nvPicPr>
        <p:blipFill>
          <a:blip r:embed="rId3"/>
          <a:stretch>
            <a:fillRect/>
          </a:stretch>
        </p:blipFill>
        <p:spPr>
          <a:xfrm>
            <a:off x="3401977" y="3110449"/>
            <a:ext cx="17573696" cy="8965763"/>
          </a:xfrm>
          <a:prstGeom prst="rect">
            <a:avLst/>
          </a:prstGeom>
        </p:spPr>
      </p:pic>
    </p:spTree>
    <p:extLst>
      <p:ext uri="{BB962C8B-B14F-4D97-AF65-F5344CB8AC3E}">
        <p14:creationId xmlns:p14="http://schemas.microsoft.com/office/powerpoint/2010/main" val="95545599"/>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D0AE572-01E8-9B22-0C89-2933B15959AB}"/>
              </a:ext>
            </a:extLst>
          </p:cNvPr>
          <p:cNvSpPr>
            <a:spLocks noGrp="1"/>
          </p:cNvSpPr>
          <p:nvPr>
            <p:ph type="title"/>
          </p:nvPr>
        </p:nvSpPr>
        <p:spPr/>
        <p:txBody>
          <a:bodyPr/>
          <a:lstStyle/>
          <a:p>
            <a:r>
              <a:rPr lang="en-US" dirty="0"/>
              <a:t>Correlation matrix</a:t>
            </a:r>
          </a:p>
        </p:txBody>
      </p:sp>
      <p:pic>
        <p:nvPicPr>
          <p:cNvPr id="7" name="Picture 6" descr="A grid with blue circles and red text&#10;&#10;AI-generated content may be incorrect.">
            <a:extLst>
              <a:ext uri="{FF2B5EF4-FFF2-40B4-BE49-F238E27FC236}">
                <a16:creationId xmlns:a16="http://schemas.microsoft.com/office/drawing/2014/main" id="{5D3CED8A-D089-0CA7-EB79-A191D68F54DB}"/>
              </a:ext>
            </a:extLst>
          </p:cNvPr>
          <p:cNvPicPr>
            <a:picLocks noChangeAspect="1"/>
          </p:cNvPicPr>
          <p:nvPr/>
        </p:nvPicPr>
        <p:blipFill>
          <a:blip r:embed="rId3"/>
          <a:stretch>
            <a:fillRect/>
          </a:stretch>
        </p:blipFill>
        <p:spPr>
          <a:xfrm>
            <a:off x="12979399" y="3110449"/>
            <a:ext cx="10226675" cy="9075245"/>
          </a:xfrm>
          <a:prstGeom prst="rect">
            <a:avLst/>
          </a:prstGeom>
        </p:spPr>
      </p:pic>
      <p:sp>
        <p:nvSpPr>
          <p:cNvPr id="9" name="Content Placeholder 1">
            <a:extLst>
              <a:ext uri="{FF2B5EF4-FFF2-40B4-BE49-F238E27FC236}">
                <a16:creationId xmlns:a16="http://schemas.microsoft.com/office/drawing/2014/main" id="{D1B59B89-1B2D-54A3-4CBC-E52929A7D2F5}"/>
              </a:ext>
            </a:extLst>
          </p:cNvPr>
          <p:cNvSpPr txBox="1">
            <a:spLocks/>
          </p:cNvSpPr>
          <p:nvPr/>
        </p:nvSpPr>
        <p:spPr>
          <a:xfrm>
            <a:off x="812591" y="3556001"/>
            <a:ext cx="10998410" cy="5194643"/>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dirty="0"/>
              <a:t>Collinearity is usually checked with a </a:t>
            </a:r>
            <a:r>
              <a:rPr lang="en-US" dirty="0">
                <a:solidFill>
                  <a:schemeClr val="accent5"/>
                </a:solidFill>
              </a:rPr>
              <a:t>correlation matrix</a:t>
            </a:r>
            <a:r>
              <a:rPr lang="en-US" dirty="0"/>
              <a:t>.</a:t>
            </a:r>
          </a:p>
          <a:p>
            <a:pPr marL="685800" indent="-685800">
              <a:buFont typeface="Arial" panose="020B0604020202020204" pitchFamily="34" charset="0"/>
              <a:buChar char="•"/>
            </a:pPr>
            <a:r>
              <a:rPr lang="en-US" dirty="0"/>
              <a:t>Only for continuous covariates</a:t>
            </a:r>
          </a:p>
          <a:p>
            <a:pPr marL="685800" indent="-685800">
              <a:buFont typeface="Arial" panose="020B0604020202020204" pitchFamily="34" charset="0"/>
              <a:buChar char="•"/>
            </a:pPr>
            <a:r>
              <a:rPr lang="en-US" dirty="0"/>
              <a:t>Can use Pearson or Spearman</a:t>
            </a:r>
          </a:p>
        </p:txBody>
      </p:sp>
      <p:pic>
        <p:nvPicPr>
          <p:cNvPr id="8" name="Content Placeholder 7" descr="A screenshot of a computer code&#10;&#10;AI-generated content may be incorrect.">
            <a:extLst>
              <a:ext uri="{FF2B5EF4-FFF2-40B4-BE49-F238E27FC236}">
                <a16:creationId xmlns:a16="http://schemas.microsoft.com/office/drawing/2014/main" id="{5E3F9529-4653-9122-CB48-5FE2E41A3A60}"/>
              </a:ext>
            </a:extLst>
          </p:cNvPr>
          <p:cNvPicPr>
            <a:picLocks noGrp="1" noChangeAspect="1"/>
          </p:cNvPicPr>
          <p:nvPr>
            <p:ph idx="1"/>
          </p:nvPr>
        </p:nvPicPr>
        <p:blipFill>
          <a:blip r:embed="rId4"/>
          <a:stretch>
            <a:fillRect/>
          </a:stretch>
        </p:blipFill>
        <p:spPr>
          <a:xfrm>
            <a:off x="76201" y="8950729"/>
            <a:ext cx="13197634" cy="2834871"/>
          </a:xfrm>
        </p:spPr>
      </p:pic>
    </p:spTree>
    <p:extLst>
      <p:ext uri="{BB962C8B-B14F-4D97-AF65-F5344CB8AC3E}">
        <p14:creationId xmlns:p14="http://schemas.microsoft.com/office/powerpoint/2010/main" val="3169309074"/>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BD4A6-D05D-4029-D5A9-D1E1DA0EB7B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95852D6-D70A-B86B-6D98-84706E6AF03F}"/>
              </a:ext>
            </a:extLst>
          </p:cNvPr>
          <p:cNvSpPr>
            <a:spLocks noGrp="1"/>
          </p:cNvSpPr>
          <p:nvPr>
            <p:ph type="title"/>
          </p:nvPr>
        </p:nvSpPr>
        <p:spPr/>
        <p:txBody>
          <a:bodyPr/>
          <a:lstStyle/>
          <a:p>
            <a:r>
              <a:rPr lang="en-US" dirty="0"/>
              <a:t>Correlation matrix</a:t>
            </a:r>
          </a:p>
        </p:txBody>
      </p:sp>
      <p:pic>
        <p:nvPicPr>
          <p:cNvPr id="8" name="Content Placeholder 7">
            <a:extLst>
              <a:ext uri="{FF2B5EF4-FFF2-40B4-BE49-F238E27FC236}">
                <a16:creationId xmlns:a16="http://schemas.microsoft.com/office/drawing/2014/main" id="{E16BC7C5-32F7-746D-5C65-8B7C891DCBE8}"/>
              </a:ext>
            </a:extLst>
          </p:cNvPr>
          <p:cNvPicPr>
            <a:picLocks noGrp="1" noChangeAspect="1"/>
          </p:cNvPicPr>
          <p:nvPr>
            <p:ph idx="1"/>
          </p:nvPr>
        </p:nvPicPr>
        <p:blipFill>
          <a:blip r:embed="rId3"/>
          <a:stretch>
            <a:fillRect/>
          </a:stretch>
        </p:blipFill>
        <p:spPr>
          <a:xfrm>
            <a:off x="202970" y="10605551"/>
            <a:ext cx="13724167" cy="1334294"/>
          </a:xfrm>
        </p:spPr>
      </p:pic>
      <p:pic>
        <p:nvPicPr>
          <p:cNvPr id="10" name="Picture 9" descr="A diagram of a graph&#10;&#10;AI-generated content may be incorrect.">
            <a:extLst>
              <a:ext uri="{FF2B5EF4-FFF2-40B4-BE49-F238E27FC236}">
                <a16:creationId xmlns:a16="http://schemas.microsoft.com/office/drawing/2014/main" id="{B4298514-C45C-0938-A949-FB6A2A8AD4C9}"/>
              </a:ext>
            </a:extLst>
          </p:cNvPr>
          <p:cNvPicPr>
            <a:picLocks noChangeAspect="1"/>
          </p:cNvPicPr>
          <p:nvPr/>
        </p:nvPicPr>
        <p:blipFill>
          <a:blip r:embed="rId4"/>
          <a:stretch>
            <a:fillRect/>
          </a:stretch>
        </p:blipFill>
        <p:spPr>
          <a:xfrm>
            <a:off x="13927137" y="3110449"/>
            <a:ext cx="9477375" cy="9119970"/>
          </a:xfrm>
          <a:prstGeom prst="rect">
            <a:avLst/>
          </a:prstGeom>
        </p:spPr>
      </p:pic>
      <p:sp>
        <p:nvSpPr>
          <p:cNvPr id="11" name="Content Placeholder 1">
            <a:extLst>
              <a:ext uri="{FF2B5EF4-FFF2-40B4-BE49-F238E27FC236}">
                <a16:creationId xmlns:a16="http://schemas.microsoft.com/office/drawing/2014/main" id="{39B6E2BF-1D01-7273-ACC7-021B4081EFCC}"/>
              </a:ext>
            </a:extLst>
          </p:cNvPr>
          <p:cNvSpPr txBox="1">
            <a:spLocks/>
          </p:cNvSpPr>
          <p:nvPr/>
        </p:nvSpPr>
        <p:spPr>
          <a:xfrm>
            <a:off x="812591" y="3556001"/>
            <a:ext cx="11023810" cy="5194643"/>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dirty="0"/>
              <a:t>Collinearity is usually checked with a </a:t>
            </a:r>
            <a:r>
              <a:rPr lang="en-US" dirty="0">
                <a:solidFill>
                  <a:schemeClr val="accent5"/>
                </a:solidFill>
              </a:rPr>
              <a:t>correlation matrix</a:t>
            </a:r>
            <a:r>
              <a:rPr lang="en-US" dirty="0"/>
              <a:t>.</a:t>
            </a:r>
          </a:p>
          <a:p>
            <a:pPr marL="685800" indent="-685800">
              <a:buFont typeface="Arial" panose="020B0604020202020204" pitchFamily="34" charset="0"/>
              <a:buChar char="•"/>
            </a:pPr>
            <a:r>
              <a:rPr lang="en-US" dirty="0"/>
              <a:t>Only for continuous covariates</a:t>
            </a:r>
          </a:p>
          <a:p>
            <a:pPr marL="685800" indent="-685800">
              <a:buFont typeface="Arial" panose="020B0604020202020204" pitchFamily="34" charset="0"/>
              <a:buChar char="•"/>
            </a:pPr>
            <a:r>
              <a:rPr lang="en-US" dirty="0"/>
              <a:t>Can use Pearson or Spearman</a:t>
            </a:r>
          </a:p>
        </p:txBody>
      </p:sp>
    </p:spTree>
    <p:extLst>
      <p:ext uri="{BB962C8B-B14F-4D97-AF65-F5344CB8AC3E}">
        <p14:creationId xmlns:p14="http://schemas.microsoft.com/office/powerpoint/2010/main" val="2985689228"/>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874A88-5531-A55C-6701-CC753981F851}"/>
            </a:ext>
          </a:extLst>
        </p:cNvPr>
        <p:cNvGrpSpPr/>
        <p:nvPr/>
      </p:nvGrpSpPr>
      <p:grpSpPr>
        <a:xfrm>
          <a:off x="0" y="0"/>
          <a:ext cx="0" cy="0"/>
          <a:chOff x="0" y="0"/>
          <a:chExt cx="0" cy="0"/>
        </a:xfrm>
      </p:grpSpPr>
      <p:pic>
        <p:nvPicPr>
          <p:cNvPr id="9" name="Picture 8" descr="A graph with numbers and text&#10;&#10;AI-generated content may be incorrect.">
            <a:extLst>
              <a:ext uri="{FF2B5EF4-FFF2-40B4-BE49-F238E27FC236}">
                <a16:creationId xmlns:a16="http://schemas.microsoft.com/office/drawing/2014/main" id="{499E3B5E-693C-20D9-F1B7-E2CF3142FAF2}"/>
              </a:ext>
            </a:extLst>
          </p:cNvPr>
          <p:cNvPicPr>
            <a:picLocks noChangeAspect="1"/>
          </p:cNvPicPr>
          <p:nvPr/>
        </p:nvPicPr>
        <p:blipFill>
          <a:blip r:embed="rId3"/>
          <a:stretch>
            <a:fillRect/>
          </a:stretch>
        </p:blipFill>
        <p:spPr>
          <a:xfrm>
            <a:off x="13852524" y="3110449"/>
            <a:ext cx="9515475" cy="9067688"/>
          </a:xfrm>
          <a:prstGeom prst="rect">
            <a:avLst/>
          </a:prstGeom>
        </p:spPr>
      </p:pic>
      <p:sp>
        <p:nvSpPr>
          <p:cNvPr id="3" name="Title 2">
            <a:extLst>
              <a:ext uri="{FF2B5EF4-FFF2-40B4-BE49-F238E27FC236}">
                <a16:creationId xmlns:a16="http://schemas.microsoft.com/office/drawing/2014/main" id="{830A9175-50E1-80D7-261C-E145F2DC0ABD}"/>
              </a:ext>
            </a:extLst>
          </p:cNvPr>
          <p:cNvSpPr>
            <a:spLocks noGrp="1"/>
          </p:cNvSpPr>
          <p:nvPr>
            <p:ph type="title"/>
          </p:nvPr>
        </p:nvSpPr>
        <p:spPr/>
        <p:txBody>
          <a:bodyPr/>
          <a:lstStyle/>
          <a:p>
            <a:r>
              <a:rPr lang="en-US" dirty="0"/>
              <a:t>Correlation matrix</a:t>
            </a:r>
          </a:p>
        </p:txBody>
      </p:sp>
      <p:sp>
        <p:nvSpPr>
          <p:cNvPr id="11" name="Content Placeholder 1">
            <a:extLst>
              <a:ext uri="{FF2B5EF4-FFF2-40B4-BE49-F238E27FC236}">
                <a16:creationId xmlns:a16="http://schemas.microsoft.com/office/drawing/2014/main" id="{4283DDB1-EB4E-FA10-2A45-E0605FEECD8E}"/>
              </a:ext>
            </a:extLst>
          </p:cNvPr>
          <p:cNvSpPr txBox="1">
            <a:spLocks/>
          </p:cNvSpPr>
          <p:nvPr/>
        </p:nvSpPr>
        <p:spPr>
          <a:xfrm>
            <a:off x="812591" y="3556001"/>
            <a:ext cx="11100010" cy="5194643"/>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dirty="0"/>
              <a:t>Collinearity is usually checked with a </a:t>
            </a:r>
            <a:r>
              <a:rPr lang="en-US" dirty="0">
                <a:solidFill>
                  <a:schemeClr val="accent5"/>
                </a:solidFill>
              </a:rPr>
              <a:t>correlation matrix</a:t>
            </a:r>
            <a:r>
              <a:rPr lang="en-US" dirty="0"/>
              <a:t>.</a:t>
            </a:r>
          </a:p>
          <a:p>
            <a:pPr marL="685800" indent="-685800">
              <a:buFont typeface="Arial" panose="020B0604020202020204" pitchFamily="34" charset="0"/>
              <a:buChar char="•"/>
            </a:pPr>
            <a:r>
              <a:rPr lang="en-US" dirty="0"/>
              <a:t>Only for continuous covariates</a:t>
            </a:r>
          </a:p>
          <a:p>
            <a:pPr marL="685800" indent="-685800">
              <a:buFont typeface="Arial" panose="020B0604020202020204" pitchFamily="34" charset="0"/>
              <a:buChar char="•"/>
            </a:pPr>
            <a:r>
              <a:rPr lang="en-US" dirty="0"/>
              <a:t>Can use Pearson or Spearman</a:t>
            </a:r>
          </a:p>
        </p:txBody>
      </p:sp>
      <p:sp>
        <p:nvSpPr>
          <p:cNvPr id="12" name="Rounded Rectangle 11">
            <a:extLst>
              <a:ext uri="{FF2B5EF4-FFF2-40B4-BE49-F238E27FC236}">
                <a16:creationId xmlns:a16="http://schemas.microsoft.com/office/drawing/2014/main" id="{AF849248-9DB5-7DCD-530B-7DE5D0447A5F}"/>
              </a:ext>
            </a:extLst>
          </p:cNvPr>
          <p:cNvSpPr/>
          <p:nvPr/>
        </p:nvSpPr>
        <p:spPr>
          <a:xfrm>
            <a:off x="20142200" y="4343400"/>
            <a:ext cx="1092200" cy="1092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0CE6BEB6-A57D-1376-1CDD-EE5C621657BF}"/>
              </a:ext>
            </a:extLst>
          </p:cNvPr>
          <p:cNvSpPr/>
          <p:nvPr/>
        </p:nvSpPr>
        <p:spPr>
          <a:xfrm>
            <a:off x="21234400" y="6522668"/>
            <a:ext cx="1092200" cy="1092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a:extLst>
              <a:ext uri="{FF2B5EF4-FFF2-40B4-BE49-F238E27FC236}">
                <a16:creationId xmlns:a16="http://schemas.microsoft.com/office/drawing/2014/main" id="{77EB3C52-59D8-D011-4301-DFD034E9434F}"/>
              </a:ext>
            </a:extLst>
          </p:cNvPr>
          <p:cNvPicPr>
            <a:picLocks noGrp="1" noChangeAspect="1"/>
          </p:cNvPicPr>
          <p:nvPr>
            <p:ph idx="1"/>
          </p:nvPr>
        </p:nvPicPr>
        <p:blipFill>
          <a:blip r:embed="rId4"/>
          <a:stretch>
            <a:fillRect/>
          </a:stretch>
        </p:blipFill>
        <p:spPr>
          <a:xfrm>
            <a:off x="231775" y="10872702"/>
            <a:ext cx="15897226" cy="1058136"/>
          </a:xfrm>
        </p:spPr>
      </p:pic>
    </p:spTree>
    <p:extLst>
      <p:ext uri="{BB962C8B-B14F-4D97-AF65-F5344CB8AC3E}">
        <p14:creationId xmlns:p14="http://schemas.microsoft.com/office/powerpoint/2010/main" val="2426400402"/>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363B6-06FB-78BB-0F01-BFEC478870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6B2AB60-7FDF-FE4F-CD30-B7344980595B}"/>
              </a:ext>
            </a:extLst>
          </p:cNvPr>
          <p:cNvSpPr>
            <a:spLocks noGrp="1"/>
          </p:cNvSpPr>
          <p:nvPr>
            <p:ph type="title"/>
          </p:nvPr>
        </p:nvSpPr>
        <p:spPr/>
        <p:txBody>
          <a:bodyPr/>
          <a:lstStyle/>
          <a:p>
            <a:r>
              <a:rPr lang="en-US" dirty="0"/>
              <a:t>Correlation matrix</a:t>
            </a:r>
          </a:p>
        </p:txBody>
      </p:sp>
      <p:sp>
        <p:nvSpPr>
          <p:cNvPr id="11" name="Content Placeholder 1">
            <a:extLst>
              <a:ext uri="{FF2B5EF4-FFF2-40B4-BE49-F238E27FC236}">
                <a16:creationId xmlns:a16="http://schemas.microsoft.com/office/drawing/2014/main" id="{FF0684F2-857D-6DC3-0BED-06DEC37741EF}"/>
              </a:ext>
            </a:extLst>
          </p:cNvPr>
          <p:cNvSpPr txBox="1">
            <a:spLocks/>
          </p:cNvSpPr>
          <p:nvPr/>
        </p:nvSpPr>
        <p:spPr>
          <a:xfrm>
            <a:off x="812590" y="3556001"/>
            <a:ext cx="11088581" cy="5194643"/>
          </a:xfrm>
          <a:prstGeom prst="rect">
            <a:avLst/>
          </a:prstGeom>
        </p:spPr>
        <p:txBody>
          <a:bodyPr vert="horz" lIns="91440" tIns="45720" rIns="91440" bIns="45720" rtlCol="0">
            <a:normAutofit/>
          </a:bodyPr>
          <a:lstStyle>
            <a:lvl1pPr marL="0"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1pPr>
            <a:lvl2pPr marL="914171"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b="0" kern="1200">
                <a:solidFill>
                  <a:schemeClr val="tx1"/>
                </a:solidFill>
                <a:latin typeface="+mn-lt"/>
                <a:ea typeface="+mn-ea"/>
                <a:cs typeface="+mn-cs"/>
              </a:defRPr>
            </a:lvl2pPr>
            <a:lvl3pPr marL="1828343"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3pPr>
            <a:lvl4pPr marL="2742514"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4pPr>
            <a:lvl5pPr marL="3656685" indent="0" algn="l" defTabSz="1828343" rtl="0" eaLnBrk="1" latinLnBrk="0" hangingPunct="1">
              <a:lnSpc>
                <a:spcPct val="120000"/>
              </a:lnSpc>
              <a:spcBef>
                <a:spcPts val="2399"/>
              </a:spcBef>
              <a:spcAft>
                <a:spcPts val="800"/>
              </a:spcAft>
              <a:buClr>
                <a:schemeClr val="accent2"/>
              </a:buClr>
              <a:buFont typeface="Arial" panose="020B0604020202020204" pitchFamily="34" charset="0"/>
              <a:buNone/>
              <a:defRPr sz="5399" kern="1200">
                <a:solidFill>
                  <a:schemeClr val="tx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dirty="0"/>
              <a:t>Collinearity is usually checked with a </a:t>
            </a:r>
            <a:r>
              <a:rPr lang="en-US" dirty="0">
                <a:solidFill>
                  <a:schemeClr val="accent5"/>
                </a:solidFill>
              </a:rPr>
              <a:t>correlation matrix</a:t>
            </a:r>
            <a:r>
              <a:rPr lang="en-US" dirty="0"/>
              <a:t>.</a:t>
            </a:r>
          </a:p>
          <a:p>
            <a:pPr marL="685800" indent="-685800">
              <a:buFont typeface="Arial" panose="020B0604020202020204" pitchFamily="34" charset="0"/>
              <a:buChar char="•"/>
            </a:pPr>
            <a:r>
              <a:rPr lang="en-US" dirty="0"/>
              <a:t>Only for continuous covariates</a:t>
            </a:r>
          </a:p>
          <a:p>
            <a:pPr marL="685800" indent="-685800">
              <a:buFont typeface="Arial" panose="020B0604020202020204" pitchFamily="34" charset="0"/>
              <a:buChar char="•"/>
            </a:pPr>
            <a:r>
              <a:rPr lang="en-US" dirty="0"/>
              <a:t>Can use Pearson or Spearman</a:t>
            </a:r>
          </a:p>
        </p:txBody>
      </p:sp>
      <p:pic>
        <p:nvPicPr>
          <p:cNvPr id="13" name="Picture 12" descr="A screenshot of a computer&#10;&#10;AI-generated content may be incorrect.">
            <a:extLst>
              <a:ext uri="{FF2B5EF4-FFF2-40B4-BE49-F238E27FC236}">
                <a16:creationId xmlns:a16="http://schemas.microsoft.com/office/drawing/2014/main" id="{D1AD0BE6-98E4-C013-9BDA-783981B6E3A2}"/>
              </a:ext>
            </a:extLst>
          </p:cNvPr>
          <p:cNvPicPr>
            <a:picLocks noChangeAspect="1"/>
          </p:cNvPicPr>
          <p:nvPr/>
        </p:nvPicPr>
        <p:blipFill>
          <a:blip r:embed="rId3"/>
          <a:stretch>
            <a:fillRect/>
          </a:stretch>
        </p:blipFill>
        <p:spPr>
          <a:xfrm>
            <a:off x="12374881" y="3110449"/>
            <a:ext cx="11711447" cy="6654799"/>
          </a:xfrm>
          <a:prstGeom prst="rect">
            <a:avLst/>
          </a:prstGeom>
        </p:spPr>
      </p:pic>
    </p:spTree>
    <p:extLst>
      <p:ext uri="{BB962C8B-B14F-4D97-AF65-F5344CB8AC3E}">
        <p14:creationId xmlns:p14="http://schemas.microsoft.com/office/powerpoint/2010/main" val="2900694494"/>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F54EBB-1557-B0B2-FF91-96793259F24D}"/>
              </a:ext>
            </a:extLst>
          </p:cNvPr>
          <p:cNvSpPr>
            <a:spLocks noGrp="1"/>
          </p:cNvSpPr>
          <p:nvPr>
            <p:ph idx="1"/>
          </p:nvPr>
        </p:nvSpPr>
        <p:spPr>
          <a:xfrm>
            <a:off x="812591" y="3556001"/>
            <a:ext cx="9474409" cy="8659814"/>
          </a:xfrm>
        </p:spPr>
        <p:txBody>
          <a:bodyPr/>
          <a:lstStyle/>
          <a:p>
            <a:r>
              <a:rPr lang="en-US" dirty="0"/>
              <a:t>The correlation value often isn’t enough and a test for each pair of covariates should be performed to see which correlations are significant.</a:t>
            </a:r>
          </a:p>
          <a:p>
            <a:endParaRPr lang="en-US" dirty="0"/>
          </a:p>
        </p:txBody>
      </p:sp>
      <p:sp>
        <p:nvSpPr>
          <p:cNvPr id="3" name="Title 2">
            <a:extLst>
              <a:ext uri="{FF2B5EF4-FFF2-40B4-BE49-F238E27FC236}">
                <a16:creationId xmlns:a16="http://schemas.microsoft.com/office/drawing/2014/main" id="{B5DACE6D-93A9-3431-2F3E-BFF8C82A4BD2}"/>
              </a:ext>
            </a:extLst>
          </p:cNvPr>
          <p:cNvSpPr>
            <a:spLocks noGrp="1"/>
          </p:cNvSpPr>
          <p:nvPr>
            <p:ph type="title"/>
          </p:nvPr>
        </p:nvSpPr>
        <p:spPr/>
        <p:txBody>
          <a:bodyPr/>
          <a:lstStyle/>
          <a:p>
            <a:r>
              <a:rPr lang="en-US" dirty="0"/>
              <a:t>Correlation tests</a:t>
            </a:r>
          </a:p>
        </p:txBody>
      </p:sp>
      <p:pic>
        <p:nvPicPr>
          <p:cNvPr id="7" name="Picture 6" descr="A screenshot of a computer&#10;&#10;AI-generated content may be incorrect.">
            <a:extLst>
              <a:ext uri="{FF2B5EF4-FFF2-40B4-BE49-F238E27FC236}">
                <a16:creationId xmlns:a16="http://schemas.microsoft.com/office/drawing/2014/main" id="{990F8CFD-F041-97B4-BD7B-8FD7E8AC8156}"/>
              </a:ext>
            </a:extLst>
          </p:cNvPr>
          <p:cNvPicPr>
            <a:picLocks noChangeAspect="1"/>
          </p:cNvPicPr>
          <p:nvPr/>
        </p:nvPicPr>
        <p:blipFill>
          <a:blip r:embed="rId3"/>
          <a:stretch>
            <a:fillRect/>
          </a:stretch>
        </p:blipFill>
        <p:spPr>
          <a:xfrm>
            <a:off x="10715624" y="3556001"/>
            <a:ext cx="13058775" cy="5640279"/>
          </a:xfrm>
          <a:prstGeom prst="rect">
            <a:avLst/>
          </a:prstGeom>
        </p:spPr>
      </p:pic>
    </p:spTree>
    <p:extLst>
      <p:ext uri="{BB962C8B-B14F-4D97-AF65-F5344CB8AC3E}">
        <p14:creationId xmlns:p14="http://schemas.microsoft.com/office/powerpoint/2010/main" val="1327235587"/>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A467-22CA-10F0-7FF1-3B02B35A3C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29DEF9A-0BB9-4DAF-429F-A12B50248438}"/>
              </a:ext>
            </a:extLst>
          </p:cNvPr>
          <p:cNvSpPr>
            <a:spLocks noGrp="1"/>
          </p:cNvSpPr>
          <p:nvPr>
            <p:ph idx="1"/>
          </p:nvPr>
        </p:nvSpPr>
        <p:spPr>
          <a:xfrm>
            <a:off x="812591" y="3556001"/>
            <a:ext cx="9474409" cy="8659814"/>
          </a:xfrm>
        </p:spPr>
        <p:txBody>
          <a:bodyPr/>
          <a:lstStyle/>
          <a:p>
            <a:r>
              <a:rPr lang="en-US" dirty="0"/>
              <a:t>The correlation value often isn’t enough and a test for each pair of covariates should be performed to see which correlations are significant.</a:t>
            </a:r>
          </a:p>
          <a:p>
            <a:pPr marL="685800" indent="-685800">
              <a:buFont typeface="Arial" panose="020B0604020202020204" pitchFamily="34" charset="0"/>
              <a:buChar char="•"/>
            </a:pPr>
            <a:r>
              <a:rPr lang="en-US" dirty="0"/>
              <a:t>The boxed values show non-significant p-values (variables are not collinear)</a:t>
            </a:r>
          </a:p>
          <a:p>
            <a:endParaRPr lang="en-US" dirty="0"/>
          </a:p>
        </p:txBody>
      </p:sp>
      <p:sp>
        <p:nvSpPr>
          <p:cNvPr id="3" name="Title 2">
            <a:extLst>
              <a:ext uri="{FF2B5EF4-FFF2-40B4-BE49-F238E27FC236}">
                <a16:creationId xmlns:a16="http://schemas.microsoft.com/office/drawing/2014/main" id="{8977C703-9AF1-B031-7CFB-E0DF93094369}"/>
              </a:ext>
            </a:extLst>
          </p:cNvPr>
          <p:cNvSpPr>
            <a:spLocks noGrp="1"/>
          </p:cNvSpPr>
          <p:nvPr>
            <p:ph type="title"/>
          </p:nvPr>
        </p:nvSpPr>
        <p:spPr/>
        <p:txBody>
          <a:bodyPr/>
          <a:lstStyle/>
          <a:p>
            <a:r>
              <a:rPr lang="en-US" dirty="0"/>
              <a:t>Correlation tests</a:t>
            </a:r>
          </a:p>
        </p:txBody>
      </p:sp>
      <p:pic>
        <p:nvPicPr>
          <p:cNvPr id="7" name="Picture 6" descr="A screenshot of a computer&#10;&#10;AI-generated content may be incorrect.">
            <a:extLst>
              <a:ext uri="{FF2B5EF4-FFF2-40B4-BE49-F238E27FC236}">
                <a16:creationId xmlns:a16="http://schemas.microsoft.com/office/drawing/2014/main" id="{2DC847DF-71DE-4177-DD85-EAF853DD39B0}"/>
              </a:ext>
            </a:extLst>
          </p:cNvPr>
          <p:cNvPicPr>
            <a:picLocks noChangeAspect="1"/>
          </p:cNvPicPr>
          <p:nvPr/>
        </p:nvPicPr>
        <p:blipFill>
          <a:blip r:embed="rId3"/>
          <a:stretch>
            <a:fillRect/>
          </a:stretch>
        </p:blipFill>
        <p:spPr>
          <a:xfrm>
            <a:off x="10715624" y="3556001"/>
            <a:ext cx="13058775" cy="5640279"/>
          </a:xfrm>
          <a:prstGeom prst="rect">
            <a:avLst/>
          </a:prstGeom>
        </p:spPr>
      </p:pic>
      <p:sp>
        <p:nvSpPr>
          <p:cNvPr id="8" name="Rounded Rectangle 7">
            <a:extLst>
              <a:ext uri="{FF2B5EF4-FFF2-40B4-BE49-F238E27FC236}">
                <a16:creationId xmlns:a16="http://schemas.microsoft.com/office/drawing/2014/main" id="{C4C93F40-7BF7-FDC6-5D84-68F0BAB382BD}"/>
              </a:ext>
            </a:extLst>
          </p:cNvPr>
          <p:cNvSpPr/>
          <p:nvPr/>
        </p:nvSpPr>
        <p:spPr>
          <a:xfrm>
            <a:off x="13462000" y="7010400"/>
            <a:ext cx="1219200" cy="330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00027256-D040-33FA-5333-9E2E07D7A69F}"/>
              </a:ext>
            </a:extLst>
          </p:cNvPr>
          <p:cNvSpPr/>
          <p:nvPr/>
        </p:nvSpPr>
        <p:spPr>
          <a:xfrm>
            <a:off x="13462000" y="8356600"/>
            <a:ext cx="1219200" cy="330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847E1C44-54C1-E6E6-C99B-189E91E5D5C5}"/>
              </a:ext>
            </a:extLst>
          </p:cNvPr>
          <p:cNvSpPr/>
          <p:nvPr/>
        </p:nvSpPr>
        <p:spPr>
          <a:xfrm>
            <a:off x="17018000" y="8356600"/>
            <a:ext cx="1219200" cy="330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966DE978-B063-8850-C429-A5E6609F071C}"/>
              </a:ext>
            </a:extLst>
          </p:cNvPr>
          <p:cNvSpPr/>
          <p:nvPr/>
        </p:nvSpPr>
        <p:spPr>
          <a:xfrm>
            <a:off x="18211800" y="7911048"/>
            <a:ext cx="1219200" cy="330200"/>
          </a:xfrm>
          <a:prstGeom prst="roundRect">
            <a:avLst/>
          </a:prstGeom>
          <a:noFill/>
          <a:ln w="571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93C9BCA4-962A-4183-88D0-7EC2ADA5D43F}"/>
              </a:ext>
            </a:extLst>
          </p:cNvPr>
          <p:cNvSpPr/>
          <p:nvPr/>
        </p:nvSpPr>
        <p:spPr>
          <a:xfrm rot="10800000">
            <a:off x="13208000" y="5613400"/>
            <a:ext cx="10160000" cy="3582880"/>
          </a:xfrm>
          <a:prstGeom prst="rtTriangle">
            <a:avLst/>
          </a:prstGeom>
          <a:solidFill>
            <a:srgbClr val="F0F0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69069685"/>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74761B-8C43-ECC8-FDBD-B031AAD02E63}"/>
              </a:ext>
            </a:extLst>
          </p:cNvPr>
          <p:cNvSpPr>
            <a:spLocks noGrp="1"/>
          </p:cNvSpPr>
          <p:nvPr>
            <p:ph idx="1"/>
          </p:nvPr>
        </p:nvSpPr>
        <p:spPr>
          <a:xfrm>
            <a:off x="812590" y="3556001"/>
            <a:ext cx="21430190" cy="8582659"/>
          </a:xfrm>
        </p:spPr>
        <p:txBody>
          <a:bodyPr>
            <a:normAutofit/>
          </a:bodyPr>
          <a:lstStyle/>
          <a:p>
            <a:pPr marL="685800" indent="-685800">
              <a:buFont typeface="Arial" panose="020B0604020202020204" pitchFamily="34" charset="0"/>
              <a:buChar char="•"/>
            </a:pPr>
            <a:r>
              <a:rPr lang="en-US" altLang="en-US" sz="5400" dirty="0"/>
              <a:t>Collinearity of explanatory variables must be checked before deciding on a final multivariate linear regression model to ensure none of the explanatory variables are highly correlated.</a:t>
            </a:r>
          </a:p>
          <a:p>
            <a:pPr marL="685800" indent="-685800">
              <a:buFont typeface="Arial" panose="020B0604020202020204" pitchFamily="34" charset="0"/>
              <a:buChar char="•"/>
            </a:pPr>
            <a:r>
              <a:rPr lang="en-US" altLang="en-US" sz="5400" dirty="0"/>
              <a:t>A correlation matrix can be created using the </a:t>
            </a:r>
            <a:r>
              <a:rPr lang="en-US" altLang="en-US" sz="5400" b="1" dirty="0" err="1">
                <a:solidFill>
                  <a:schemeClr val="accent5"/>
                </a:solidFill>
                <a:latin typeface="Courier New" panose="02070309020205020404" pitchFamily="49" charset="0"/>
                <a:cs typeface="Courier New" panose="02070309020205020404" pitchFamily="49" charset="0"/>
              </a:rPr>
              <a:t>corrplot</a:t>
            </a:r>
            <a:r>
              <a:rPr lang="en-US" altLang="en-US" sz="5400" dirty="0"/>
              <a:t> function.</a:t>
            </a:r>
          </a:p>
          <a:p>
            <a:pPr marL="685800" indent="-685800">
              <a:buFont typeface="Arial" panose="020B0604020202020204" pitchFamily="34" charset="0"/>
              <a:buChar char="•"/>
            </a:pPr>
            <a:r>
              <a:rPr lang="en-US" altLang="en-US" sz="5400" dirty="0"/>
              <a:t>A matrix of p-values from correlation tests can be created using the </a:t>
            </a:r>
            <a:r>
              <a:rPr lang="en-US" altLang="en-US" sz="5400" b="1" dirty="0" err="1">
                <a:solidFill>
                  <a:schemeClr val="accent5"/>
                </a:solidFill>
                <a:latin typeface="Courier New" panose="02070309020205020404" pitchFamily="49" charset="0"/>
                <a:cs typeface="Courier New" panose="02070309020205020404" pitchFamily="49" charset="0"/>
              </a:rPr>
              <a:t>rcorr</a:t>
            </a:r>
            <a:r>
              <a:rPr lang="en-US" altLang="en-US" sz="5400" dirty="0"/>
              <a:t> function from the </a:t>
            </a:r>
            <a:r>
              <a:rPr lang="en-US" altLang="en-US" sz="5400" b="1" dirty="0" err="1">
                <a:solidFill>
                  <a:schemeClr val="accent5"/>
                </a:solidFill>
                <a:latin typeface="Courier New" panose="02070309020205020404" pitchFamily="49" charset="0"/>
                <a:cs typeface="Courier New" panose="02070309020205020404" pitchFamily="49" charset="0"/>
              </a:rPr>
              <a:t>Hmisc</a:t>
            </a:r>
            <a:r>
              <a:rPr lang="en-US" altLang="en-US" sz="5400" dirty="0"/>
              <a:t> package.</a:t>
            </a:r>
          </a:p>
          <a:p>
            <a:pPr marL="685800" indent="-6858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03272B9E-0E56-0F15-3E10-69E596DDA585}"/>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681644831"/>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18BA4B-B826-A820-271F-8C35598A9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0E28F-B076-EE42-DFD3-9651BD3FE8E0}"/>
              </a:ext>
            </a:extLst>
          </p:cNvPr>
          <p:cNvSpPr>
            <a:spLocks noGrp="1"/>
          </p:cNvSpPr>
          <p:nvPr>
            <p:ph type="title"/>
          </p:nvPr>
        </p:nvSpPr>
        <p:spPr>
          <a:xfrm>
            <a:off x="1784974" y="2290285"/>
            <a:ext cx="18697586" cy="2323279"/>
          </a:xfrm>
        </p:spPr>
        <p:txBody>
          <a:bodyPr>
            <a:normAutofit/>
          </a:bodyPr>
          <a:lstStyle/>
          <a:p>
            <a:r>
              <a:rPr lang="en-US" dirty="0"/>
              <a:t>Linear Regression II</a:t>
            </a:r>
          </a:p>
        </p:txBody>
      </p:sp>
      <p:sp>
        <p:nvSpPr>
          <p:cNvPr id="3" name="Text Placeholder 2">
            <a:extLst>
              <a:ext uri="{FF2B5EF4-FFF2-40B4-BE49-F238E27FC236}">
                <a16:creationId xmlns:a16="http://schemas.microsoft.com/office/drawing/2014/main" id="{5338134F-C6F9-2AC0-4C3A-0EDF6DDF73A6}"/>
              </a:ext>
            </a:extLst>
          </p:cNvPr>
          <p:cNvSpPr>
            <a:spLocks noGrp="1"/>
          </p:cNvSpPr>
          <p:nvPr>
            <p:ph type="body" sz="quarter" idx="10"/>
          </p:nvPr>
        </p:nvSpPr>
        <p:spPr>
          <a:xfrm>
            <a:off x="1784974" y="8481886"/>
            <a:ext cx="18697586" cy="904570"/>
          </a:xfrm>
        </p:spPr>
        <p:txBody>
          <a:bodyPr>
            <a:normAutofit/>
          </a:bodyPr>
          <a:lstStyle/>
          <a:p>
            <a:r>
              <a:rPr lang="en-US" sz="4800" dirty="0"/>
              <a:t>Heather Mattie, PhD </a:t>
            </a:r>
          </a:p>
        </p:txBody>
      </p:sp>
      <p:sp>
        <p:nvSpPr>
          <p:cNvPr id="4" name="Title 1">
            <a:extLst>
              <a:ext uri="{FF2B5EF4-FFF2-40B4-BE49-F238E27FC236}">
                <a16:creationId xmlns:a16="http://schemas.microsoft.com/office/drawing/2014/main" id="{01EBA6E9-873B-4CCD-2B4D-6A18B395AB5A}"/>
              </a:ext>
            </a:extLst>
          </p:cNvPr>
          <p:cNvSpPr txBox="1">
            <a:spLocks/>
          </p:cNvSpPr>
          <p:nvPr/>
        </p:nvSpPr>
        <p:spPr>
          <a:xfrm>
            <a:off x="1784974" y="5590309"/>
            <a:ext cx="18697586" cy="1267691"/>
          </a:xfrm>
          <a:prstGeom prst="rect">
            <a:avLst/>
          </a:prstGeom>
        </p:spPr>
        <p:txBody>
          <a:bodyPr vert="horz" lIns="91440" tIns="45720" rIns="91440" bIns="45720" rtlCol="0" anchor="b">
            <a:normAutofit/>
          </a:bodyPr>
          <a:lstStyle>
            <a:lvl1pPr algn="l" defTabSz="1828343" rtl="0" eaLnBrk="1" latinLnBrk="0" hangingPunct="1">
              <a:lnSpc>
                <a:spcPct val="90000"/>
              </a:lnSpc>
              <a:spcBef>
                <a:spcPct val="0"/>
              </a:spcBef>
              <a:buNone/>
              <a:defRPr sz="9600" b="1" kern="1200">
                <a:solidFill>
                  <a:schemeClr val="tx1"/>
                </a:solidFill>
                <a:latin typeface="+mj-lt"/>
                <a:ea typeface="+mj-ea"/>
                <a:cs typeface="+mj-cs"/>
              </a:defRPr>
            </a:lvl1pPr>
          </a:lstStyle>
          <a:p>
            <a:r>
              <a:rPr lang="en-US" sz="6600" dirty="0"/>
              <a:t>Model selection</a:t>
            </a:r>
          </a:p>
        </p:txBody>
      </p:sp>
    </p:spTree>
    <p:extLst>
      <p:ext uri="{BB962C8B-B14F-4D97-AF65-F5344CB8AC3E}">
        <p14:creationId xmlns:p14="http://schemas.microsoft.com/office/powerpoint/2010/main" val="2052349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ontent Placeholder 13">
            <a:extLst>
              <a:ext uri="{FF2B5EF4-FFF2-40B4-BE49-F238E27FC236}">
                <a16:creationId xmlns:a16="http://schemas.microsoft.com/office/drawing/2014/main" id="{C4680F37-3ABF-739E-7E5C-B59C7FB61B21}"/>
              </a:ext>
            </a:extLst>
          </p:cNvPr>
          <p:cNvSpPr>
            <a:spLocks noGrp="1"/>
          </p:cNvSpPr>
          <p:nvPr>
            <p:ph idx="1"/>
          </p:nvPr>
        </p:nvSpPr>
        <p:spPr>
          <a:xfrm>
            <a:off x="812591" y="3556001"/>
            <a:ext cx="15418010" cy="8659814"/>
          </a:xfrm>
        </p:spPr>
        <p:txBody>
          <a:bodyPr/>
          <a:lstStyle/>
          <a:p>
            <a:r>
              <a:rPr lang="en-US" dirty="0">
                <a:solidFill>
                  <a:schemeClr val="accent5"/>
                </a:solidFill>
              </a:rPr>
              <a:t>Model selection </a:t>
            </a:r>
            <a:r>
              <a:rPr lang="en-US" dirty="0"/>
              <a:t>is the process of identifying the best set of covariates for a model.</a:t>
            </a:r>
          </a:p>
          <a:p>
            <a:pPr marL="685800" indent="-685800">
              <a:buFont typeface="Arial" panose="020B0604020202020204" pitchFamily="34" charset="0"/>
              <a:buChar char="•"/>
            </a:pPr>
            <a:r>
              <a:rPr lang="en-US" dirty="0"/>
              <a:t>Depends on the type of model</a:t>
            </a:r>
          </a:p>
          <a:p>
            <a:pPr marL="685800" indent="-685800">
              <a:buFont typeface="Arial" panose="020B0604020202020204" pitchFamily="34" charset="0"/>
              <a:buChar char="•"/>
            </a:pPr>
            <a:r>
              <a:rPr lang="en-US" dirty="0"/>
              <a:t>Prediction models should be parsimonious</a:t>
            </a:r>
          </a:p>
          <a:p>
            <a:pPr marL="685800" indent="-685800">
              <a:buFont typeface="Arial" panose="020B0604020202020204" pitchFamily="34" charset="0"/>
              <a:buChar char="•"/>
            </a:pPr>
            <a:r>
              <a:rPr lang="en-US" dirty="0"/>
              <a:t>Causal models should control for known confounders and effect measure modification</a:t>
            </a:r>
          </a:p>
        </p:txBody>
      </p:sp>
      <p:sp>
        <p:nvSpPr>
          <p:cNvPr id="2" name="Title 1">
            <a:extLst>
              <a:ext uri="{FF2B5EF4-FFF2-40B4-BE49-F238E27FC236}">
                <a16:creationId xmlns:a16="http://schemas.microsoft.com/office/drawing/2014/main" id="{BD0CFC21-B871-5FCF-BC5C-59274D93508F}"/>
              </a:ext>
            </a:extLst>
          </p:cNvPr>
          <p:cNvSpPr>
            <a:spLocks noGrp="1"/>
          </p:cNvSpPr>
          <p:nvPr>
            <p:ph type="title"/>
          </p:nvPr>
        </p:nvSpPr>
        <p:spPr/>
        <p:txBody>
          <a:bodyPr/>
          <a:lstStyle/>
          <a:p>
            <a:r>
              <a:rPr lang="en-US" dirty="0"/>
              <a:t>Model selection</a:t>
            </a:r>
          </a:p>
        </p:txBody>
      </p:sp>
      <p:pic>
        <p:nvPicPr>
          <p:cNvPr id="3074" name="Picture 2" descr="Selection Icon Vector Art, Icons, and Graphics for Free Download">
            <a:extLst>
              <a:ext uri="{FF2B5EF4-FFF2-40B4-BE49-F238E27FC236}">
                <a16:creationId xmlns:a16="http://schemas.microsoft.com/office/drawing/2014/main" id="{58F755E4-A246-C683-BEC0-419819977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35401" y="3556001"/>
            <a:ext cx="6210805" cy="5119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2879"/>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01981-DBA4-3409-2DA0-5BE1638A78A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84DB19C-E401-83A0-A1E4-EF9AD9CDE205}"/>
              </a:ext>
            </a:extLst>
          </p:cNvPr>
          <p:cNvSpPr>
            <a:spLocks noGrp="1"/>
          </p:cNvSpPr>
          <p:nvPr>
            <p:ph type="title"/>
          </p:nvPr>
        </p:nvSpPr>
        <p:spPr/>
        <p:txBody>
          <a:bodyPr/>
          <a:lstStyle/>
          <a:p>
            <a:r>
              <a:rPr lang="en-US" dirty="0"/>
              <a:t>Example: Prenatal care</a:t>
            </a:r>
          </a:p>
        </p:txBody>
      </p:sp>
      <p:pic>
        <p:nvPicPr>
          <p:cNvPr id="4" name="Picture 3" descr="A screenshot of a computer&#10;&#10;AI-generated content may be incorrect.">
            <a:extLst>
              <a:ext uri="{FF2B5EF4-FFF2-40B4-BE49-F238E27FC236}">
                <a16:creationId xmlns:a16="http://schemas.microsoft.com/office/drawing/2014/main" id="{283B06CA-E7A8-3023-C93B-25665F66866C}"/>
              </a:ext>
            </a:extLst>
          </p:cNvPr>
          <p:cNvPicPr>
            <a:picLocks noChangeAspect="1"/>
          </p:cNvPicPr>
          <p:nvPr/>
        </p:nvPicPr>
        <p:blipFill>
          <a:blip r:embed="rId3"/>
          <a:stretch>
            <a:fillRect/>
          </a:stretch>
        </p:blipFill>
        <p:spPr>
          <a:xfrm>
            <a:off x="3401977" y="3110449"/>
            <a:ext cx="17573696" cy="8965763"/>
          </a:xfrm>
          <a:prstGeom prst="rect">
            <a:avLst/>
          </a:prstGeom>
        </p:spPr>
      </p:pic>
    </p:spTree>
    <p:extLst>
      <p:ext uri="{BB962C8B-B14F-4D97-AF65-F5344CB8AC3E}">
        <p14:creationId xmlns:p14="http://schemas.microsoft.com/office/powerpoint/2010/main" val="555111006"/>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7A3A9646-92E3-7206-B70E-373258E47B79}"/>
              </a:ext>
            </a:extLst>
          </p:cNvPr>
          <p:cNvSpPr>
            <a:spLocks noGrp="1"/>
          </p:cNvSpPr>
          <p:nvPr>
            <p:ph idx="1"/>
          </p:nvPr>
        </p:nvSpPr>
        <p:spPr>
          <a:xfrm>
            <a:off x="812590" y="3556001"/>
            <a:ext cx="23012610" cy="8659814"/>
          </a:xfrm>
        </p:spPr>
        <p:txBody>
          <a:bodyPr>
            <a:normAutofit/>
          </a:bodyPr>
          <a:lstStyle/>
          <a:p>
            <a:r>
              <a:rPr lang="en-US" dirty="0">
                <a:solidFill>
                  <a:schemeClr val="accent5"/>
                </a:solidFill>
              </a:rPr>
              <a:t>Prediction models </a:t>
            </a:r>
            <a:r>
              <a:rPr lang="en-US" dirty="0"/>
              <a:t>are used to make future predictions of the outcome from a set of values from the explanatory variables.</a:t>
            </a:r>
          </a:p>
          <a:p>
            <a:pPr marL="685800" indent="-685800">
              <a:buFont typeface="Arial" panose="020B0604020202020204" pitchFamily="34" charset="0"/>
              <a:buChar char="•"/>
            </a:pPr>
            <a:r>
              <a:rPr lang="en-US" dirty="0"/>
              <a:t>Only include explanatory variables that help predict or explain the variability in the outcome </a:t>
            </a:r>
            <a:r>
              <a:rPr lang="en-US" i="1" dirty="0"/>
              <a:t>y</a:t>
            </a:r>
          </a:p>
          <a:p>
            <a:pPr marL="685800" indent="-685800">
              <a:buFont typeface="Arial" panose="020B0604020202020204" pitchFamily="34" charset="0"/>
              <a:buChar char="•"/>
            </a:pPr>
            <a:r>
              <a:rPr lang="en-US" dirty="0"/>
              <a:t>This is called a </a:t>
            </a:r>
            <a:r>
              <a:rPr lang="en-US" dirty="0">
                <a:solidFill>
                  <a:schemeClr val="accent5"/>
                </a:solidFill>
              </a:rPr>
              <a:t>parsimonious</a:t>
            </a:r>
            <a:r>
              <a:rPr lang="en-US" dirty="0"/>
              <a:t> model</a:t>
            </a:r>
          </a:p>
          <a:p>
            <a:pPr marL="685800" indent="-685800">
              <a:buFont typeface="Arial" panose="020B0604020202020204" pitchFamily="34" charset="0"/>
              <a:buChar char="•"/>
            </a:pPr>
            <a:r>
              <a:rPr lang="en-US" dirty="0"/>
              <a:t>Stepwise selection is often used for model selection</a:t>
            </a:r>
          </a:p>
          <a:p>
            <a:pPr marL="685800" indent="-685800">
              <a:buFont typeface="Arial" panose="020B0604020202020204" pitchFamily="34" charset="0"/>
              <a:buChar char="•"/>
            </a:pPr>
            <a:r>
              <a:rPr lang="en-US" dirty="0"/>
              <a:t>Variables are added or removed until the best performing model is found</a:t>
            </a:r>
          </a:p>
        </p:txBody>
      </p:sp>
      <p:sp>
        <p:nvSpPr>
          <p:cNvPr id="2" name="Title 1">
            <a:extLst>
              <a:ext uri="{FF2B5EF4-FFF2-40B4-BE49-F238E27FC236}">
                <a16:creationId xmlns:a16="http://schemas.microsoft.com/office/drawing/2014/main" id="{2E97E45E-BC7C-A37D-F2BA-5A7AD46D47B6}"/>
              </a:ext>
            </a:extLst>
          </p:cNvPr>
          <p:cNvSpPr>
            <a:spLocks noGrp="1"/>
          </p:cNvSpPr>
          <p:nvPr>
            <p:ph type="title"/>
          </p:nvPr>
        </p:nvSpPr>
        <p:spPr/>
        <p:txBody>
          <a:bodyPr/>
          <a:lstStyle/>
          <a:p>
            <a:r>
              <a:rPr lang="en-US" dirty="0"/>
              <a:t>Prediction models</a:t>
            </a:r>
          </a:p>
        </p:txBody>
      </p:sp>
    </p:spTree>
    <p:extLst>
      <p:ext uri="{BB962C8B-B14F-4D97-AF65-F5344CB8AC3E}">
        <p14:creationId xmlns:p14="http://schemas.microsoft.com/office/powerpoint/2010/main" val="3191149431"/>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21DAB-4DB6-B75F-97D1-75E156B0A4D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16BD3F5-D87A-A181-ECCA-28816D6FE61F}"/>
              </a:ext>
            </a:extLst>
          </p:cNvPr>
          <p:cNvSpPr>
            <a:spLocks noGrp="1"/>
          </p:cNvSpPr>
          <p:nvPr>
            <p:ph idx="1"/>
          </p:nvPr>
        </p:nvSpPr>
        <p:spPr>
          <a:xfrm>
            <a:off x="812590" y="3110449"/>
            <a:ext cx="23012609" cy="4077751"/>
          </a:xfrm>
        </p:spPr>
        <p:txBody>
          <a:bodyPr>
            <a:normAutofit fontScale="85000" lnSpcReduction="20000"/>
          </a:bodyPr>
          <a:lstStyle/>
          <a:p>
            <a:r>
              <a:rPr lang="en-US" dirty="0">
                <a:solidFill>
                  <a:schemeClr val="accent5"/>
                </a:solidFill>
              </a:rPr>
              <a:t>Forward selection </a:t>
            </a:r>
            <a:r>
              <a:rPr lang="en-US" dirty="0"/>
              <a:t>starts with an empty model (containing only the intercept).</a:t>
            </a:r>
          </a:p>
          <a:p>
            <a:pPr marL="685800" indent="-685800">
              <a:buFont typeface="Arial" panose="020B0604020202020204" pitchFamily="34" charset="0"/>
              <a:buChar char="•"/>
            </a:pPr>
            <a:r>
              <a:rPr lang="en-US" dirty="0"/>
              <a:t>Adds variables one by one, selecting the variable that provides the most significant improvement in model fit at each step</a:t>
            </a:r>
          </a:p>
          <a:p>
            <a:pPr marL="685800" indent="-685800">
              <a:buFont typeface="Arial" panose="020B0604020202020204" pitchFamily="34" charset="0"/>
              <a:buChar char="•"/>
            </a:pPr>
            <a:r>
              <a:rPr lang="en-US" dirty="0"/>
              <a:t>Continues until adding no further variables significantly improves the model</a:t>
            </a:r>
          </a:p>
          <a:p>
            <a:endParaRPr lang="en-US" dirty="0"/>
          </a:p>
        </p:txBody>
      </p:sp>
      <p:sp>
        <p:nvSpPr>
          <p:cNvPr id="2" name="Title 1">
            <a:extLst>
              <a:ext uri="{FF2B5EF4-FFF2-40B4-BE49-F238E27FC236}">
                <a16:creationId xmlns:a16="http://schemas.microsoft.com/office/drawing/2014/main" id="{8C76DE59-C74C-04DB-88BA-B27D994631D1}"/>
              </a:ext>
            </a:extLst>
          </p:cNvPr>
          <p:cNvSpPr>
            <a:spLocks noGrp="1"/>
          </p:cNvSpPr>
          <p:nvPr>
            <p:ph type="title"/>
          </p:nvPr>
        </p:nvSpPr>
        <p:spPr/>
        <p:txBody>
          <a:bodyPr/>
          <a:lstStyle/>
          <a:p>
            <a:r>
              <a:rPr lang="en-US" dirty="0"/>
              <a:t>Forward selection</a:t>
            </a:r>
          </a:p>
        </p:txBody>
      </p:sp>
      <p:pic>
        <p:nvPicPr>
          <p:cNvPr id="6" name="Picture 5" descr="A computer code with black text&#10;&#10;AI-generated content may be incorrect.">
            <a:extLst>
              <a:ext uri="{FF2B5EF4-FFF2-40B4-BE49-F238E27FC236}">
                <a16:creationId xmlns:a16="http://schemas.microsoft.com/office/drawing/2014/main" id="{C89C2BB7-B433-50E4-4E1E-2781D7F54EA0}"/>
              </a:ext>
            </a:extLst>
          </p:cNvPr>
          <p:cNvPicPr>
            <a:picLocks noChangeAspect="1"/>
          </p:cNvPicPr>
          <p:nvPr/>
        </p:nvPicPr>
        <p:blipFill>
          <a:blip r:embed="rId3"/>
          <a:stretch>
            <a:fillRect/>
          </a:stretch>
        </p:blipFill>
        <p:spPr>
          <a:xfrm>
            <a:off x="4989586" y="7188200"/>
            <a:ext cx="14398478" cy="5002215"/>
          </a:xfrm>
          <a:prstGeom prst="rect">
            <a:avLst/>
          </a:prstGeom>
        </p:spPr>
      </p:pic>
    </p:spTree>
    <p:extLst>
      <p:ext uri="{BB962C8B-B14F-4D97-AF65-F5344CB8AC3E}">
        <p14:creationId xmlns:p14="http://schemas.microsoft.com/office/powerpoint/2010/main" val="846483939"/>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0DF24-E8FC-3264-3655-ADE196636B92}"/>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96B86B5-AB49-F7E9-759C-7BD55C683D85}"/>
              </a:ext>
            </a:extLst>
          </p:cNvPr>
          <p:cNvSpPr>
            <a:spLocks noGrp="1"/>
          </p:cNvSpPr>
          <p:nvPr>
            <p:ph idx="1"/>
          </p:nvPr>
        </p:nvSpPr>
        <p:spPr>
          <a:xfrm>
            <a:off x="812590" y="3110450"/>
            <a:ext cx="11376235" cy="7709950"/>
          </a:xfrm>
        </p:spPr>
        <p:txBody>
          <a:bodyPr>
            <a:normAutofit lnSpcReduction="10000"/>
          </a:bodyPr>
          <a:lstStyle/>
          <a:p>
            <a:pPr marL="685800" indent="-685800">
              <a:buFont typeface="Arial" panose="020B0604020202020204" pitchFamily="34" charset="0"/>
              <a:buChar char="•"/>
            </a:pPr>
            <a:r>
              <a:rPr lang="en-US" dirty="0"/>
              <a:t>Output will show iterations</a:t>
            </a:r>
          </a:p>
          <a:p>
            <a:pPr marL="685800" indent="-685800">
              <a:buFont typeface="Arial" panose="020B0604020202020204" pitchFamily="34" charset="0"/>
              <a:buChar char="•"/>
            </a:pPr>
            <a:r>
              <a:rPr lang="en-US" dirty="0"/>
              <a:t>Use the </a:t>
            </a:r>
            <a:r>
              <a:rPr lang="en-US" b="1" dirty="0">
                <a:solidFill>
                  <a:schemeClr val="accent5"/>
                </a:solidFill>
                <a:latin typeface="Courier New" panose="02070309020205020404" pitchFamily="49" charset="0"/>
                <a:cs typeface="Courier New" panose="02070309020205020404" pitchFamily="49" charset="0"/>
              </a:rPr>
              <a:t>summary</a:t>
            </a:r>
            <a:r>
              <a:rPr lang="en-US" dirty="0"/>
              <a:t> function to display the final model</a:t>
            </a:r>
          </a:p>
          <a:p>
            <a:pPr marL="685800" indent="-685800">
              <a:buFont typeface="Arial" panose="020B0604020202020204" pitchFamily="34" charset="0"/>
              <a:buChar char="•"/>
            </a:pPr>
            <a:r>
              <a:rPr lang="en-US" dirty="0"/>
              <a:t>In this case the final model included </a:t>
            </a:r>
            <a:r>
              <a:rPr lang="en-US" b="1" dirty="0">
                <a:solidFill>
                  <a:schemeClr val="accent5"/>
                </a:solidFill>
                <a:latin typeface="Courier New" panose="02070309020205020404" pitchFamily="49" charset="0"/>
                <a:cs typeface="Courier New" panose="02070309020205020404" pitchFamily="49" charset="0"/>
              </a:rPr>
              <a:t>gestation, </a:t>
            </a:r>
            <a:r>
              <a:rPr lang="en-US" b="1" dirty="0" err="1">
                <a:solidFill>
                  <a:schemeClr val="accent5"/>
                </a:solidFill>
                <a:latin typeface="Courier New" panose="02070309020205020404" pitchFamily="49" charset="0"/>
                <a:cs typeface="Courier New" panose="02070309020205020404" pitchFamily="49" charset="0"/>
              </a:rPr>
              <a:t>wpre</a:t>
            </a:r>
            <a:r>
              <a:rPr lang="en-US" b="1" dirty="0">
                <a:solidFill>
                  <a:schemeClr val="accent5"/>
                </a:solidFill>
                <a:latin typeface="Courier New" panose="02070309020205020404" pitchFamily="49" charset="0"/>
                <a:cs typeface="Courier New" panose="02070309020205020404" pitchFamily="49" charset="0"/>
              </a:rPr>
              <a:t>, </a:t>
            </a:r>
            <a:r>
              <a:rPr lang="en-US" b="1" dirty="0" err="1">
                <a:solidFill>
                  <a:schemeClr val="accent5"/>
                </a:solidFill>
                <a:latin typeface="Courier New" panose="02070309020205020404" pitchFamily="49" charset="0"/>
                <a:cs typeface="Courier New" panose="02070309020205020404" pitchFamily="49" charset="0"/>
              </a:rPr>
              <a:t>wgain</a:t>
            </a:r>
            <a:r>
              <a:rPr lang="en-US" b="1" dirty="0">
                <a:solidFill>
                  <a:schemeClr val="accent5"/>
                </a:solidFill>
                <a:latin typeface="Courier New" panose="02070309020205020404" pitchFamily="49" charset="0"/>
                <a:cs typeface="Courier New" panose="02070309020205020404" pitchFamily="49" charset="0"/>
              </a:rPr>
              <a:t>, gender, smoker, race, </a:t>
            </a:r>
            <a:r>
              <a:rPr lang="en-US" dirty="0">
                <a:ea typeface="Inter" panose="02000503000000020004" pitchFamily="2" charset="0"/>
                <a:cs typeface="Courier New" panose="02070309020205020404" pitchFamily="49" charset="0"/>
              </a:rPr>
              <a:t>and</a:t>
            </a:r>
            <a:r>
              <a:rPr lang="en-US" b="1" dirty="0">
                <a:solidFill>
                  <a:schemeClr val="accent5"/>
                </a:solidFill>
                <a:latin typeface="Courier New" panose="02070309020205020404" pitchFamily="49" charset="0"/>
                <a:cs typeface="Courier New" panose="02070309020205020404" pitchFamily="49" charset="0"/>
              </a:rPr>
              <a:t> age</a:t>
            </a:r>
          </a:p>
          <a:p>
            <a:pPr marL="685800" indent="-685800">
              <a:buFont typeface="Arial" panose="020B0604020202020204" pitchFamily="34" charset="0"/>
              <a:buChar char="•"/>
            </a:pPr>
            <a:endParaRPr lang="en-US" dirty="0"/>
          </a:p>
          <a:p>
            <a:endParaRPr lang="en-US" dirty="0"/>
          </a:p>
        </p:txBody>
      </p:sp>
      <p:sp>
        <p:nvSpPr>
          <p:cNvPr id="2" name="Title 1">
            <a:extLst>
              <a:ext uri="{FF2B5EF4-FFF2-40B4-BE49-F238E27FC236}">
                <a16:creationId xmlns:a16="http://schemas.microsoft.com/office/drawing/2014/main" id="{2E8AEB5F-CB09-97F1-C26C-2676A467A0F2}"/>
              </a:ext>
            </a:extLst>
          </p:cNvPr>
          <p:cNvSpPr>
            <a:spLocks noGrp="1"/>
          </p:cNvSpPr>
          <p:nvPr>
            <p:ph type="title"/>
          </p:nvPr>
        </p:nvSpPr>
        <p:spPr/>
        <p:txBody>
          <a:bodyPr/>
          <a:lstStyle/>
          <a:p>
            <a:r>
              <a:rPr lang="en-US" dirty="0"/>
              <a:t>Forward selection</a:t>
            </a:r>
          </a:p>
        </p:txBody>
      </p:sp>
      <p:pic>
        <p:nvPicPr>
          <p:cNvPr id="8" name="Picture 7" descr="A close up of a sign&#10;&#10;AI-generated content may be incorrect.">
            <a:extLst>
              <a:ext uri="{FF2B5EF4-FFF2-40B4-BE49-F238E27FC236}">
                <a16:creationId xmlns:a16="http://schemas.microsoft.com/office/drawing/2014/main" id="{A7F58EE2-8528-4BFF-040E-506EC44A1A31}"/>
              </a:ext>
            </a:extLst>
          </p:cNvPr>
          <p:cNvPicPr>
            <a:picLocks noChangeAspect="1"/>
          </p:cNvPicPr>
          <p:nvPr/>
        </p:nvPicPr>
        <p:blipFill>
          <a:blip r:embed="rId3"/>
          <a:stretch>
            <a:fillRect/>
          </a:stretch>
        </p:blipFill>
        <p:spPr>
          <a:xfrm>
            <a:off x="2486214" y="10430159"/>
            <a:ext cx="7947496" cy="1457041"/>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7D994AE0-7252-FB3B-8379-39EB207E1B1E}"/>
              </a:ext>
            </a:extLst>
          </p:cNvPr>
          <p:cNvPicPr>
            <a:picLocks noChangeAspect="1"/>
          </p:cNvPicPr>
          <p:nvPr/>
        </p:nvPicPr>
        <p:blipFill>
          <a:blip r:embed="rId4"/>
          <a:stretch>
            <a:fillRect/>
          </a:stretch>
        </p:blipFill>
        <p:spPr>
          <a:xfrm>
            <a:off x="12447510" y="3110449"/>
            <a:ext cx="11117550" cy="9127534"/>
          </a:xfrm>
          <a:prstGeom prst="rect">
            <a:avLst/>
          </a:prstGeom>
        </p:spPr>
      </p:pic>
    </p:spTree>
    <p:extLst>
      <p:ext uri="{BB962C8B-B14F-4D97-AF65-F5344CB8AC3E}">
        <p14:creationId xmlns:p14="http://schemas.microsoft.com/office/powerpoint/2010/main" val="3361677168"/>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02EC82F-9747-3A5F-BE47-1493E07916B2}"/>
              </a:ext>
            </a:extLst>
          </p:cNvPr>
          <p:cNvSpPr>
            <a:spLocks noGrp="1"/>
          </p:cNvSpPr>
          <p:nvPr>
            <p:ph idx="1"/>
          </p:nvPr>
        </p:nvSpPr>
        <p:spPr>
          <a:xfrm>
            <a:off x="812590" y="3110449"/>
            <a:ext cx="23012609" cy="4661951"/>
          </a:xfrm>
        </p:spPr>
        <p:txBody>
          <a:bodyPr>
            <a:normAutofit fontScale="85000" lnSpcReduction="20000"/>
          </a:bodyPr>
          <a:lstStyle/>
          <a:p>
            <a:r>
              <a:rPr lang="en-US" dirty="0">
                <a:solidFill>
                  <a:schemeClr val="accent5"/>
                </a:solidFill>
              </a:rPr>
              <a:t>Backward elimination </a:t>
            </a:r>
            <a:r>
              <a:rPr lang="en-US" dirty="0"/>
              <a:t>starts with a full model.</a:t>
            </a:r>
          </a:p>
          <a:p>
            <a:pPr marL="685800" indent="-685800">
              <a:buFont typeface="Arial" panose="020B0604020202020204" pitchFamily="34" charset="0"/>
              <a:buChar char="•"/>
            </a:pPr>
            <a:r>
              <a:rPr lang="en-US" dirty="0"/>
              <a:t>Removes variables one by one, eliminating the variable that contributes the least to the model's fit </a:t>
            </a:r>
          </a:p>
          <a:p>
            <a:pPr marL="685800" indent="-685800">
              <a:buFont typeface="Arial" panose="020B0604020202020204" pitchFamily="34" charset="0"/>
              <a:buChar char="•"/>
            </a:pPr>
            <a:r>
              <a:rPr lang="en-US" dirty="0"/>
              <a:t>Continues until removing no further variables significantly improve the model or all remaining variables are deemed significant.</a:t>
            </a:r>
          </a:p>
          <a:p>
            <a:endParaRPr lang="en-US" dirty="0"/>
          </a:p>
        </p:txBody>
      </p:sp>
      <p:sp>
        <p:nvSpPr>
          <p:cNvPr id="2" name="Title 1">
            <a:extLst>
              <a:ext uri="{FF2B5EF4-FFF2-40B4-BE49-F238E27FC236}">
                <a16:creationId xmlns:a16="http://schemas.microsoft.com/office/drawing/2014/main" id="{C78AE8AE-EADF-19AB-5DE1-BDEFB0F5C12E}"/>
              </a:ext>
            </a:extLst>
          </p:cNvPr>
          <p:cNvSpPr>
            <a:spLocks noGrp="1"/>
          </p:cNvSpPr>
          <p:nvPr>
            <p:ph type="title"/>
          </p:nvPr>
        </p:nvSpPr>
        <p:spPr/>
        <p:txBody>
          <a:bodyPr/>
          <a:lstStyle/>
          <a:p>
            <a:r>
              <a:rPr lang="en-US" dirty="0"/>
              <a:t>Backward elimination</a:t>
            </a:r>
          </a:p>
        </p:txBody>
      </p:sp>
      <p:pic>
        <p:nvPicPr>
          <p:cNvPr id="8" name="Picture 7" descr="A screenshot of a computer program&#10;&#10;AI-generated content may be incorrect.">
            <a:extLst>
              <a:ext uri="{FF2B5EF4-FFF2-40B4-BE49-F238E27FC236}">
                <a16:creationId xmlns:a16="http://schemas.microsoft.com/office/drawing/2014/main" id="{F3E14D87-8DDC-21F9-D2E5-4C295C910AD6}"/>
              </a:ext>
            </a:extLst>
          </p:cNvPr>
          <p:cNvPicPr>
            <a:picLocks noChangeAspect="1"/>
          </p:cNvPicPr>
          <p:nvPr/>
        </p:nvPicPr>
        <p:blipFill>
          <a:blip r:embed="rId3"/>
          <a:stretch>
            <a:fillRect/>
          </a:stretch>
        </p:blipFill>
        <p:spPr>
          <a:xfrm>
            <a:off x="5460240" y="7721600"/>
            <a:ext cx="13717308" cy="4342930"/>
          </a:xfrm>
          <a:prstGeom prst="rect">
            <a:avLst/>
          </a:prstGeom>
        </p:spPr>
      </p:pic>
    </p:spTree>
    <p:extLst>
      <p:ext uri="{BB962C8B-B14F-4D97-AF65-F5344CB8AC3E}">
        <p14:creationId xmlns:p14="http://schemas.microsoft.com/office/powerpoint/2010/main" val="4060581031"/>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E9777-ABE5-E850-F9E5-071C86E8AED4}"/>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12E55AE1-1E77-7656-1EDC-122722CD0CC9}"/>
              </a:ext>
            </a:extLst>
          </p:cNvPr>
          <p:cNvSpPr>
            <a:spLocks noGrp="1"/>
          </p:cNvSpPr>
          <p:nvPr>
            <p:ph idx="1"/>
          </p:nvPr>
        </p:nvSpPr>
        <p:spPr>
          <a:xfrm>
            <a:off x="812590" y="3110450"/>
            <a:ext cx="11376235" cy="7709950"/>
          </a:xfrm>
        </p:spPr>
        <p:txBody>
          <a:bodyPr>
            <a:normAutofit lnSpcReduction="10000"/>
          </a:bodyPr>
          <a:lstStyle/>
          <a:p>
            <a:pPr marL="685800" indent="-685800">
              <a:buFont typeface="Arial" panose="020B0604020202020204" pitchFamily="34" charset="0"/>
              <a:buChar char="•"/>
            </a:pPr>
            <a:r>
              <a:rPr lang="en-US" dirty="0"/>
              <a:t>Output will show iterations</a:t>
            </a:r>
          </a:p>
          <a:p>
            <a:pPr marL="685800" indent="-685800">
              <a:buFont typeface="Arial" panose="020B0604020202020204" pitchFamily="34" charset="0"/>
              <a:buChar char="•"/>
            </a:pPr>
            <a:r>
              <a:rPr lang="en-US" dirty="0"/>
              <a:t>Use the </a:t>
            </a:r>
            <a:r>
              <a:rPr lang="en-US" b="1" dirty="0">
                <a:solidFill>
                  <a:schemeClr val="accent5"/>
                </a:solidFill>
                <a:latin typeface="Courier New" panose="02070309020205020404" pitchFamily="49" charset="0"/>
                <a:cs typeface="Courier New" panose="02070309020205020404" pitchFamily="49" charset="0"/>
              </a:rPr>
              <a:t>summary</a:t>
            </a:r>
            <a:r>
              <a:rPr lang="en-US" dirty="0"/>
              <a:t> function to display the final model</a:t>
            </a:r>
          </a:p>
          <a:p>
            <a:pPr marL="685800" indent="-685800">
              <a:buFont typeface="Arial" panose="020B0604020202020204" pitchFamily="34" charset="0"/>
              <a:buChar char="•"/>
            </a:pPr>
            <a:r>
              <a:rPr lang="en-US" dirty="0"/>
              <a:t>In this case the final model included </a:t>
            </a:r>
            <a:r>
              <a:rPr lang="en-US" b="1" dirty="0">
                <a:solidFill>
                  <a:schemeClr val="accent5"/>
                </a:solidFill>
                <a:latin typeface="Courier New" panose="02070309020205020404" pitchFamily="49" charset="0"/>
                <a:cs typeface="Courier New" panose="02070309020205020404" pitchFamily="49" charset="0"/>
              </a:rPr>
              <a:t>gestation, </a:t>
            </a:r>
            <a:r>
              <a:rPr lang="en-US" b="1" dirty="0" err="1">
                <a:solidFill>
                  <a:schemeClr val="accent5"/>
                </a:solidFill>
                <a:latin typeface="Courier New" panose="02070309020205020404" pitchFamily="49" charset="0"/>
                <a:cs typeface="Courier New" panose="02070309020205020404" pitchFamily="49" charset="0"/>
              </a:rPr>
              <a:t>wpre</a:t>
            </a:r>
            <a:r>
              <a:rPr lang="en-US" b="1" dirty="0">
                <a:solidFill>
                  <a:schemeClr val="accent5"/>
                </a:solidFill>
                <a:latin typeface="Courier New" panose="02070309020205020404" pitchFamily="49" charset="0"/>
                <a:cs typeface="Courier New" panose="02070309020205020404" pitchFamily="49" charset="0"/>
              </a:rPr>
              <a:t>, </a:t>
            </a:r>
            <a:r>
              <a:rPr lang="en-US" b="1" dirty="0" err="1">
                <a:solidFill>
                  <a:schemeClr val="accent5"/>
                </a:solidFill>
                <a:latin typeface="Courier New" panose="02070309020205020404" pitchFamily="49" charset="0"/>
                <a:cs typeface="Courier New" panose="02070309020205020404" pitchFamily="49" charset="0"/>
              </a:rPr>
              <a:t>wgain</a:t>
            </a:r>
            <a:r>
              <a:rPr lang="en-US" b="1" dirty="0">
                <a:solidFill>
                  <a:schemeClr val="accent5"/>
                </a:solidFill>
                <a:latin typeface="Courier New" panose="02070309020205020404" pitchFamily="49" charset="0"/>
                <a:cs typeface="Courier New" panose="02070309020205020404" pitchFamily="49" charset="0"/>
              </a:rPr>
              <a:t>, gender, smoker, race, </a:t>
            </a:r>
            <a:r>
              <a:rPr lang="en-US" dirty="0">
                <a:ea typeface="Inter" panose="02000503000000020004" pitchFamily="2" charset="0"/>
                <a:cs typeface="Courier New" panose="02070309020205020404" pitchFamily="49" charset="0"/>
              </a:rPr>
              <a:t>and</a:t>
            </a:r>
            <a:r>
              <a:rPr lang="en-US" b="1" dirty="0">
                <a:solidFill>
                  <a:schemeClr val="accent5"/>
                </a:solidFill>
                <a:latin typeface="Courier New" panose="02070309020205020404" pitchFamily="49" charset="0"/>
                <a:cs typeface="Courier New" panose="02070309020205020404" pitchFamily="49" charset="0"/>
              </a:rPr>
              <a:t> age</a:t>
            </a:r>
          </a:p>
          <a:p>
            <a:pPr marL="685800" indent="-685800">
              <a:buFont typeface="Arial" panose="020B0604020202020204" pitchFamily="34" charset="0"/>
              <a:buChar char="•"/>
            </a:pPr>
            <a:endParaRPr lang="en-US" dirty="0"/>
          </a:p>
          <a:p>
            <a:endParaRPr lang="en-US" dirty="0"/>
          </a:p>
        </p:txBody>
      </p:sp>
      <p:sp>
        <p:nvSpPr>
          <p:cNvPr id="2" name="Title 1">
            <a:extLst>
              <a:ext uri="{FF2B5EF4-FFF2-40B4-BE49-F238E27FC236}">
                <a16:creationId xmlns:a16="http://schemas.microsoft.com/office/drawing/2014/main" id="{E6F18415-F23F-A47B-7DF2-4891003DF2CB}"/>
              </a:ext>
            </a:extLst>
          </p:cNvPr>
          <p:cNvSpPr>
            <a:spLocks noGrp="1"/>
          </p:cNvSpPr>
          <p:nvPr>
            <p:ph type="title"/>
          </p:nvPr>
        </p:nvSpPr>
        <p:spPr/>
        <p:txBody>
          <a:bodyPr/>
          <a:lstStyle/>
          <a:p>
            <a:r>
              <a:rPr lang="en-US" dirty="0"/>
              <a:t>Backward elimination</a:t>
            </a:r>
          </a:p>
        </p:txBody>
      </p:sp>
      <p:pic>
        <p:nvPicPr>
          <p:cNvPr id="5" name="Picture 4" descr="A white rectangle with black text&#10;&#10;AI-generated content may be incorrect.">
            <a:extLst>
              <a:ext uri="{FF2B5EF4-FFF2-40B4-BE49-F238E27FC236}">
                <a16:creationId xmlns:a16="http://schemas.microsoft.com/office/drawing/2014/main" id="{D14C033E-4457-3295-552E-D4DED8720D83}"/>
              </a:ext>
            </a:extLst>
          </p:cNvPr>
          <p:cNvPicPr>
            <a:picLocks noChangeAspect="1"/>
          </p:cNvPicPr>
          <p:nvPr/>
        </p:nvPicPr>
        <p:blipFill>
          <a:blip r:embed="rId3"/>
          <a:stretch>
            <a:fillRect/>
          </a:stretch>
        </p:blipFill>
        <p:spPr>
          <a:xfrm>
            <a:off x="1882774" y="10411691"/>
            <a:ext cx="9242425" cy="1475509"/>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30736F5-B830-EC9A-8D76-A855E322C92C}"/>
              </a:ext>
            </a:extLst>
          </p:cNvPr>
          <p:cNvPicPr>
            <a:picLocks noChangeAspect="1"/>
          </p:cNvPicPr>
          <p:nvPr/>
        </p:nvPicPr>
        <p:blipFill>
          <a:blip r:embed="rId4"/>
          <a:stretch>
            <a:fillRect/>
          </a:stretch>
        </p:blipFill>
        <p:spPr>
          <a:xfrm>
            <a:off x="12792074" y="3110449"/>
            <a:ext cx="10759407" cy="9047383"/>
          </a:xfrm>
          <a:prstGeom prst="rect">
            <a:avLst/>
          </a:prstGeom>
        </p:spPr>
      </p:pic>
    </p:spTree>
    <p:extLst>
      <p:ext uri="{BB962C8B-B14F-4D97-AF65-F5344CB8AC3E}">
        <p14:creationId xmlns:p14="http://schemas.microsoft.com/office/powerpoint/2010/main" val="11424264"/>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DF219-DBAA-FA2D-4396-9CB674DB085C}"/>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B5DB470-FC03-7F40-7348-14A8ABCF531A}"/>
              </a:ext>
            </a:extLst>
          </p:cNvPr>
          <p:cNvSpPr>
            <a:spLocks noGrp="1"/>
          </p:cNvSpPr>
          <p:nvPr>
            <p:ph idx="1"/>
          </p:nvPr>
        </p:nvSpPr>
        <p:spPr>
          <a:xfrm>
            <a:off x="812591" y="3110448"/>
            <a:ext cx="22453810" cy="6436373"/>
          </a:xfrm>
        </p:spPr>
        <p:txBody>
          <a:bodyPr>
            <a:normAutofit fontScale="85000" lnSpcReduction="20000"/>
          </a:bodyPr>
          <a:lstStyle/>
          <a:p>
            <a:r>
              <a:rPr lang="en-US" dirty="0">
                <a:solidFill>
                  <a:schemeClr val="accent5"/>
                </a:solidFill>
              </a:rPr>
              <a:t>Hybrid (bidirectional) selection </a:t>
            </a:r>
            <a:r>
              <a:rPr lang="en-US" dirty="0"/>
              <a:t>combines both forward and backward movements at each step.</a:t>
            </a:r>
          </a:p>
          <a:p>
            <a:pPr marL="685800" indent="-685800">
              <a:buFont typeface="Arial" panose="020B0604020202020204" pitchFamily="34" charset="0"/>
              <a:buChar char="•"/>
            </a:pPr>
            <a:r>
              <a:rPr lang="en-US" dirty="0"/>
              <a:t>At each iteration, it considers adding a new variable (like forward selection) and removing an existing variable (like backward elimination)</a:t>
            </a:r>
          </a:p>
          <a:p>
            <a:pPr marL="685800" indent="-685800">
              <a:buFont typeface="Arial" panose="020B0604020202020204" pitchFamily="34" charset="0"/>
              <a:buChar char="•"/>
            </a:pPr>
            <a:r>
              <a:rPr lang="en-US" dirty="0"/>
              <a:t>It selects the action (add or remove) that results in the greatest improvement in model fit</a:t>
            </a:r>
          </a:p>
          <a:p>
            <a:pPr marL="685800" indent="-685800">
              <a:buFont typeface="Arial" panose="020B0604020202020204" pitchFamily="34" charset="0"/>
              <a:buChar char="•"/>
            </a:pPr>
            <a:r>
              <a:rPr lang="en-US" dirty="0"/>
              <a:t>This process continues until no further additions or removals improve the model</a:t>
            </a:r>
          </a:p>
        </p:txBody>
      </p:sp>
      <p:sp>
        <p:nvSpPr>
          <p:cNvPr id="2" name="Title 1">
            <a:extLst>
              <a:ext uri="{FF2B5EF4-FFF2-40B4-BE49-F238E27FC236}">
                <a16:creationId xmlns:a16="http://schemas.microsoft.com/office/drawing/2014/main" id="{FB20D9D1-20DD-72F5-DD93-F4948327E1D5}"/>
              </a:ext>
            </a:extLst>
          </p:cNvPr>
          <p:cNvSpPr>
            <a:spLocks noGrp="1"/>
          </p:cNvSpPr>
          <p:nvPr>
            <p:ph type="title"/>
          </p:nvPr>
        </p:nvSpPr>
        <p:spPr/>
        <p:txBody>
          <a:bodyPr/>
          <a:lstStyle/>
          <a:p>
            <a:r>
              <a:rPr lang="en-US" dirty="0"/>
              <a:t>Hybrid (bidirectional) selection</a:t>
            </a:r>
          </a:p>
        </p:txBody>
      </p:sp>
      <p:pic>
        <p:nvPicPr>
          <p:cNvPr id="5" name="Picture 4" descr="A white card with black text&#10;&#10;AI-generated content may be incorrect.">
            <a:extLst>
              <a:ext uri="{FF2B5EF4-FFF2-40B4-BE49-F238E27FC236}">
                <a16:creationId xmlns:a16="http://schemas.microsoft.com/office/drawing/2014/main" id="{D0097C70-77F9-BB97-B9D3-EA9A48892EC3}"/>
              </a:ext>
            </a:extLst>
          </p:cNvPr>
          <p:cNvPicPr>
            <a:picLocks noChangeAspect="1"/>
          </p:cNvPicPr>
          <p:nvPr/>
        </p:nvPicPr>
        <p:blipFill>
          <a:blip r:embed="rId3"/>
          <a:stretch>
            <a:fillRect/>
          </a:stretch>
        </p:blipFill>
        <p:spPr>
          <a:xfrm>
            <a:off x="3388666" y="9546821"/>
            <a:ext cx="17600318" cy="2625460"/>
          </a:xfrm>
          <a:prstGeom prst="rect">
            <a:avLst/>
          </a:prstGeom>
        </p:spPr>
      </p:pic>
    </p:spTree>
    <p:extLst>
      <p:ext uri="{BB962C8B-B14F-4D97-AF65-F5344CB8AC3E}">
        <p14:creationId xmlns:p14="http://schemas.microsoft.com/office/powerpoint/2010/main" val="219532055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A8753-C8D0-FC36-FF32-806257AD83A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B0B5826-8A35-7886-EBC7-9CBECED2E06E}"/>
              </a:ext>
            </a:extLst>
          </p:cNvPr>
          <p:cNvSpPr>
            <a:spLocks noGrp="1"/>
          </p:cNvSpPr>
          <p:nvPr>
            <p:ph idx="1"/>
          </p:nvPr>
        </p:nvSpPr>
        <p:spPr>
          <a:xfrm>
            <a:off x="812590" y="3110450"/>
            <a:ext cx="11376235" cy="7709950"/>
          </a:xfrm>
        </p:spPr>
        <p:txBody>
          <a:bodyPr>
            <a:normAutofit lnSpcReduction="10000"/>
          </a:bodyPr>
          <a:lstStyle/>
          <a:p>
            <a:pPr marL="685800" indent="-685800">
              <a:buFont typeface="Arial" panose="020B0604020202020204" pitchFamily="34" charset="0"/>
              <a:buChar char="•"/>
            </a:pPr>
            <a:r>
              <a:rPr lang="en-US" dirty="0"/>
              <a:t>Output will show iterations</a:t>
            </a:r>
          </a:p>
          <a:p>
            <a:pPr marL="685800" indent="-685800">
              <a:buFont typeface="Arial" panose="020B0604020202020204" pitchFamily="34" charset="0"/>
              <a:buChar char="•"/>
            </a:pPr>
            <a:r>
              <a:rPr lang="en-US" dirty="0"/>
              <a:t>Use the </a:t>
            </a:r>
            <a:r>
              <a:rPr lang="en-US" b="1" dirty="0">
                <a:solidFill>
                  <a:schemeClr val="accent5"/>
                </a:solidFill>
                <a:latin typeface="Courier New" panose="02070309020205020404" pitchFamily="49" charset="0"/>
                <a:cs typeface="Courier New" panose="02070309020205020404" pitchFamily="49" charset="0"/>
              </a:rPr>
              <a:t>summary</a:t>
            </a:r>
            <a:r>
              <a:rPr lang="en-US" dirty="0"/>
              <a:t> function to display the final model</a:t>
            </a:r>
          </a:p>
          <a:p>
            <a:pPr marL="685800" indent="-685800">
              <a:buFont typeface="Arial" panose="020B0604020202020204" pitchFamily="34" charset="0"/>
              <a:buChar char="•"/>
            </a:pPr>
            <a:r>
              <a:rPr lang="en-US" dirty="0"/>
              <a:t>In this case the final model included </a:t>
            </a:r>
            <a:r>
              <a:rPr lang="en-US" b="1" dirty="0">
                <a:solidFill>
                  <a:schemeClr val="accent5"/>
                </a:solidFill>
                <a:latin typeface="Courier New" panose="02070309020205020404" pitchFamily="49" charset="0"/>
                <a:cs typeface="Courier New" panose="02070309020205020404" pitchFamily="49" charset="0"/>
              </a:rPr>
              <a:t>gestation, </a:t>
            </a:r>
            <a:r>
              <a:rPr lang="en-US" b="1" dirty="0" err="1">
                <a:solidFill>
                  <a:schemeClr val="accent5"/>
                </a:solidFill>
                <a:latin typeface="Courier New" panose="02070309020205020404" pitchFamily="49" charset="0"/>
                <a:cs typeface="Courier New" panose="02070309020205020404" pitchFamily="49" charset="0"/>
              </a:rPr>
              <a:t>wpre</a:t>
            </a:r>
            <a:r>
              <a:rPr lang="en-US" b="1" dirty="0">
                <a:solidFill>
                  <a:schemeClr val="accent5"/>
                </a:solidFill>
                <a:latin typeface="Courier New" panose="02070309020205020404" pitchFamily="49" charset="0"/>
                <a:cs typeface="Courier New" panose="02070309020205020404" pitchFamily="49" charset="0"/>
              </a:rPr>
              <a:t>, </a:t>
            </a:r>
            <a:r>
              <a:rPr lang="en-US" b="1" dirty="0" err="1">
                <a:solidFill>
                  <a:schemeClr val="accent5"/>
                </a:solidFill>
                <a:latin typeface="Courier New" panose="02070309020205020404" pitchFamily="49" charset="0"/>
                <a:cs typeface="Courier New" panose="02070309020205020404" pitchFamily="49" charset="0"/>
              </a:rPr>
              <a:t>wgain</a:t>
            </a:r>
            <a:r>
              <a:rPr lang="en-US" b="1" dirty="0">
                <a:solidFill>
                  <a:schemeClr val="accent5"/>
                </a:solidFill>
                <a:latin typeface="Courier New" panose="02070309020205020404" pitchFamily="49" charset="0"/>
                <a:cs typeface="Courier New" panose="02070309020205020404" pitchFamily="49" charset="0"/>
              </a:rPr>
              <a:t>, gender, smoker, race, </a:t>
            </a:r>
            <a:r>
              <a:rPr lang="en-US" dirty="0">
                <a:ea typeface="Inter" panose="02000503000000020004" pitchFamily="2" charset="0"/>
                <a:cs typeface="Courier New" panose="02070309020205020404" pitchFamily="49" charset="0"/>
              </a:rPr>
              <a:t>and</a:t>
            </a:r>
            <a:r>
              <a:rPr lang="en-US" b="1" dirty="0">
                <a:solidFill>
                  <a:schemeClr val="accent5"/>
                </a:solidFill>
                <a:latin typeface="Courier New" panose="02070309020205020404" pitchFamily="49" charset="0"/>
                <a:cs typeface="Courier New" panose="02070309020205020404" pitchFamily="49" charset="0"/>
              </a:rPr>
              <a:t> age</a:t>
            </a:r>
          </a:p>
          <a:p>
            <a:pPr marL="685800" indent="-685800">
              <a:buFont typeface="Arial" panose="020B0604020202020204" pitchFamily="34" charset="0"/>
              <a:buChar char="•"/>
            </a:pPr>
            <a:endParaRPr lang="en-US" dirty="0"/>
          </a:p>
          <a:p>
            <a:endParaRPr lang="en-US" dirty="0"/>
          </a:p>
        </p:txBody>
      </p:sp>
      <p:sp>
        <p:nvSpPr>
          <p:cNvPr id="2" name="Title 1">
            <a:extLst>
              <a:ext uri="{FF2B5EF4-FFF2-40B4-BE49-F238E27FC236}">
                <a16:creationId xmlns:a16="http://schemas.microsoft.com/office/drawing/2014/main" id="{0C67EC80-219E-FFBD-3A12-F0743940097A}"/>
              </a:ext>
            </a:extLst>
          </p:cNvPr>
          <p:cNvSpPr>
            <a:spLocks noGrp="1"/>
          </p:cNvSpPr>
          <p:nvPr>
            <p:ph type="title"/>
          </p:nvPr>
        </p:nvSpPr>
        <p:spPr/>
        <p:txBody>
          <a:bodyPr/>
          <a:lstStyle/>
          <a:p>
            <a:r>
              <a:rPr lang="en-US" dirty="0"/>
              <a:t>Hybrid (bidirectional) selection</a:t>
            </a:r>
          </a:p>
        </p:txBody>
      </p:sp>
      <p:pic>
        <p:nvPicPr>
          <p:cNvPr id="6" name="Picture 5" descr="A close up of a sign&#10;&#10;AI-generated content may be incorrect.">
            <a:extLst>
              <a:ext uri="{FF2B5EF4-FFF2-40B4-BE49-F238E27FC236}">
                <a16:creationId xmlns:a16="http://schemas.microsoft.com/office/drawing/2014/main" id="{0373D886-9306-4DD9-7C05-8F88B2E29AF6}"/>
              </a:ext>
            </a:extLst>
          </p:cNvPr>
          <p:cNvPicPr>
            <a:picLocks noChangeAspect="1"/>
          </p:cNvPicPr>
          <p:nvPr/>
        </p:nvPicPr>
        <p:blipFill>
          <a:blip r:embed="rId3"/>
          <a:stretch>
            <a:fillRect/>
          </a:stretch>
        </p:blipFill>
        <p:spPr>
          <a:xfrm>
            <a:off x="2111374" y="10503950"/>
            <a:ext cx="7439971" cy="1407562"/>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6FD11DFF-88D6-DDCB-63C1-C76472B13867}"/>
              </a:ext>
            </a:extLst>
          </p:cNvPr>
          <p:cNvPicPr>
            <a:picLocks noChangeAspect="1"/>
          </p:cNvPicPr>
          <p:nvPr/>
        </p:nvPicPr>
        <p:blipFill>
          <a:blip r:embed="rId4"/>
          <a:stretch>
            <a:fillRect/>
          </a:stretch>
        </p:blipFill>
        <p:spPr>
          <a:xfrm>
            <a:off x="13690600" y="3085049"/>
            <a:ext cx="9529666" cy="9068977"/>
          </a:xfrm>
          <a:prstGeom prst="rect">
            <a:avLst/>
          </a:prstGeom>
        </p:spPr>
      </p:pic>
    </p:spTree>
    <p:extLst>
      <p:ext uri="{BB962C8B-B14F-4D97-AF65-F5344CB8AC3E}">
        <p14:creationId xmlns:p14="http://schemas.microsoft.com/office/powerpoint/2010/main" val="280015629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A07FF01-614F-5DDF-ECC7-0DE440CBCF57}"/>
              </a:ext>
            </a:extLst>
          </p:cNvPr>
          <p:cNvSpPr>
            <a:spLocks noGrp="1"/>
          </p:cNvSpPr>
          <p:nvPr>
            <p:ph idx="1"/>
          </p:nvPr>
        </p:nvSpPr>
        <p:spPr>
          <a:xfrm>
            <a:off x="812591" y="3556001"/>
            <a:ext cx="12903410" cy="8659814"/>
          </a:xfrm>
        </p:spPr>
        <p:txBody>
          <a:bodyPr/>
          <a:lstStyle/>
          <a:p>
            <a:r>
              <a:rPr lang="en-US" dirty="0">
                <a:solidFill>
                  <a:schemeClr val="accent5"/>
                </a:solidFill>
              </a:rPr>
              <a:t>Causal models </a:t>
            </a:r>
            <a:r>
              <a:rPr lang="en-US" dirty="0"/>
              <a:t>estimate the effect of an exposure or intervention on an outcome, while accounting for confounding factors.</a:t>
            </a:r>
          </a:p>
          <a:p>
            <a:pPr marL="685800" indent="-685800">
              <a:buFont typeface="Arial" panose="020B0604020202020204" pitchFamily="34" charset="0"/>
              <a:buChar char="•"/>
            </a:pPr>
            <a:r>
              <a:rPr lang="en-US" dirty="0"/>
              <a:t>Control for confounding</a:t>
            </a:r>
          </a:p>
          <a:p>
            <a:pPr marL="685800" indent="-685800">
              <a:buFont typeface="Arial" panose="020B0604020202020204" pitchFamily="34" charset="0"/>
              <a:buChar char="•"/>
            </a:pPr>
            <a:r>
              <a:rPr lang="en-US" dirty="0"/>
              <a:t>Test and account for effect measure modification</a:t>
            </a:r>
          </a:p>
        </p:txBody>
      </p:sp>
      <p:sp>
        <p:nvSpPr>
          <p:cNvPr id="2" name="Title 1">
            <a:extLst>
              <a:ext uri="{FF2B5EF4-FFF2-40B4-BE49-F238E27FC236}">
                <a16:creationId xmlns:a16="http://schemas.microsoft.com/office/drawing/2014/main" id="{98E9E9FE-9A14-868D-3851-3CF81EE93ACF}"/>
              </a:ext>
            </a:extLst>
          </p:cNvPr>
          <p:cNvSpPr>
            <a:spLocks noGrp="1"/>
          </p:cNvSpPr>
          <p:nvPr>
            <p:ph type="title"/>
          </p:nvPr>
        </p:nvSpPr>
        <p:spPr/>
        <p:txBody>
          <a:bodyPr/>
          <a:lstStyle/>
          <a:p>
            <a:r>
              <a:rPr lang="en-US" dirty="0"/>
              <a:t>Causal models</a:t>
            </a:r>
          </a:p>
        </p:txBody>
      </p:sp>
      <p:cxnSp>
        <p:nvCxnSpPr>
          <p:cNvPr id="6" name="Straight Arrow Connector 5">
            <a:extLst>
              <a:ext uri="{FF2B5EF4-FFF2-40B4-BE49-F238E27FC236}">
                <a16:creationId xmlns:a16="http://schemas.microsoft.com/office/drawing/2014/main" id="{6B4C7515-BEFE-C9AC-D3F7-E24236D3A29A}"/>
              </a:ext>
            </a:extLst>
          </p:cNvPr>
          <p:cNvCxnSpPr>
            <a:cxnSpLocks/>
          </p:cNvCxnSpPr>
          <p:nvPr/>
        </p:nvCxnSpPr>
        <p:spPr>
          <a:xfrm flipH="1">
            <a:off x="16611600" y="4179668"/>
            <a:ext cx="1397000" cy="1778000"/>
          </a:xfrm>
          <a:prstGeom prst="straightConnector1">
            <a:avLst/>
          </a:prstGeom>
          <a:ln w="7620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7ADB626F-54F5-9EC1-21EC-06F92210240E}"/>
              </a:ext>
            </a:extLst>
          </p:cNvPr>
          <p:cNvCxnSpPr>
            <a:cxnSpLocks/>
          </p:cNvCxnSpPr>
          <p:nvPr/>
        </p:nvCxnSpPr>
        <p:spPr>
          <a:xfrm>
            <a:off x="19615882" y="4179668"/>
            <a:ext cx="1745518" cy="1778000"/>
          </a:xfrm>
          <a:prstGeom prst="straightConnector1">
            <a:avLst/>
          </a:prstGeom>
          <a:ln w="76200">
            <a:solidFill>
              <a:schemeClr val="accent5"/>
            </a:solidFill>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7ABD856F-3C23-C8A8-2021-317865AAB52B}"/>
              </a:ext>
            </a:extLst>
          </p:cNvPr>
          <p:cNvCxnSpPr>
            <a:cxnSpLocks/>
          </p:cNvCxnSpPr>
          <p:nvPr/>
        </p:nvCxnSpPr>
        <p:spPr>
          <a:xfrm>
            <a:off x="17511529" y="6426200"/>
            <a:ext cx="2917459" cy="0"/>
          </a:xfrm>
          <a:prstGeom prst="straightConnector1">
            <a:avLst/>
          </a:prstGeom>
          <a:ln w="76200">
            <a:solidFill>
              <a:schemeClr val="accent5"/>
            </a:solidFill>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15284CD-1F6E-0BE9-E23A-B99FE9CA7B24}"/>
              </a:ext>
            </a:extLst>
          </p:cNvPr>
          <p:cNvSpPr txBox="1"/>
          <p:nvPr/>
        </p:nvSpPr>
        <p:spPr>
          <a:xfrm>
            <a:off x="17449800" y="3321893"/>
            <a:ext cx="3040918" cy="646331"/>
          </a:xfrm>
          <a:prstGeom prst="rect">
            <a:avLst/>
          </a:prstGeom>
          <a:noFill/>
        </p:spPr>
        <p:txBody>
          <a:bodyPr wrap="square" rtlCol="0">
            <a:spAutoFit/>
          </a:bodyPr>
          <a:lstStyle/>
          <a:p>
            <a:pPr algn="l"/>
            <a:r>
              <a:rPr lang="en-US" sz="3600" b="1" dirty="0"/>
              <a:t>Confounder</a:t>
            </a:r>
          </a:p>
        </p:txBody>
      </p:sp>
      <p:sp>
        <p:nvSpPr>
          <p:cNvPr id="14" name="TextBox 13">
            <a:extLst>
              <a:ext uri="{FF2B5EF4-FFF2-40B4-BE49-F238E27FC236}">
                <a16:creationId xmlns:a16="http://schemas.microsoft.com/office/drawing/2014/main" id="{6E97416A-D3D0-159C-6493-499AE50EBB1A}"/>
              </a:ext>
            </a:extLst>
          </p:cNvPr>
          <p:cNvSpPr txBox="1"/>
          <p:nvPr/>
        </p:nvSpPr>
        <p:spPr>
          <a:xfrm>
            <a:off x="15091140" y="6103033"/>
            <a:ext cx="2420389" cy="646331"/>
          </a:xfrm>
          <a:prstGeom prst="rect">
            <a:avLst/>
          </a:prstGeom>
          <a:noFill/>
        </p:spPr>
        <p:txBody>
          <a:bodyPr wrap="square" rtlCol="0">
            <a:spAutoFit/>
          </a:bodyPr>
          <a:lstStyle/>
          <a:p>
            <a:pPr algn="l"/>
            <a:r>
              <a:rPr lang="en-US" sz="3600" b="1" dirty="0"/>
              <a:t>Exposure</a:t>
            </a:r>
          </a:p>
        </p:txBody>
      </p:sp>
      <p:sp>
        <p:nvSpPr>
          <p:cNvPr id="15" name="TextBox 14">
            <a:extLst>
              <a:ext uri="{FF2B5EF4-FFF2-40B4-BE49-F238E27FC236}">
                <a16:creationId xmlns:a16="http://schemas.microsoft.com/office/drawing/2014/main" id="{2AE146D7-2605-FC9A-D5F1-6EC1470992A6}"/>
              </a:ext>
            </a:extLst>
          </p:cNvPr>
          <p:cNvSpPr txBox="1"/>
          <p:nvPr/>
        </p:nvSpPr>
        <p:spPr>
          <a:xfrm>
            <a:off x="20624800" y="6103032"/>
            <a:ext cx="2420389" cy="646331"/>
          </a:xfrm>
          <a:prstGeom prst="rect">
            <a:avLst/>
          </a:prstGeom>
          <a:noFill/>
        </p:spPr>
        <p:txBody>
          <a:bodyPr wrap="square" rtlCol="0">
            <a:spAutoFit/>
          </a:bodyPr>
          <a:lstStyle/>
          <a:p>
            <a:pPr algn="l"/>
            <a:r>
              <a:rPr lang="en-US" sz="3600" b="1" dirty="0"/>
              <a:t>Outcome</a:t>
            </a:r>
          </a:p>
        </p:txBody>
      </p:sp>
      <p:cxnSp>
        <p:nvCxnSpPr>
          <p:cNvPr id="17" name="Straight Arrow Connector 16">
            <a:extLst>
              <a:ext uri="{FF2B5EF4-FFF2-40B4-BE49-F238E27FC236}">
                <a16:creationId xmlns:a16="http://schemas.microsoft.com/office/drawing/2014/main" id="{269E466D-A255-21D6-15DB-F68AF5B780E4}"/>
              </a:ext>
            </a:extLst>
          </p:cNvPr>
          <p:cNvCxnSpPr>
            <a:cxnSpLocks/>
          </p:cNvCxnSpPr>
          <p:nvPr/>
        </p:nvCxnSpPr>
        <p:spPr>
          <a:xfrm>
            <a:off x="17511529" y="10405088"/>
            <a:ext cx="2917459" cy="0"/>
          </a:xfrm>
          <a:prstGeom prst="straightConnector1">
            <a:avLst/>
          </a:prstGeom>
          <a:ln w="76200">
            <a:solidFill>
              <a:schemeClr val="accent5"/>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952AB66A-2EF3-34F9-D86C-DAF84F6FF26B}"/>
              </a:ext>
            </a:extLst>
          </p:cNvPr>
          <p:cNvSpPr txBox="1"/>
          <p:nvPr/>
        </p:nvSpPr>
        <p:spPr>
          <a:xfrm>
            <a:off x="15091140" y="10081921"/>
            <a:ext cx="2420389" cy="646331"/>
          </a:xfrm>
          <a:prstGeom prst="rect">
            <a:avLst/>
          </a:prstGeom>
          <a:noFill/>
        </p:spPr>
        <p:txBody>
          <a:bodyPr wrap="square" rtlCol="0">
            <a:spAutoFit/>
          </a:bodyPr>
          <a:lstStyle/>
          <a:p>
            <a:pPr algn="l"/>
            <a:r>
              <a:rPr lang="en-US" sz="3600" b="1" dirty="0"/>
              <a:t>Exposure</a:t>
            </a:r>
          </a:p>
        </p:txBody>
      </p:sp>
      <p:sp>
        <p:nvSpPr>
          <p:cNvPr id="19" name="TextBox 18">
            <a:extLst>
              <a:ext uri="{FF2B5EF4-FFF2-40B4-BE49-F238E27FC236}">
                <a16:creationId xmlns:a16="http://schemas.microsoft.com/office/drawing/2014/main" id="{E61AE2E5-A008-96B0-DDD1-3CCAFF9BCE24}"/>
              </a:ext>
            </a:extLst>
          </p:cNvPr>
          <p:cNvSpPr txBox="1"/>
          <p:nvPr/>
        </p:nvSpPr>
        <p:spPr>
          <a:xfrm>
            <a:off x="20624800" y="10081920"/>
            <a:ext cx="2420389" cy="646331"/>
          </a:xfrm>
          <a:prstGeom prst="rect">
            <a:avLst/>
          </a:prstGeom>
          <a:noFill/>
        </p:spPr>
        <p:txBody>
          <a:bodyPr wrap="square" rtlCol="0">
            <a:spAutoFit/>
          </a:bodyPr>
          <a:lstStyle/>
          <a:p>
            <a:pPr algn="l"/>
            <a:r>
              <a:rPr lang="en-US" sz="3600" b="1" dirty="0"/>
              <a:t>Outcome</a:t>
            </a:r>
          </a:p>
        </p:txBody>
      </p:sp>
      <p:sp>
        <p:nvSpPr>
          <p:cNvPr id="20" name="TextBox 19">
            <a:extLst>
              <a:ext uri="{FF2B5EF4-FFF2-40B4-BE49-F238E27FC236}">
                <a16:creationId xmlns:a16="http://schemas.microsoft.com/office/drawing/2014/main" id="{C716F9D6-7497-9FA8-1AD5-8370E0CB8B80}"/>
              </a:ext>
            </a:extLst>
          </p:cNvPr>
          <p:cNvSpPr txBox="1"/>
          <p:nvPr/>
        </p:nvSpPr>
        <p:spPr>
          <a:xfrm>
            <a:off x="15091140" y="8755619"/>
            <a:ext cx="1520460" cy="646331"/>
          </a:xfrm>
          <a:prstGeom prst="rect">
            <a:avLst/>
          </a:prstGeom>
          <a:noFill/>
        </p:spPr>
        <p:txBody>
          <a:bodyPr wrap="square" rtlCol="0">
            <a:spAutoFit/>
          </a:bodyPr>
          <a:lstStyle/>
          <a:p>
            <a:pPr algn="l"/>
            <a:r>
              <a:rPr lang="en-US" sz="3600" b="1" dirty="0"/>
              <a:t>EMM</a:t>
            </a:r>
          </a:p>
        </p:txBody>
      </p:sp>
      <p:cxnSp>
        <p:nvCxnSpPr>
          <p:cNvPr id="21" name="Straight Arrow Connector 20">
            <a:extLst>
              <a:ext uri="{FF2B5EF4-FFF2-40B4-BE49-F238E27FC236}">
                <a16:creationId xmlns:a16="http://schemas.microsoft.com/office/drawing/2014/main" id="{EA07BB69-7FFF-51B1-D2B6-74AC05A1E461}"/>
              </a:ext>
            </a:extLst>
          </p:cNvPr>
          <p:cNvCxnSpPr>
            <a:cxnSpLocks/>
          </p:cNvCxnSpPr>
          <p:nvPr/>
        </p:nvCxnSpPr>
        <p:spPr>
          <a:xfrm>
            <a:off x="16704194" y="8950251"/>
            <a:ext cx="3920606" cy="1131669"/>
          </a:xfrm>
          <a:prstGeom prst="straightConnector1">
            <a:avLst/>
          </a:prstGeom>
          <a:ln w="76200">
            <a:solidFill>
              <a:schemeClr val="accent5"/>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99268730"/>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5C30E13-C260-DC6B-9C73-45FB5FE919D3}"/>
              </a:ext>
            </a:extLst>
          </p:cNvPr>
          <p:cNvSpPr>
            <a:spLocks noGrp="1"/>
          </p:cNvSpPr>
          <p:nvPr>
            <p:ph idx="1"/>
          </p:nvPr>
        </p:nvSpPr>
        <p:spPr>
          <a:xfrm>
            <a:off x="812590" y="3556001"/>
            <a:ext cx="22403010" cy="5003799"/>
          </a:xfrm>
        </p:spPr>
        <p:txBody>
          <a:bodyPr/>
          <a:lstStyle/>
          <a:p>
            <a:pPr marL="685800" indent="-685800">
              <a:buFont typeface="Arial" panose="020B0604020202020204" pitchFamily="34" charset="0"/>
              <a:buChar char="•"/>
            </a:pPr>
            <a:r>
              <a:rPr lang="en-US" altLang="en-US" sz="5400" dirty="0"/>
              <a:t>Known confounders are retained in the model, whether statistically significant or not.</a:t>
            </a:r>
          </a:p>
          <a:p>
            <a:pPr marL="685800" indent="-685800">
              <a:buFont typeface="Arial" panose="020B0604020202020204" pitchFamily="34" charset="0"/>
              <a:buChar char="•"/>
            </a:pPr>
            <a:r>
              <a:rPr lang="en-US" altLang="en-US" sz="5400" dirty="0"/>
              <a:t>Effect measure modifiers are retained only if the interaction term is significant.</a:t>
            </a:r>
          </a:p>
          <a:p>
            <a:endParaRPr lang="en-US" dirty="0"/>
          </a:p>
        </p:txBody>
      </p:sp>
      <p:sp>
        <p:nvSpPr>
          <p:cNvPr id="2" name="Title 1">
            <a:extLst>
              <a:ext uri="{FF2B5EF4-FFF2-40B4-BE49-F238E27FC236}">
                <a16:creationId xmlns:a16="http://schemas.microsoft.com/office/drawing/2014/main" id="{86F558A9-EB6E-9AEF-D8FF-97D62D81F981}"/>
              </a:ext>
            </a:extLst>
          </p:cNvPr>
          <p:cNvSpPr>
            <a:spLocks noGrp="1"/>
          </p:cNvSpPr>
          <p:nvPr>
            <p:ph type="title"/>
          </p:nvPr>
        </p:nvSpPr>
        <p:spPr/>
        <p:txBody>
          <a:bodyPr/>
          <a:lstStyle/>
          <a:p>
            <a:r>
              <a:rPr lang="en-US" dirty="0"/>
              <a:t>Causal model</a:t>
            </a:r>
          </a:p>
        </p:txBody>
      </p:sp>
      <p:pic>
        <p:nvPicPr>
          <p:cNvPr id="8" name="Picture 7" descr="A white rectangular sign with black text&#10;&#10;AI-generated content may be incorrect.">
            <a:extLst>
              <a:ext uri="{FF2B5EF4-FFF2-40B4-BE49-F238E27FC236}">
                <a16:creationId xmlns:a16="http://schemas.microsoft.com/office/drawing/2014/main" id="{8E64F653-0A27-102A-FFFB-7DB930E447BF}"/>
              </a:ext>
            </a:extLst>
          </p:cNvPr>
          <p:cNvPicPr>
            <a:picLocks noChangeAspect="1"/>
          </p:cNvPicPr>
          <p:nvPr/>
        </p:nvPicPr>
        <p:blipFill>
          <a:blip r:embed="rId3"/>
          <a:stretch>
            <a:fillRect/>
          </a:stretch>
        </p:blipFill>
        <p:spPr>
          <a:xfrm>
            <a:off x="4576548" y="8153400"/>
            <a:ext cx="15224553" cy="3567543"/>
          </a:xfrm>
          <a:prstGeom prst="rect">
            <a:avLst/>
          </a:prstGeom>
        </p:spPr>
      </p:pic>
    </p:spTree>
    <p:extLst>
      <p:ext uri="{BB962C8B-B14F-4D97-AF65-F5344CB8AC3E}">
        <p14:creationId xmlns:p14="http://schemas.microsoft.com/office/powerpoint/2010/main" val="1560996568"/>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1F1C9-B59C-1E58-3B97-889ED365B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90585-1796-0B29-6F76-AC07BECFD629}"/>
              </a:ext>
            </a:extLst>
          </p:cNvPr>
          <p:cNvSpPr>
            <a:spLocks noGrp="1"/>
          </p:cNvSpPr>
          <p:nvPr>
            <p:ph type="title"/>
          </p:nvPr>
        </p:nvSpPr>
        <p:spPr/>
        <p:txBody>
          <a:bodyPr/>
          <a:lstStyle/>
          <a:p>
            <a:r>
              <a:rPr lang="en-US" dirty="0"/>
              <a:t>Causal model</a:t>
            </a:r>
          </a:p>
        </p:txBody>
      </p:sp>
      <p:pic>
        <p:nvPicPr>
          <p:cNvPr id="12" name="Picture 11" descr="A screenshot of a computer&#10;&#10;AI-generated content may be incorrect.">
            <a:extLst>
              <a:ext uri="{FF2B5EF4-FFF2-40B4-BE49-F238E27FC236}">
                <a16:creationId xmlns:a16="http://schemas.microsoft.com/office/drawing/2014/main" id="{56199C60-20EF-513F-573A-1E97A3484F44}"/>
              </a:ext>
            </a:extLst>
          </p:cNvPr>
          <p:cNvPicPr>
            <a:picLocks noChangeAspect="1"/>
          </p:cNvPicPr>
          <p:nvPr/>
        </p:nvPicPr>
        <p:blipFill>
          <a:blip r:embed="rId3"/>
          <a:stretch>
            <a:fillRect/>
          </a:stretch>
        </p:blipFill>
        <p:spPr>
          <a:xfrm>
            <a:off x="13789024" y="3110449"/>
            <a:ext cx="8791575" cy="9112615"/>
          </a:xfrm>
          <a:prstGeom prst="rect">
            <a:avLst/>
          </a:prstGeom>
        </p:spPr>
      </p:pic>
      <p:sp>
        <p:nvSpPr>
          <p:cNvPr id="13" name="Content Placeholder 3">
            <a:extLst>
              <a:ext uri="{FF2B5EF4-FFF2-40B4-BE49-F238E27FC236}">
                <a16:creationId xmlns:a16="http://schemas.microsoft.com/office/drawing/2014/main" id="{49E40C55-0DB5-7202-269F-AAA2678EFBFF}"/>
              </a:ext>
            </a:extLst>
          </p:cNvPr>
          <p:cNvSpPr>
            <a:spLocks noGrp="1"/>
          </p:cNvSpPr>
          <p:nvPr>
            <p:ph idx="1"/>
          </p:nvPr>
        </p:nvSpPr>
        <p:spPr>
          <a:xfrm>
            <a:off x="812590" y="3556001"/>
            <a:ext cx="12344610" cy="8381999"/>
          </a:xfrm>
        </p:spPr>
        <p:txBody>
          <a:bodyPr>
            <a:normAutofit/>
          </a:bodyPr>
          <a:lstStyle/>
          <a:p>
            <a:pPr marL="685800" indent="-685800">
              <a:buFont typeface="Arial" panose="020B0604020202020204" pitchFamily="34" charset="0"/>
              <a:buChar char="•"/>
            </a:pPr>
            <a:r>
              <a:rPr lang="en-US" altLang="en-US" sz="5400" dirty="0"/>
              <a:t>Keep </a:t>
            </a:r>
            <a:r>
              <a:rPr lang="en-US" altLang="en-US" sz="5400" b="1" dirty="0" err="1">
                <a:solidFill>
                  <a:schemeClr val="accent5"/>
                </a:solidFill>
                <a:latin typeface="Courier New" panose="02070309020205020404" pitchFamily="49" charset="0"/>
                <a:cs typeface="Courier New" panose="02070309020205020404" pitchFamily="49" charset="0"/>
              </a:rPr>
              <a:t>firstep</a:t>
            </a:r>
            <a:r>
              <a:rPr lang="en-US" altLang="en-US" sz="5400" dirty="0"/>
              <a:t> because it is the exposure of interest</a:t>
            </a:r>
          </a:p>
          <a:p>
            <a:pPr marL="685800" indent="-685800">
              <a:buFont typeface="Arial" panose="020B0604020202020204" pitchFamily="34" charset="0"/>
              <a:buChar char="•"/>
            </a:pPr>
            <a:r>
              <a:rPr lang="en-US" sz="5400" dirty="0"/>
              <a:t>Keep all other covariates because they have been shown to be confounders in previous literature</a:t>
            </a:r>
            <a:endParaRPr lang="en-US" dirty="0"/>
          </a:p>
        </p:txBody>
      </p:sp>
    </p:spTree>
    <p:extLst>
      <p:ext uri="{BB962C8B-B14F-4D97-AF65-F5344CB8AC3E}">
        <p14:creationId xmlns:p14="http://schemas.microsoft.com/office/powerpoint/2010/main" val="210535180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82F10-4644-2394-60DD-5B4A2259DAD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FAA3D2-C937-3940-0F04-430587F185E0}"/>
              </a:ext>
            </a:extLst>
          </p:cNvPr>
          <p:cNvSpPr>
            <a:spLocks noGrp="1"/>
          </p:cNvSpPr>
          <p:nvPr>
            <p:ph idx="1"/>
          </p:nvPr>
        </p:nvSpPr>
        <p:spPr>
          <a:xfrm>
            <a:off x="812590" y="3110449"/>
            <a:ext cx="21539410" cy="9105366"/>
          </a:xfrm>
        </p:spPr>
        <p:txBody>
          <a:bodyPr>
            <a:normAutofit/>
          </a:bodyPr>
          <a:lstStyle/>
          <a:p>
            <a:pPr marL="685800" indent="-685800">
              <a:lnSpc>
                <a:spcPct val="110000"/>
              </a:lnSpc>
              <a:spcBef>
                <a:spcPts val="2400"/>
              </a:spcBef>
              <a:buFont typeface="Arial" panose="020B0604020202020204" pitchFamily="34" charset="0"/>
              <a:buChar char="•"/>
              <a:defRPr/>
            </a:pPr>
            <a:r>
              <a:rPr lang="en-US" altLang="en-US" sz="5400" dirty="0"/>
              <a:t>Model selection depends on the purpose of the model. </a:t>
            </a:r>
          </a:p>
          <a:p>
            <a:pPr marL="685800" indent="-685800">
              <a:lnSpc>
                <a:spcPct val="110000"/>
              </a:lnSpc>
              <a:spcBef>
                <a:spcPts val="2400"/>
              </a:spcBef>
              <a:buFont typeface="Arial" panose="020B0604020202020204" pitchFamily="34" charset="0"/>
              <a:buChar char="•"/>
              <a:defRPr/>
            </a:pPr>
            <a:r>
              <a:rPr lang="en-US" altLang="en-US" sz="5400" dirty="0"/>
              <a:t>When building a prediction model, the goal is to build a parsimonious model that includes explanatory variables that help predict the outcome. </a:t>
            </a:r>
          </a:p>
          <a:p>
            <a:pPr marL="685800" indent="-685800">
              <a:lnSpc>
                <a:spcPct val="110000"/>
              </a:lnSpc>
              <a:spcBef>
                <a:spcPts val="2400"/>
              </a:spcBef>
              <a:buFont typeface="Arial" panose="020B0604020202020204" pitchFamily="34" charset="0"/>
              <a:buChar char="•"/>
              <a:defRPr/>
            </a:pPr>
            <a:r>
              <a:rPr lang="en-US" altLang="en-US" sz="5400" dirty="0"/>
              <a:t>When building a causal model, the goal is to build a model that focuses on the relationship between one exposure and outcome, and that adjusts for confounding and effect measure modification.</a:t>
            </a:r>
            <a:endParaRPr lang="en-US" sz="5400" dirty="0"/>
          </a:p>
          <a:p>
            <a:pPr marL="685800" indent="-685800">
              <a:spcBef>
                <a:spcPts val="2400"/>
              </a:spcBef>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DBA7FD2F-0306-F07A-EF35-C2891C935ACC}"/>
              </a:ext>
            </a:extLst>
          </p:cNvPr>
          <p:cNvSpPr>
            <a:spLocks noGrp="1"/>
          </p:cNvSpPr>
          <p:nvPr>
            <p:ph type="title"/>
          </p:nvPr>
        </p:nvSpPr>
        <p:spPr/>
        <p:txBody>
          <a:bodyPr/>
          <a:lstStyle/>
          <a:p>
            <a:r>
              <a:rPr lang="en-US"/>
              <a:t>Summary</a:t>
            </a:r>
          </a:p>
        </p:txBody>
      </p:sp>
    </p:spTree>
    <p:extLst>
      <p:ext uri="{BB962C8B-B14F-4D97-AF65-F5344CB8AC3E}">
        <p14:creationId xmlns:p14="http://schemas.microsoft.com/office/powerpoint/2010/main" val="4164363699"/>
      </p:ext>
    </p:extLst>
  </p:cSld>
  <p:clrMapOvr>
    <a:masterClrMapping/>
  </p:clrMapOvr>
  <p:transition/>
</p:sld>
</file>

<file path=ppt/theme/theme1.xml><?xml version="1.0" encoding="utf-8"?>
<a:theme xmlns:a="http://schemas.openxmlformats.org/drawingml/2006/main" name="Harvard Chan - base">
  <a:themeElements>
    <a:clrScheme name="Custom 1">
      <a:dk1>
        <a:srgbClr val="282C33"/>
      </a:dk1>
      <a:lt1>
        <a:srgbClr val="FFFFFF"/>
      </a:lt1>
      <a:dk2>
        <a:srgbClr val="484C58"/>
      </a:dk2>
      <a:lt2>
        <a:srgbClr val="FFFFFF"/>
      </a:lt2>
      <a:accent1>
        <a:srgbClr val="D3919B"/>
      </a:accent1>
      <a:accent2>
        <a:srgbClr val="C56C79"/>
      </a:accent2>
      <a:accent3>
        <a:srgbClr val="B54555"/>
      </a:accent3>
      <a:accent4>
        <a:srgbClr val="A72034"/>
      </a:accent4>
      <a:accent5>
        <a:srgbClr val="8D1828"/>
      </a:accent5>
      <a:accent6>
        <a:srgbClr val="711320"/>
      </a:accent6>
      <a:hlink>
        <a:srgbClr val="0563C1"/>
      </a:hlink>
      <a:folHlink>
        <a:srgbClr val="8A71D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0F0F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lgn="l">
          <a:defRPr sz="3200" b="1" dirty="0" err="1" smtClean="0"/>
        </a:defPPr>
      </a:lstStyle>
    </a:txDef>
  </a:objectDefaults>
  <a:extraClrSchemeLst/>
  <a:extLst>
    <a:ext uri="{05A4C25C-085E-4340-85A3-A5531E510DB2}">
      <thm15:themeFamily xmlns:thm15="http://schemas.microsoft.com/office/thememl/2012/main" name="2021_HSPH_Powerpoint-template-light" id="{F2D6924E-5E77-B04C-B1B1-E8D26470FE10}" vid="{C23D7D26-75F8-A44A-9569-23FB904E37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D09A793D50BF84A86633CA1D7A50D43" ma:contentTypeVersion="16" ma:contentTypeDescription="Create a new document." ma:contentTypeScope="" ma:versionID="33c63562f517d2fdc328950d6232857b">
  <xsd:schema xmlns:xsd="http://www.w3.org/2001/XMLSchema" xmlns:xs="http://www.w3.org/2001/XMLSchema" xmlns:p="http://schemas.microsoft.com/office/2006/metadata/properties" xmlns:ns2="c44c8fa4-6e72-4913-be84-132a08ed658c" xmlns:ns3="1d17722e-cb87-4c62-965e-9aac3595cc7b" targetNamespace="http://schemas.microsoft.com/office/2006/metadata/properties" ma:root="true" ma:fieldsID="635622c95f0302a41e3f28c38810559b" ns2:_="" ns3:_="">
    <xsd:import namespace="c44c8fa4-6e72-4913-be84-132a08ed658c"/>
    <xsd:import namespace="1d17722e-cb87-4c62-965e-9aac3595cc7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4c8fa4-6e72-4913-be84-132a08ed658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8107521-1385-498b-8889-bf2cd8dee380"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d17722e-cb87-4c62-965e-9aac3595cc7b"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4427665-0cde-4b52-ad88-0e1ba671986d}" ma:internalName="TaxCatchAll" ma:showField="CatchAllData" ma:web="1d17722e-cb87-4c62-965e-9aac3595cc7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44c8fa4-6e72-4913-be84-132a08ed658c">
      <Terms xmlns="http://schemas.microsoft.com/office/infopath/2007/PartnerControls"/>
    </lcf76f155ced4ddcb4097134ff3c332f>
    <TaxCatchAll xmlns="1d17722e-cb87-4c62-965e-9aac3595cc7b" xsi:nil="true"/>
  </documentManagement>
</p:properties>
</file>

<file path=customXml/itemProps1.xml><?xml version="1.0" encoding="utf-8"?>
<ds:datastoreItem xmlns:ds="http://schemas.openxmlformats.org/officeDocument/2006/customXml" ds:itemID="{4D656B9E-92C5-4443-8FFC-7CEB7298B2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44c8fa4-6e72-4913-be84-132a08ed658c"/>
    <ds:schemaRef ds:uri="1d17722e-cb87-4c62-965e-9aac3595cc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CFAA05-2BB1-4ADF-8325-16D6426CFDB3}">
  <ds:schemaRefs>
    <ds:schemaRef ds:uri="http://schemas.microsoft.com/sharepoint/v3/contenttype/forms"/>
  </ds:schemaRefs>
</ds:datastoreItem>
</file>

<file path=customXml/itemProps3.xml><?xml version="1.0" encoding="utf-8"?>
<ds:datastoreItem xmlns:ds="http://schemas.openxmlformats.org/officeDocument/2006/customXml" ds:itemID="{CA324808-AB8B-47B2-ABC0-18713E4B8235}">
  <ds:schemaRefs>
    <ds:schemaRef ds:uri="http://schemas.microsoft.com/office/2006/metadata/properties"/>
    <ds:schemaRef ds:uri="http://schemas.microsoft.com/office/infopath/2007/PartnerControls"/>
    <ds:schemaRef ds:uri="c44c8fa4-6e72-4913-be84-132a08ed658c"/>
    <ds:schemaRef ds:uri="1d17722e-cb87-4c62-965e-9aac3595cc7b"/>
  </ds:schemaRefs>
</ds:datastoreItem>
</file>

<file path=docProps/app.xml><?xml version="1.0" encoding="utf-8"?>
<Properties xmlns="http://schemas.openxmlformats.org/officeDocument/2006/extended-properties" xmlns:vt="http://schemas.openxmlformats.org/officeDocument/2006/docPropsVTypes">
  <Template>2021_HSPH_Powerpoint-template-light</Template>
  <TotalTime>22128</TotalTime>
  <Words>2908</Words>
  <Application>Microsoft Macintosh PowerPoint</Application>
  <PresentationFormat>Custom</PresentationFormat>
  <Paragraphs>379</Paragraphs>
  <Slides>74</Slides>
  <Notes>74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Courier New</vt:lpstr>
      <vt:lpstr>Euclid Symbol</vt:lpstr>
      <vt:lpstr>Inter</vt:lpstr>
      <vt:lpstr>Harvard Chan - base</vt:lpstr>
      <vt:lpstr>Lecture 18: Linear Regression Continued</vt:lpstr>
      <vt:lpstr>Recipe of the Day!</vt:lpstr>
      <vt:lpstr>Announcements</vt:lpstr>
      <vt:lpstr>Coding question of the day</vt:lpstr>
      <vt:lpstr>Linear Regression</vt:lpstr>
      <vt:lpstr>Linear Regression Roadmap</vt:lpstr>
      <vt:lpstr>Linear Regression</vt:lpstr>
      <vt:lpstr>Linear regression</vt:lpstr>
      <vt:lpstr>Linear regression</vt:lpstr>
      <vt:lpstr>Simple linear regression</vt:lpstr>
      <vt:lpstr>Assumptions</vt:lpstr>
      <vt:lpstr>Example: Prenatal care</vt:lpstr>
      <vt:lpstr>Example: Prenatal care</vt:lpstr>
      <vt:lpstr>The lm function</vt:lpstr>
      <vt:lpstr>The lm function</vt:lpstr>
      <vt:lpstr>Coefficient interpretation</vt:lpstr>
      <vt:lpstr>Coefficient of determination</vt:lpstr>
      <vt:lpstr>Confidence interval for slope</vt:lpstr>
      <vt:lpstr>Hypothesis tests</vt:lpstr>
      <vt:lpstr>Prediction</vt:lpstr>
      <vt:lpstr>Prediction</vt:lpstr>
      <vt:lpstr>Regression line plot</vt:lpstr>
      <vt:lpstr>Summary</vt:lpstr>
      <vt:lpstr>Linear Regression </vt:lpstr>
      <vt:lpstr>Linear regression assumptions</vt:lpstr>
      <vt:lpstr>Example: Prenatal care</vt:lpstr>
      <vt:lpstr>ggforitfy and autoplot</vt:lpstr>
      <vt:lpstr>ggforitfy and autoplot</vt:lpstr>
      <vt:lpstr>Linearity</vt:lpstr>
      <vt:lpstr>Linearity</vt:lpstr>
      <vt:lpstr>Normality</vt:lpstr>
      <vt:lpstr>Normality</vt:lpstr>
      <vt:lpstr>Normality</vt:lpstr>
      <vt:lpstr>Homoscedasticity</vt:lpstr>
      <vt:lpstr>Homoscedasticity</vt:lpstr>
      <vt:lpstr>Independence</vt:lpstr>
      <vt:lpstr>Summary</vt:lpstr>
      <vt:lpstr>Linear Regression II</vt:lpstr>
      <vt:lpstr>Multivariate linear regression</vt:lpstr>
      <vt:lpstr>Assumptions</vt:lpstr>
      <vt:lpstr>Example: Prenatal care</vt:lpstr>
      <vt:lpstr>Example: Prenatal care</vt:lpstr>
      <vt:lpstr>Crude model</vt:lpstr>
      <vt:lpstr>Crude model</vt:lpstr>
      <vt:lpstr>Adjusted model</vt:lpstr>
      <vt:lpstr>Adjusted model</vt:lpstr>
      <vt:lpstr>Interaction term</vt:lpstr>
      <vt:lpstr>Interaction term</vt:lpstr>
      <vt:lpstr>Interaction term</vt:lpstr>
      <vt:lpstr>Summary</vt:lpstr>
      <vt:lpstr>Linear Regression II</vt:lpstr>
      <vt:lpstr>Collinearity</vt:lpstr>
      <vt:lpstr>Example: Prenatal care</vt:lpstr>
      <vt:lpstr>Correlation matrix</vt:lpstr>
      <vt:lpstr>Correlation matrix</vt:lpstr>
      <vt:lpstr>Correlation matrix</vt:lpstr>
      <vt:lpstr>Correlation matrix</vt:lpstr>
      <vt:lpstr>Correlation tests</vt:lpstr>
      <vt:lpstr>Correlation tests</vt:lpstr>
      <vt:lpstr>Summary</vt:lpstr>
      <vt:lpstr>Linear Regression II</vt:lpstr>
      <vt:lpstr>Model selection</vt:lpstr>
      <vt:lpstr>Example: Prenatal care</vt:lpstr>
      <vt:lpstr>Prediction models</vt:lpstr>
      <vt:lpstr>Forward selection</vt:lpstr>
      <vt:lpstr>Forward selection</vt:lpstr>
      <vt:lpstr>Backward elimination</vt:lpstr>
      <vt:lpstr>Backward elimination</vt:lpstr>
      <vt:lpstr>Hybrid (bidirectional) selection</vt:lpstr>
      <vt:lpstr>Hybrid (bidirectional) selection</vt:lpstr>
      <vt:lpstr>Causal models</vt:lpstr>
      <vt:lpstr>Causal model</vt:lpstr>
      <vt:lpstr>Causal model</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Harvard Chan School  PPT template</dc:title>
  <dc:creator>Perkins, Lorna</dc:creator>
  <cp:lastModifiedBy>Mattie, Heather</cp:lastModifiedBy>
  <cp:revision>134</cp:revision>
  <dcterms:created xsi:type="dcterms:W3CDTF">2021-10-14T17:47:52Z</dcterms:created>
  <dcterms:modified xsi:type="dcterms:W3CDTF">2026-10-26T16:46:35Z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0x010100FD09A793D50BF84A86633CA1D7A50D43</vt:lpwstr>
  </property>
</Properties>
</file>